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4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 spc="160">
                <a:solidFill>
                  <a:srgbClr val="8FB3D2"/>
                </a:solidFill>
                <a:latin typeface="IBM Plex Mono"/>
              </a:rPr>
              <a:t>NCCT DIGITAL ECOSYSTEM  ·  SIH PROTOTYPE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EF6FF"/>
                </a:solidFill>
                <a:latin typeface="IBM Plex Mono"/>
              </a:rPr>
              <a:t>Technical Approach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274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B3D2"/>
                </a:solidFill>
                <a:latin typeface="IBM Plex Mono"/>
              </a:rPr>
              <a:t>DWG NCCT-TA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4754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B3D2"/>
                </a:solidFill>
                <a:latin typeface="IBM Plex Mono"/>
              </a:rPr>
              <a:t>SHEET </a:t>
            </a:r>
            <a:r>
              <a:rPr sz="1000" b="1">
                <a:solidFill>
                  <a:srgbClr val="F2A340"/>
                </a:solidFill>
                <a:latin typeface="IBM Plex Mono"/>
              </a:rPr>
              <a:t>01</a:t>
            </a:r>
            <a:r>
              <a:rPr sz="1000" b="0">
                <a:solidFill>
                  <a:srgbClr val="8FB3D2"/>
                </a:solidFill>
                <a:latin typeface="IBM Plex Mono"/>
              </a:rPr>
              <a:t> / 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5240">
            <a:solidFill>
              <a:srgbClr val="8FB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1225296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EEF6FF"/>
                </a:solidFill>
                <a:latin typeface="IBM Plex Mono"/>
              </a:rPr>
              <a:t>TECH STACK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1591056"/>
            <a:ext cx="5257800" cy="1316736"/>
          </a:xfrm>
          <a:prstGeom prst="roundRect">
            <a:avLst>
              <a:gd name="adj" fmla="val 6000"/>
            </a:avLst>
          </a:prstGeom>
          <a:solidFill>
            <a:srgbClr val="112B47"/>
          </a:solidFill>
          <a:ln w="12700">
            <a:solidFill>
              <a:srgbClr val="24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1591056"/>
            <a:ext cx="82296" cy="1316736"/>
          </a:xfrm>
          <a:prstGeom prst="rect">
            <a:avLst/>
          </a:prstGeom>
          <a:solidFill>
            <a:srgbClr val="F2A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173736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A340"/>
                </a:solidFill>
                <a:latin typeface="IBM Plex Mono"/>
              </a:rPr>
              <a:t>01  </a:t>
            </a:r>
            <a:r>
              <a:rPr sz="1300" b="1">
                <a:solidFill>
                  <a:srgbClr val="EEF6FF"/>
                </a:solidFill>
                <a:latin typeface="IBM Plex Mono"/>
              </a:rPr>
              <a:t>CLIENT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210312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FE6FA"/>
                </a:solidFill>
                <a:latin typeface="IBM Plex Sans"/>
              </a:rPr>
              <a:t>React 19 · TypeScript · Vite · Capacitor 7 (Android wrapper) · Tailwind CSS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017520"/>
            <a:ext cx="5257800" cy="1316736"/>
          </a:xfrm>
          <a:prstGeom prst="roundRect">
            <a:avLst>
              <a:gd name="adj" fmla="val 6000"/>
            </a:avLst>
          </a:prstGeom>
          <a:solidFill>
            <a:srgbClr val="112B47"/>
          </a:solidFill>
          <a:ln w="12700">
            <a:solidFill>
              <a:srgbClr val="24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017520"/>
            <a:ext cx="82296" cy="1316736"/>
          </a:xfrm>
          <a:prstGeom prst="rect">
            <a:avLst/>
          </a:prstGeom>
          <a:solidFill>
            <a:srgbClr val="F2A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316382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A340"/>
                </a:solidFill>
                <a:latin typeface="IBM Plex Mono"/>
              </a:rPr>
              <a:t>02  </a:t>
            </a:r>
            <a:r>
              <a:rPr sz="1300" b="1">
                <a:solidFill>
                  <a:srgbClr val="EEF6FF"/>
                </a:solidFill>
                <a:latin typeface="IBM Plex Mono"/>
              </a:rPr>
              <a:t>SERVER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3529584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FE6FA"/>
                </a:solidFill>
                <a:latin typeface="IBM Plex Sans"/>
              </a:rPr>
              <a:t>Node.js + Express · Zod · Supabase JS client · AWS SDK (B2 presigned URLs)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443984"/>
            <a:ext cx="5257800" cy="1316736"/>
          </a:xfrm>
          <a:prstGeom prst="roundRect">
            <a:avLst>
              <a:gd name="adj" fmla="val 6000"/>
            </a:avLst>
          </a:prstGeom>
          <a:solidFill>
            <a:srgbClr val="112B47"/>
          </a:solidFill>
          <a:ln w="12700">
            <a:solidFill>
              <a:srgbClr val="24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443984"/>
            <a:ext cx="82296" cy="1316736"/>
          </a:xfrm>
          <a:prstGeom prst="rect">
            <a:avLst/>
          </a:prstGeom>
          <a:solidFill>
            <a:srgbClr val="F2A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59028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A340"/>
                </a:solidFill>
                <a:latin typeface="IBM Plex Mono"/>
              </a:rPr>
              <a:t>03  </a:t>
            </a:r>
            <a:r>
              <a:rPr sz="1300" b="1">
                <a:solidFill>
                  <a:srgbClr val="EEF6FF"/>
                </a:solidFill>
                <a:latin typeface="IBM Plex Mono"/>
              </a:rPr>
              <a:t>DATA · AI · STORAGE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4956048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FE6FA"/>
                </a:solidFill>
                <a:latin typeface="IBM Plex Sans"/>
              </a:rPr>
              <a:t>Supabase (Postgres + Auth + Storage + pgvector) · Backblaze B2 · Claude · local MiniLM embeddings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961888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FB3D2"/>
                </a:solidFill>
                <a:latin typeface="IBM Plex Mono"/>
              </a:rPr>
              <a:t>TESTED WITH  </a:t>
            </a:r>
            <a:r>
              <a:rPr sz="1150" b="0">
                <a:solidFill>
                  <a:srgbClr val="EEF6FF"/>
                </a:solidFill>
                <a:latin typeface="IBM Plex Sans"/>
              </a:rPr>
              <a:t>311 automated tests</a:t>
            </a:r>
            <a:r>
              <a:rPr sz="1150" b="0">
                <a:solidFill>
                  <a:srgbClr val="8FB3D2"/>
                </a:solidFill>
                <a:latin typeface="IBM Plex Sans"/>
              </a:rPr>
              <a:t> (Vitest + Supertest)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254496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FB3D2"/>
                </a:solidFill>
                <a:latin typeface="IBM Plex Sans"/>
              </a:rPr>
              <a:t>pnpm monorepo · shared TypeScript types, validation, and API-client code across every 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122529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EEF6FF"/>
                </a:solidFill>
                <a:latin typeface="IBM Plex Mono"/>
              </a:rPr>
              <a:t>SYSTEM ARCHITECTURE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9320" y="2103120"/>
            <a:ext cx="1554480" cy="868680"/>
          </a:xfrm>
          <a:prstGeom prst="roundRect">
            <a:avLst>
              <a:gd name="adj" fmla="val 10000"/>
            </a:avLst>
          </a:prstGeom>
          <a:solidFill>
            <a:srgbClr val="112B47"/>
          </a:solidFill>
          <a:ln w="13970">
            <a:solidFill>
              <a:srgbClr val="CF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99048" y="2212848"/>
            <a:ext cx="13350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6FF"/>
                </a:solidFill>
                <a:latin typeface="IBM Plex Sans"/>
              </a:rPr>
              <a:t>Web App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9048" y="248716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FB3D2"/>
                </a:solidFill>
                <a:latin typeface="IBM Plex Sans"/>
              </a:rPr>
              <a:t>React — every role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FB3D2"/>
                </a:solidFill>
                <a:latin typeface="IBM Plex Sans"/>
              </a:rPr>
              <a:t>(browser)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89320" y="3282696"/>
            <a:ext cx="1554480" cy="1051560"/>
          </a:xfrm>
          <a:prstGeom prst="roundRect">
            <a:avLst>
              <a:gd name="adj" fmla="val 10000"/>
            </a:avLst>
          </a:prstGeom>
          <a:solidFill>
            <a:srgbClr val="112B47"/>
          </a:solidFill>
          <a:ln w="13970">
            <a:solidFill>
              <a:srgbClr val="CF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9048" y="3392424"/>
            <a:ext cx="13350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6FF"/>
                </a:solidFill>
                <a:latin typeface="IBM Plex Sans"/>
              </a:rPr>
              <a:t>Mobile App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3666744"/>
            <a:ext cx="133502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FB3D2"/>
                </a:solidFill>
                <a:latin typeface="IBM Plex Sans"/>
              </a:rPr>
              <a:t>Capacitor — same React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FB3D2"/>
                </a:solidFill>
                <a:latin typeface="IBM Plex Sans"/>
              </a:rPr>
              <a:t>build, wrapped for Android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6720" y="2048256"/>
            <a:ext cx="1783080" cy="2286000"/>
          </a:xfrm>
          <a:prstGeom prst="roundRect">
            <a:avLst>
              <a:gd name="adj" fmla="val 8000"/>
            </a:avLst>
          </a:prstGeom>
          <a:solidFill>
            <a:srgbClr val="15385C"/>
          </a:solidFill>
          <a:ln w="20320">
            <a:solidFill>
              <a:srgbClr val="F2A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74736" y="2176272"/>
            <a:ext cx="152704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2A340"/>
                </a:solidFill>
                <a:latin typeface="IBM Plex Mono"/>
              </a:rPr>
              <a:t>Express API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4736" y="2450592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FB3D2"/>
                </a:solidFill>
                <a:latin typeface="IBM Plex Sans"/>
              </a:rPr>
              <a:t>one backend, both clients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74736" y="2779776"/>
            <a:ext cx="1527048" cy="310896"/>
          </a:xfrm>
          <a:prstGeom prst="roundRect">
            <a:avLst>
              <a:gd name="adj" fmla="val 18000"/>
            </a:avLst>
          </a:prstGeom>
          <a:solidFill>
            <a:srgbClr val="112B47"/>
          </a:solidFill>
          <a:ln w="9525">
            <a:solidFill>
              <a:srgbClr val="2A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4464" y="277977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FE6FA"/>
                </a:solidFill>
                <a:latin typeface="IBM Plex Sans"/>
              </a:rPr>
              <a:t>auth + role middleware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74736" y="3182112"/>
            <a:ext cx="1527048" cy="310896"/>
          </a:xfrm>
          <a:prstGeom prst="roundRect">
            <a:avLst>
              <a:gd name="adj" fmla="val 18000"/>
            </a:avLst>
          </a:prstGeom>
          <a:solidFill>
            <a:srgbClr val="112B47"/>
          </a:solidFill>
          <a:ln w="9525">
            <a:solidFill>
              <a:srgbClr val="2A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84464" y="318211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FE6FA"/>
                </a:solidFill>
                <a:latin typeface="IBM Plex Sans"/>
              </a:rPr>
              <a:t>server-side grading &amp; matching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74736" y="3584448"/>
            <a:ext cx="1527048" cy="310896"/>
          </a:xfrm>
          <a:prstGeom prst="roundRect">
            <a:avLst>
              <a:gd name="adj" fmla="val 18000"/>
            </a:avLst>
          </a:prstGeom>
          <a:solidFill>
            <a:srgbClr val="112B47"/>
          </a:solidFill>
          <a:ln w="9525">
            <a:solidFill>
              <a:srgbClr val="2A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84464" y="358444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FE6FA"/>
                </a:solidFill>
                <a:latin typeface="IBM Plex Sans"/>
              </a:rPr>
              <a:t>local embeddings (RAG)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74736" y="3986784"/>
            <a:ext cx="1527048" cy="310896"/>
          </a:xfrm>
          <a:prstGeom prst="roundRect">
            <a:avLst>
              <a:gd name="adj" fmla="val 18000"/>
            </a:avLst>
          </a:prstGeom>
          <a:solidFill>
            <a:srgbClr val="112B47"/>
          </a:solidFill>
          <a:ln w="9525">
            <a:solidFill>
              <a:srgbClr val="2A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84464" y="3986784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FE6FA"/>
                </a:solidFill>
                <a:latin typeface="IBM Plex Sans"/>
              </a:rPr>
              <a:t>mints signed / presigned URLs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287000" y="2066544"/>
            <a:ext cx="1444752" cy="676656"/>
          </a:xfrm>
          <a:prstGeom prst="roundRect">
            <a:avLst>
              <a:gd name="adj" fmla="val 12000"/>
            </a:avLst>
          </a:prstGeom>
          <a:solidFill>
            <a:srgbClr val="112B47"/>
          </a:solidFill>
          <a:ln w="13970">
            <a:solidFill>
              <a:srgbClr val="CF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15016" y="21671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6FF"/>
                </a:solidFill>
                <a:latin typeface="IBM Plex Sans"/>
              </a:rPr>
              <a:t>Supabase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15016" y="243230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8FB3D2"/>
                </a:solidFill>
                <a:latin typeface="IBM Plex Sans"/>
              </a:rPr>
              <a:t>Postgres · Auth · Storage · pgvector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287000" y="2990088"/>
            <a:ext cx="1444752" cy="676656"/>
          </a:xfrm>
          <a:prstGeom prst="roundRect">
            <a:avLst>
              <a:gd name="adj" fmla="val 12000"/>
            </a:avLst>
          </a:prstGeom>
          <a:solidFill>
            <a:srgbClr val="112B47"/>
          </a:solidFill>
          <a:ln w="13970">
            <a:solidFill>
              <a:srgbClr val="CF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15016" y="309067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6FF"/>
                </a:solidFill>
                <a:latin typeface="IBM Plex Sans"/>
              </a:rPr>
              <a:t>Claude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15016" y="33558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8FB3D2"/>
                </a:solidFill>
                <a:latin typeface="IBM Plex Sans"/>
              </a:rPr>
              <a:t>grounded chat completion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287000" y="3913632"/>
            <a:ext cx="1444752" cy="676656"/>
          </a:xfrm>
          <a:prstGeom prst="roundRect">
            <a:avLst>
              <a:gd name="adj" fmla="val 12000"/>
            </a:avLst>
          </a:prstGeom>
          <a:solidFill>
            <a:srgbClr val="112B47"/>
          </a:solidFill>
          <a:ln w="13970">
            <a:solidFill>
              <a:srgbClr val="CF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15016" y="4014216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6FF"/>
                </a:solidFill>
                <a:latin typeface="IBM Plex Sans"/>
              </a:rPr>
              <a:t>Backblaze B2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15016" y="42793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8FB3D2"/>
                </a:solidFill>
                <a:latin typeface="IBM Plex Sans"/>
              </a:rPr>
              <a:t>lesson video (S3-compatible)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7543800" y="2505456"/>
            <a:ext cx="502920" cy="32004"/>
          </a:xfrm>
          <a:prstGeom prst="line">
            <a:avLst/>
          </a:prstGeom>
          <a:ln w="16510">
            <a:solidFill>
              <a:srgbClr val="CFE6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543800" y="3305556"/>
            <a:ext cx="502920" cy="502920"/>
          </a:xfrm>
          <a:prstGeom prst="line">
            <a:avLst/>
          </a:prstGeom>
          <a:ln w="16510">
            <a:solidFill>
              <a:srgbClr val="CFE6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829800" y="2404872"/>
            <a:ext cx="457200" cy="329184"/>
          </a:xfrm>
          <a:prstGeom prst="line">
            <a:avLst/>
          </a:prstGeom>
          <a:ln w="16510">
            <a:solidFill>
              <a:srgbClr val="CFE6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829800" y="3328416"/>
            <a:ext cx="457200" cy="502920"/>
          </a:xfrm>
          <a:prstGeom prst="line">
            <a:avLst/>
          </a:prstGeom>
          <a:ln w="16510">
            <a:solidFill>
              <a:srgbClr val="CFE6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766559" y="1783080"/>
            <a:ext cx="0" cy="320040"/>
          </a:xfrm>
          <a:prstGeom prst="line">
            <a:avLst/>
          </a:prstGeom>
          <a:ln w="13970">
            <a:solidFill>
              <a:srgbClr val="8FB3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766559" y="1783080"/>
            <a:ext cx="4242817" cy="0"/>
          </a:xfrm>
          <a:prstGeom prst="line">
            <a:avLst/>
          </a:prstGeom>
          <a:ln w="13970">
            <a:solidFill>
              <a:srgbClr val="8FB3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009376" y="1783080"/>
            <a:ext cx="0" cy="283464"/>
          </a:xfrm>
          <a:prstGeom prst="line">
            <a:avLst/>
          </a:prstGeom>
          <a:ln w="13970">
            <a:solidFill>
              <a:srgbClr val="8FB3D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080759" y="1508760"/>
            <a:ext cx="55595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FB3D2"/>
                </a:solidFill>
                <a:latin typeface="IBM Plex Sans"/>
              </a:rPr>
              <a:t>direct — sign-in/session (Auth) · PDF reads via 60s signed URL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66559" y="4334256"/>
            <a:ext cx="0" cy="493776"/>
          </a:xfrm>
          <a:prstGeom prst="line">
            <a:avLst/>
          </a:prstGeom>
          <a:ln w="13970">
            <a:solidFill>
              <a:srgbClr val="8FB3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766559" y="4828032"/>
            <a:ext cx="4242817" cy="0"/>
          </a:xfrm>
          <a:prstGeom prst="line">
            <a:avLst/>
          </a:prstGeom>
          <a:ln w="13970">
            <a:solidFill>
              <a:srgbClr val="8FB3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009376" y="4590288"/>
            <a:ext cx="0" cy="237744"/>
          </a:xfrm>
          <a:prstGeom prst="line">
            <a:avLst/>
          </a:prstGeom>
          <a:ln w="13970">
            <a:solidFill>
              <a:srgbClr val="8FB3D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080759" y="4882896"/>
            <a:ext cx="55595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FB3D2"/>
                </a:solidFill>
                <a:latin typeface="IBM Plex Sans"/>
              </a:rPr>
              <a:t>direct — video upload/playback via presigned URL (bytes never transit Express)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89320" y="5157216"/>
            <a:ext cx="574243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8FB3D2"/>
                </a:solidFill>
                <a:latin typeface="IBM Plex Sans"/>
              </a:rPr>
              <a:t>Express is the only path for business data and every recomputed check (grades, face matches, attendance). Sign-in and large-file transfer are the sole exceptions — always via a session or URL Express already approved, never with a client's own credentials.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989320" y="5687568"/>
            <a:ext cx="1816608" cy="512064"/>
          </a:xfrm>
          <a:prstGeom prst="roundRect">
            <a:avLst>
              <a:gd name="adj" fmla="val 14000"/>
            </a:avLst>
          </a:prstGeom>
          <a:solidFill>
            <a:srgbClr val="112B47"/>
          </a:solidFill>
          <a:ln w="12700">
            <a:solidFill>
              <a:srgbClr val="24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5687568"/>
            <a:ext cx="15971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EEF6FF"/>
                </a:solidFill>
                <a:latin typeface="IBM Plex Sans"/>
              </a:rPr>
              <a:t>Server-verified</a:t>
            </a:r>
          </a:p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EEF6FF"/>
                </a:solidFill>
                <a:latin typeface="IBM Plex Sans"/>
              </a:rPr>
              <a:t>writes &amp; matches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952231" y="5687568"/>
            <a:ext cx="1816608" cy="512064"/>
          </a:xfrm>
          <a:prstGeom prst="roundRect">
            <a:avLst>
              <a:gd name="adj" fmla="val 14000"/>
            </a:avLst>
          </a:prstGeom>
          <a:solidFill>
            <a:srgbClr val="112B47"/>
          </a:solidFill>
          <a:ln w="12700">
            <a:solidFill>
              <a:srgbClr val="24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61959" y="5687568"/>
            <a:ext cx="15971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EEF6FF"/>
                </a:solidFill>
                <a:latin typeface="IBM Plex Sans"/>
              </a:rPr>
              <a:t>Direct client ↔</a:t>
            </a:r>
          </a:p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EEF6FF"/>
                </a:solidFill>
                <a:latin typeface="IBM Plex Sans"/>
              </a:rPr>
              <a:t>storage transfer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915143" y="5687568"/>
            <a:ext cx="1816608" cy="512064"/>
          </a:xfrm>
          <a:prstGeom prst="roundRect">
            <a:avLst>
              <a:gd name="adj" fmla="val 14000"/>
            </a:avLst>
          </a:prstGeom>
          <a:solidFill>
            <a:srgbClr val="112B47"/>
          </a:solidFill>
          <a:ln w="12700">
            <a:solidFill>
              <a:srgbClr val="24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24871" y="5687568"/>
            <a:ext cx="1597152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EEF6FF"/>
                </a:solidFill>
                <a:latin typeface="IBM Plex Sans"/>
              </a:rPr>
              <a:t>Grounded, scoped</a:t>
            </a:r>
          </a:p>
          <a:p>
            <a:pPr algn="ctr">
              <a:lnSpc>
                <a:spcPct val="115000"/>
              </a:lnSpc>
            </a:pPr>
            <a:r>
              <a:rPr sz="930" b="1" i="0">
                <a:solidFill>
                  <a:srgbClr val="EEF6FF"/>
                </a:solidFill>
                <a:latin typeface="IBM Plex Sans"/>
              </a:rPr>
              <a:t>AI answers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F2A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