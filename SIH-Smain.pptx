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imes New Roman Bold" charset="1" panose="02020803070505020304"/>
      <p:regular r:id="rId13"/>
    </p:embeddedFont>
    <p:embeddedFont>
      <p:font typeface="Garamond Bold" charset="1" panose="02020804030307010803"/>
      <p:regular r:id="rId14"/>
    </p:embeddedFont>
    <p:embeddedFont>
      <p:font typeface="Arial Bold" charset="1" panose="020B0704020202020204"/>
      <p:regular r:id="rId15"/>
    </p:embeddedFont>
    <p:embeddedFont>
      <p:font typeface="Poppins Bold" charset="1" panose="00000800000000000000"/>
      <p:regular r:id="rId19"/>
    </p:embeddedFont>
    <p:embeddedFont>
      <p:font typeface="Inter" charset="1" panose="02000503000000020004"/>
      <p:regular r:id="rId20"/>
    </p:embeddedFont>
    <p:embeddedFont>
      <p:font typeface="Poppins" charset="1" panose="00000500000000000000"/>
      <p:regular r:id="rId21"/>
    </p:embeddedFont>
    <p:embeddedFont>
      <p:font typeface="Poppins Italics" charset="1" panose="00000500000000000000"/>
      <p:regular r:id="rId22"/>
    </p:embeddedFont>
    <p:embeddedFont>
      <p:font typeface="DM Sans Bold" charset="1" panose="00000000000000000000"/>
      <p:regular r:id="rId24"/>
    </p:embeddedFont>
    <p:embeddedFont>
      <p:font typeface="Canva Sans Bold" charset="1" panose="020B0803030501040103"/>
      <p:regular r:id="rId25"/>
    </p:embeddedFont>
    <p:embeddedFont>
      <p:font typeface="Canva Sans" charset="1" panose="020B0503030501040103"/>
      <p:regular r:id="rId26"/>
    </p:embeddedFont>
    <p:embeddedFont>
      <p:font typeface="Arial" charset="1" panose="020B0604020202020204"/>
      <p:regular r:id="rId27"/>
    </p:embeddedFont>
    <p:embeddedFont>
      <p:font typeface="Times New Roman MT Bold" charset="1" panose="02030802070405020303"/>
      <p:regular r:id="rId28"/>
    </p:embeddedFont>
    <p:embeddedFont>
      <p:font typeface="Calibri (MS) Bold" charset="1" panose="020F0702030404030204"/>
      <p:regular r:id="rId30"/>
    </p:embeddedFont>
    <p:embeddedFont>
      <p:font typeface="Calibri (MS)" charset="1" panose="020F0502020204030204"/>
      <p:regular r:id="rId31"/>
    </p:embeddedFont>
    <p:embeddedFont>
      <p:font typeface="Calibri (MS) Italics" charset="1" panose="020F05020202040A0204"/>
      <p:regular r:id="rId32"/>
    </p:embeddedFont>
    <p:embeddedFont>
      <p:font typeface="Aptos" charset="1" panose="020B0004020202020204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notesSlides/notesSlide4.xml" Type="http://schemas.openxmlformats.org/officeDocument/2006/relationships/notesSlide"/><Relationship Id="rId34" Target="notesSlides/notesSlide5.xml" Type="http://schemas.openxmlformats.org/officeDocument/2006/relationships/notesSlide"/><Relationship Id="rId35" Target="fonts/font35.fntdata" Type="http://schemas.openxmlformats.org/officeDocument/2006/relationships/font"/><Relationship Id="rId36" Target="notesSlides/notesSlide6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png" Type="http://schemas.openxmlformats.org/officeDocument/2006/relationships/image"/><Relationship Id="rId12" Target="../media/image13.png" Type="http://schemas.openxmlformats.org/officeDocument/2006/relationships/image"/><Relationship Id="rId13" Target="../media/image14.png" Type="http://schemas.openxmlformats.org/officeDocument/2006/relationships/image"/><Relationship Id="rId14" Target="../media/image15.png" Type="http://schemas.openxmlformats.org/officeDocument/2006/relationships/image"/><Relationship Id="rId15" Target="../media/image16.png" Type="http://schemas.openxmlformats.org/officeDocument/2006/relationships/image"/><Relationship Id="rId16" Target="../media/image17.png" Type="http://schemas.openxmlformats.org/officeDocument/2006/relationships/image"/><Relationship Id="rId17" Target="../media/image18.png" Type="http://schemas.openxmlformats.org/officeDocument/2006/relationships/image"/><Relationship Id="rId18" Target="../media/image19.png" Type="http://schemas.openxmlformats.org/officeDocument/2006/relationships/image"/><Relationship Id="rId19" Target="../media/image20.png" Type="http://schemas.openxmlformats.org/officeDocument/2006/relationships/image"/><Relationship Id="rId2" Target="../notesSlides/notesSlide1.xml" Type="http://schemas.openxmlformats.org/officeDocument/2006/relationships/notesSlide"/><Relationship Id="rId20" Target="../media/image21.png" Type="http://schemas.openxmlformats.org/officeDocument/2006/relationships/image"/><Relationship Id="rId21" Target="../media/image22.svg" Type="http://schemas.openxmlformats.org/officeDocument/2006/relationships/image"/><Relationship Id="rId22" Target="../media/image23.png" Type="http://schemas.openxmlformats.org/officeDocument/2006/relationships/image"/><Relationship Id="rId23" Target="../media/image24.png" Type="http://schemas.openxmlformats.org/officeDocument/2006/relationships/image"/><Relationship Id="rId24" Target="../media/image25.svg" Type="http://schemas.openxmlformats.org/officeDocument/2006/relationships/image"/><Relationship Id="rId25" Target="../media/image26.png" Type="http://schemas.openxmlformats.org/officeDocument/2006/relationships/image"/><Relationship Id="rId26" Target="../media/image27.png" Type="http://schemas.openxmlformats.org/officeDocument/2006/relationships/image"/><Relationship Id="rId27" Target="../media/image28.pn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11" Target="../media/image34.png" Type="http://schemas.openxmlformats.org/officeDocument/2006/relationships/image"/><Relationship Id="rId12" Target="../media/image35.png" Type="http://schemas.openxmlformats.org/officeDocument/2006/relationships/image"/><Relationship Id="rId13" Target="../media/image36.png" Type="http://schemas.openxmlformats.org/officeDocument/2006/relationships/image"/><Relationship Id="rId14" Target="../media/image37.svg" Type="http://schemas.openxmlformats.org/officeDocument/2006/relationships/image"/><Relationship Id="rId15" Target="../media/image38.png" Type="http://schemas.openxmlformats.org/officeDocument/2006/relationships/image"/><Relationship Id="rId16" Target="../media/image39.png" Type="http://schemas.openxmlformats.org/officeDocument/2006/relationships/image"/><Relationship Id="rId17" Target="../media/image40.png" Type="http://schemas.openxmlformats.org/officeDocument/2006/relationships/image"/><Relationship Id="rId18" Target="../media/image41.png" Type="http://schemas.openxmlformats.org/officeDocument/2006/relationships/image"/><Relationship Id="rId19" Target="../media/image42.png" Type="http://schemas.openxmlformats.org/officeDocument/2006/relationships/image"/><Relationship Id="rId2" Target="../notesSlides/notesSlide2.xml" Type="http://schemas.openxmlformats.org/officeDocument/2006/relationships/notesSlide"/><Relationship Id="rId20" Target="../media/image43.png" Type="http://schemas.openxmlformats.org/officeDocument/2006/relationships/image"/><Relationship Id="rId21" Target="../media/image44.png" Type="http://schemas.openxmlformats.org/officeDocument/2006/relationships/image"/><Relationship Id="rId22" Target="../media/image45.png" Type="http://schemas.openxmlformats.org/officeDocument/2006/relationships/image"/><Relationship Id="rId23" Target="../media/image46.png" Type="http://schemas.openxmlformats.org/officeDocument/2006/relationships/image"/><Relationship Id="rId24" Target="../media/image47.png" Type="http://schemas.openxmlformats.org/officeDocument/2006/relationships/image"/><Relationship Id="rId25" Target="../media/image48.png" Type="http://schemas.openxmlformats.org/officeDocument/2006/relationships/image"/><Relationship Id="rId26" Target="../media/image49.png" Type="http://schemas.openxmlformats.org/officeDocument/2006/relationships/image"/><Relationship Id="rId3" Target="../media/image5.png" Type="http://schemas.openxmlformats.org/officeDocument/2006/relationships/image"/><Relationship Id="rId4" Target="../media/image4.jpeg" Type="http://schemas.openxmlformats.org/officeDocument/2006/relationships/image"/><Relationship Id="rId5" Target="../media/image6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55.svg" Type="http://schemas.openxmlformats.org/officeDocument/2006/relationships/image"/><Relationship Id="rId12" Target="../media/image56.png" Type="http://schemas.openxmlformats.org/officeDocument/2006/relationships/image"/><Relationship Id="rId13" Target="../media/image57.svg" Type="http://schemas.openxmlformats.org/officeDocument/2006/relationships/image"/><Relationship Id="rId14" Target="../media/image58.png" Type="http://schemas.openxmlformats.org/officeDocument/2006/relationships/image"/><Relationship Id="rId15" Target="../media/image59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50.png" Type="http://schemas.openxmlformats.org/officeDocument/2006/relationships/image"/><Relationship Id="rId7" Target="../media/image51.png" Type="http://schemas.openxmlformats.org/officeDocument/2006/relationships/image"/><Relationship Id="rId8" Target="../media/image52.sv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png" Type="http://schemas.openxmlformats.org/officeDocument/2006/relationships/image"/><Relationship Id="rId11" Target="../media/image65.svg" Type="http://schemas.openxmlformats.org/officeDocument/2006/relationships/image"/><Relationship Id="rId12" Target="../media/image66.png" Type="http://schemas.openxmlformats.org/officeDocument/2006/relationships/image"/><Relationship Id="rId13" Target="../media/image67.svg" Type="http://schemas.openxmlformats.org/officeDocument/2006/relationships/image"/><Relationship Id="rId14" Target="../media/image68.png" Type="http://schemas.openxmlformats.org/officeDocument/2006/relationships/image"/><Relationship Id="rId15" Target="../media/image69.svg" Type="http://schemas.openxmlformats.org/officeDocument/2006/relationships/image"/><Relationship Id="rId16" Target="../media/image70.png" Type="http://schemas.openxmlformats.org/officeDocument/2006/relationships/image"/><Relationship Id="rId17" Target="../media/image71.svg" Type="http://schemas.openxmlformats.org/officeDocument/2006/relationships/image"/><Relationship Id="rId18" Target="../media/image72.png" Type="http://schemas.openxmlformats.org/officeDocument/2006/relationships/image"/><Relationship Id="rId19" Target="../media/image73.svg" Type="http://schemas.openxmlformats.org/officeDocument/2006/relationships/image"/><Relationship Id="rId2" Target="../notesSlides/notesSlide4.xml" Type="http://schemas.openxmlformats.org/officeDocument/2006/relationships/notesSlide"/><Relationship Id="rId20" Target="../media/image74.png" Type="http://schemas.openxmlformats.org/officeDocument/2006/relationships/image"/><Relationship Id="rId21" Target="../media/image75.svg" Type="http://schemas.openxmlformats.org/officeDocument/2006/relationships/image"/><Relationship Id="rId22" Target="../media/image76.png" Type="http://schemas.openxmlformats.org/officeDocument/2006/relationships/image"/><Relationship Id="rId23" Target="../media/image77.sv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60.png" Type="http://schemas.openxmlformats.org/officeDocument/2006/relationships/image"/><Relationship Id="rId7" Target="../media/image61.svg" Type="http://schemas.openxmlformats.org/officeDocument/2006/relationships/image"/><Relationship Id="rId8" Target="../media/image62.png" Type="http://schemas.openxmlformats.org/officeDocument/2006/relationships/image"/><Relationship Id="rId9" Target="../media/image6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iza.org/publications/dp/14427/can-information-about-jobs-improve-the-effectiveness-of-vocational-training-experimental-evidence-from-india?utm_source=chatgpt.com" TargetMode="External" Type="http://schemas.openxmlformats.org/officeDocument/2006/relationships/hyperlink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https://www.sciencedirect.com/science/article/abs/pii/S0747563213003300?via%3Dihub" TargetMode="External" Type="http://schemas.openxmlformats.org/officeDocument/2006/relationships/hyperlink"/><Relationship Id="rId7" Target="https://www.sciencedirect.com/science/article/abs/pii/S156849462030987X?via%3Dihub" TargetMode="External" Type="http://schemas.openxmlformats.org/officeDocument/2006/relationships/hyperlink"/><Relationship Id="rId8" Target="https://www.sciencedirect.com/science/article/abs/pii/S156849462030987X?via%3Dihub" TargetMode="External" Type="http://schemas.openxmlformats.org/officeDocument/2006/relationships/hyperlink"/><Relationship Id="rId9" Target="https://www.sciencedirect.com/science/article/abs/pii/S0952197626007311?via%3Dihub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6.png" Type="http://schemas.openxmlformats.org/officeDocument/2006/relationships/image"/><Relationship Id="rId11" Target="../media/image67.svg" Type="http://schemas.openxmlformats.org/officeDocument/2006/relationships/image"/><Relationship Id="rId12" Target="../media/image62.png" Type="http://schemas.openxmlformats.org/officeDocument/2006/relationships/image"/><Relationship Id="rId13" Target="../media/image63.svg" Type="http://schemas.openxmlformats.org/officeDocument/2006/relationships/image"/><Relationship Id="rId14" Target="../media/image78.png" Type="http://schemas.openxmlformats.org/officeDocument/2006/relationships/image"/><Relationship Id="rId15" Target="../media/image79.svg" Type="http://schemas.openxmlformats.org/officeDocument/2006/relationships/image"/><Relationship Id="rId16" Target="../media/image80.png" Type="http://schemas.openxmlformats.org/officeDocument/2006/relationships/image"/><Relationship Id="rId17" Target="../media/image81.svg" Type="http://schemas.openxmlformats.org/officeDocument/2006/relationships/image"/><Relationship Id="rId18" Target="../media/image64.png" Type="http://schemas.openxmlformats.org/officeDocument/2006/relationships/image"/><Relationship Id="rId19" Target="../media/image65.svg" Type="http://schemas.openxmlformats.org/officeDocument/2006/relationships/image"/><Relationship Id="rId2" Target="../notesSlides/notesSlide6.xml" Type="http://schemas.openxmlformats.org/officeDocument/2006/relationships/notesSlide"/><Relationship Id="rId20" Target="../media/image82.png" Type="http://schemas.openxmlformats.org/officeDocument/2006/relationships/image"/><Relationship Id="rId21" Target="../media/image83.svg" Type="http://schemas.openxmlformats.org/officeDocument/2006/relationships/image"/><Relationship Id="rId22" Target="../media/image84.png" Type="http://schemas.openxmlformats.org/officeDocument/2006/relationships/image"/><Relationship Id="rId23" Target="../media/image85.sv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68.png" Type="http://schemas.openxmlformats.org/officeDocument/2006/relationships/image"/><Relationship Id="rId7" Target="../media/image69.svg" Type="http://schemas.openxmlformats.org/officeDocument/2006/relationships/image"/><Relationship Id="rId8" Target="../media/image60.png" Type="http://schemas.openxmlformats.org/officeDocument/2006/relationships/image"/><Relationship Id="rId9" Target="../media/image6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2333" y="257381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44999"/>
              </a:blip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59969" y="990067"/>
            <a:ext cx="12618720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96929" y="1944472"/>
            <a:ext cx="16888255" cy="7690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67"/>
              </a:lnSpc>
            </a:pPr>
          </a:p>
          <a:p>
            <a:pPr algn="just" marL="651510" indent="-325755" lvl="1">
              <a:lnSpc>
                <a:spcPts val="7667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SIH26087</a:t>
            </a:r>
          </a:p>
          <a:p>
            <a:pPr algn="just" marL="651510" indent="-325755" lvl="1">
              <a:lnSpc>
                <a:spcPts val="7667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 - AI &amp; LMS - Enabled Cooperative Capacity Building, ERP &amp; Employment Ecosystem</a:t>
            </a:r>
          </a:p>
          <a:p>
            <a:pPr algn="just" marL="651510" indent="-325755" lvl="1">
              <a:lnSpc>
                <a:spcPts val="7667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 - Smart Education</a:t>
            </a:r>
          </a:p>
          <a:p>
            <a:pPr algn="just" marL="651510" indent="-325755" lvl="1">
              <a:lnSpc>
                <a:spcPts val="7667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 - Hardware</a:t>
            </a:r>
          </a:p>
          <a:p>
            <a:pPr algn="just" marL="651510" indent="-325755" lvl="1">
              <a:lnSpc>
                <a:spcPts val="7667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 - 130412</a:t>
            </a:r>
          </a:p>
          <a:p>
            <a:pPr algn="just" marL="651510" indent="-325755" lvl="1">
              <a:lnSpc>
                <a:spcPts val="7667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- Untitled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13160" y="-295363"/>
            <a:ext cx="12550251" cy="1750571"/>
            <a:chOff x="0" y="0"/>
            <a:chExt cx="16733668" cy="23340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733669" cy="2334094"/>
            </a:xfrm>
            <a:custGeom>
              <a:avLst/>
              <a:gdLst/>
              <a:ahLst/>
              <a:cxnLst/>
              <a:rect r="r" b="b" t="t" l="l"/>
              <a:pathLst>
                <a:path h="2334094" w="16733669">
                  <a:moveTo>
                    <a:pt x="0" y="0"/>
                  </a:moveTo>
                  <a:lnTo>
                    <a:pt x="16733669" y="0"/>
                  </a:lnTo>
                  <a:lnTo>
                    <a:pt x="16733669" y="2334094"/>
                  </a:lnTo>
                  <a:lnTo>
                    <a:pt x="0" y="23340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232" r="-31146" b="-13217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6733668" cy="2381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440"/>
                </a:lnSpc>
              </a:pPr>
              <a:r>
                <a:rPr lang="en-US" b="true" sz="3700" spc="18">
                  <a:solidFill>
                    <a:srgbClr val="21212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AI &amp; LMS - ENABLED COOPERATIVE CAPACITY BUILDING, ERP &amp; EMPLOYMENT ECOSYSTEM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568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99"/>
                </a:lnSpc>
              </a:pPr>
              <a:r>
                <a:rPr lang="en-US" b="true" sz="1999" spc="-143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707930" y="9620250"/>
            <a:ext cx="4806001" cy="547688"/>
            <a:chOff x="0" y="0"/>
            <a:chExt cx="6408001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6408001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608099" y="9920516"/>
            <a:ext cx="2083137" cy="9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56"/>
              </a:lnSpc>
            </a:pPr>
            <a:r>
              <a:rPr lang="en-US" sz="63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programme feedback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3559" y="9979571"/>
            <a:ext cx="4757757" cy="190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@SIH Idea Submission • KaushalSetu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536858" y="9979571"/>
            <a:ext cx="94317" cy="190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-175679" y="9652695"/>
            <a:ext cx="18463679" cy="754856"/>
            <a:chOff x="0" y="0"/>
            <a:chExt cx="24618239" cy="10064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618238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618238">
                  <a:moveTo>
                    <a:pt x="0" y="0"/>
                  </a:moveTo>
                  <a:lnTo>
                    <a:pt x="24618238" y="0"/>
                  </a:lnTo>
                  <a:lnTo>
                    <a:pt x="24618238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088522" y="9663074"/>
            <a:ext cx="4267200" cy="653472"/>
            <a:chOff x="0" y="0"/>
            <a:chExt cx="5689600" cy="8712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689600" cy="871296"/>
            </a:xfrm>
            <a:custGeom>
              <a:avLst/>
              <a:gdLst/>
              <a:ahLst/>
              <a:cxnLst/>
              <a:rect r="r" b="b" t="t" l="l"/>
              <a:pathLst>
                <a:path h="871296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871296"/>
                  </a:lnTo>
                  <a:lnTo>
                    <a:pt x="0" y="8712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32" r="0" b="-6914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5689600" cy="8712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99"/>
                </a:lnSpc>
              </a:pPr>
              <a:r>
                <a:rPr lang="en-US" sz="19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2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282701" y="160192"/>
            <a:ext cx="2174620" cy="1329027"/>
          </a:xfrm>
          <a:custGeom>
            <a:avLst/>
            <a:gdLst/>
            <a:ahLst/>
            <a:cxnLst/>
            <a:rect r="r" b="b" t="t" l="l"/>
            <a:pathLst>
              <a:path h="1329027" w="2174620">
                <a:moveTo>
                  <a:pt x="0" y="0"/>
                </a:moveTo>
                <a:lnTo>
                  <a:pt x="2174620" y="0"/>
                </a:lnTo>
                <a:lnTo>
                  <a:pt x="2174620" y="1329027"/>
                </a:lnTo>
                <a:lnTo>
                  <a:pt x="0" y="13290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5843635" y="2708205"/>
            <a:ext cx="5967663" cy="3230979"/>
            <a:chOff x="0" y="0"/>
            <a:chExt cx="1505886" cy="81530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05886" cy="815309"/>
            </a:xfrm>
            <a:custGeom>
              <a:avLst/>
              <a:gdLst/>
              <a:ahLst/>
              <a:cxnLst/>
              <a:rect r="r" b="b" t="t" l="l"/>
              <a:pathLst>
                <a:path h="815309" w="1505886">
                  <a:moveTo>
                    <a:pt x="18162" y="0"/>
                  </a:moveTo>
                  <a:lnTo>
                    <a:pt x="1487724" y="0"/>
                  </a:lnTo>
                  <a:cubicBezTo>
                    <a:pt x="1497755" y="0"/>
                    <a:pt x="1505886" y="8132"/>
                    <a:pt x="1505886" y="18162"/>
                  </a:cubicBezTo>
                  <a:lnTo>
                    <a:pt x="1505886" y="797146"/>
                  </a:lnTo>
                  <a:cubicBezTo>
                    <a:pt x="1505886" y="807177"/>
                    <a:pt x="1497755" y="815309"/>
                    <a:pt x="1487724" y="815309"/>
                  </a:cubicBezTo>
                  <a:lnTo>
                    <a:pt x="18162" y="815309"/>
                  </a:lnTo>
                  <a:cubicBezTo>
                    <a:pt x="8132" y="815309"/>
                    <a:pt x="0" y="807177"/>
                    <a:pt x="0" y="797146"/>
                  </a:cubicBezTo>
                  <a:lnTo>
                    <a:pt x="0" y="18162"/>
                  </a:lnTo>
                  <a:cubicBezTo>
                    <a:pt x="0" y="8132"/>
                    <a:pt x="8132" y="0"/>
                    <a:pt x="18162" y="0"/>
                  </a:cubicBezTo>
                  <a:close/>
                </a:path>
              </a:pathLst>
            </a:custGeom>
            <a:solidFill>
              <a:srgbClr val="F5E1C8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505886" cy="862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149308" y="2687314"/>
            <a:ext cx="5967663" cy="3230979"/>
            <a:chOff x="0" y="0"/>
            <a:chExt cx="1505886" cy="81530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05886" cy="815309"/>
            </a:xfrm>
            <a:custGeom>
              <a:avLst/>
              <a:gdLst/>
              <a:ahLst/>
              <a:cxnLst/>
              <a:rect r="r" b="b" t="t" l="l"/>
              <a:pathLst>
                <a:path h="815309" w="1505886">
                  <a:moveTo>
                    <a:pt x="18162" y="0"/>
                  </a:moveTo>
                  <a:lnTo>
                    <a:pt x="1487724" y="0"/>
                  </a:lnTo>
                  <a:cubicBezTo>
                    <a:pt x="1497755" y="0"/>
                    <a:pt x="1505886" y="8132"/>
                    <a:pt x="1505886" y="18162"/>
                  </a:cubicBezTo>
                  <a:lnTo>
                    <a:pt x="1505886" y="797146"/>
                  </a:lnTo>
                  <a:cubicBezTo>
                    <a:pt x="1505886" y="807177"/>
                    <a:pt x="1497755" y="815309"/>
                    <a:pt x="1487724" y="815309"/>
                  </a:cubicBezTo>
                  <a:lnTo>
                    <a:pt x="18162" y="815309"/>
                  </a:lnTo>
                  <a:cubicBezTo>
                    <a:pt x="8132" y="815309"/>
                    <a:pt x="0" y="807177"/>
                    <a:pt x="0" y="797146"/>
                  </a:cubicBezTo>
                  <a:lnTo>
                    <a:pt x="0" y="18162"/>
                  </a:lnTo>
                  <a:cubicBezTo>
                    <a:pt x="0" y="8132"/>
                    <a:pt x="8132" y="0"/>
                    <a:pt x="18162" y="0"/>
                  </a:cubicBezTo>
                  <a:close/>
                </a:path>
              </a:pathLst>
            </a:custGeom>
            <a:solidFill>
              <a:srgbClr val="C2DC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505886" cy="862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923322" y="6200835"/>
            <a:ext cx="5967663" cy="3230979"/>
            <a:chOff x="0" y="0"/>
            <a:chExt cx="1505886" cy="81530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05886" cy="815309"/>
            </a:xfrm>
            <a:custGeom>
              <a:avLst/>
              <a:gdLst/>
              <a:ahLst/>
              <a:cxnLst/>
              <a:rect r="r" b="b" t="t" l="l"/>
              <a:pathLst>
                <a:path h="815309" w="1505886">
                  <a:moveTo>
                    <a:pt x="18162" y="0"/>
                  </a:moveTo>
                  <a:lnTo>
                    <a:pt x="1487724" y="0"/>
                  </a:lnTo>
                  <a:cubicBezTo>
                    <a:pt x="1497755" y="0"/>
                    <a:pt x="1505886" y="8132"/>
                    <a:pt x="1505886" y="18162"/>
                  </a:cubicBezTo>
                  <a:lnTo>
                    <a:pt x="1505886" y="797146"/>
                  </a:lnTo>
                  <a:cubicBezTo>
                    <a:pt x="1505886" y="807177"/>
                    <a:pt x="1497755" y="815309"/>
                    <a:pt x="1487724" y="815309"/>
                  </a:cubicBezTo>
                  <a:lnTo>
                    <a:pt x="18162" y="815309"/>
                  </a:lnTo>
                  <a:cubicBezTo>
                    <a:pt x="8132" y="815309"/>
                    <a:pt x="0" y="807177"/>
                    <a:pt x="0" y="797146"/>
                  </a:cubicBezTo>
                  <a:lnTo>
                    <a:pt x="0" y="18162"/>
                  </a:lnTo>
                  <a:cubicBezTo>
                    <a:pt x="0" y="8132"/>
                    <a:pt x="8132" y="0"/>
                    <a:pt x="18162" y="0"/>
                  </a:cubicBezTo>
                  <a:close/>
                </a:path>
              </a:pathLst>
            </a:custGeom>
            <a:solidFill>
              <a:srgbClr val="D9F4CD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505886" cy="862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149463" y="6181093"/>
            <a:ext cx="5967663" cy="3230979"/>
            <a:chOff x="0" y="0"/>
            <a:chExt cx="1505886" cy="81530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05886" cy="815309"/>
            </a:xfrm>
            <a:custGeom>
              <a:avLst/>
              <a:gdLst/>
              <a:ahLst/>
              <a:cxnLst/>
              <a:rect r="r" b="b" t="t" l="l"/>
              <a:pathLst>
                <a:path h="815309" w="1505886">
                  <a:moveTo>
                    <a:pt x="18162" y="0"/>
                  </a:moveTo>
                  <a:lnTo>
                    <a:pt x="1487724" y="0"/>
                  </a:lnTo>
                  <a:cubicBezTo>
                    <a:pt x="1497755" y="0"/>
                    <a:pt x="1505886" y="8132"/>
                    <a:pt x="1505886" y="18162"/>
                  </a:cubicBezTo>
                  <a:lnTo>
                    <a:pt x="1505886" y="797146"/>
                  </a:lnTo>
                  <a:cubicBezTo>
                    <a:pt x="1505886" y="807177"/>
                    <a:pt x="1497755" y="815309"/>
                    <a:pt x="1487724" y="815309"/>
                  </a:cubicBezTo>
                  <a:lnTo>
                    <a:pt x="18162" y="815309"/>
                  </a:lnTo>
                  <a:cubicBezTo>
                    <a:pt x="8132" y="815309"/>
                    <a:pt x="0" y="807177"/>
                    <a:pt x="0" y="797146"/>
                  </a:cubicBezTo>
                  <a:lnTo>
                    <a:pt x="0" y="18162"/>
                  </a:lnTo>
                  <a:cubicBezTo>
                    <a:pt x="0" y="8132"/>
                    <a:pt x="8132" y="0"/>
                    <a:pt x="18162" y="0"/>
                  </a:cubicBezTo>
                  <a:close/>
                </a:path>
              </a:pathLst>
            </a:custGeom>
            <a:solidFill>
              <a:srgbClr val="E2D8F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505886" cy="862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515531" y="2818651"/>
            <a:ext cx="5037754" cy="38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8"/>
              </a:lnSpc>
              <a:spcBef>
                <a:spcPct val="0"/>
              </a:spcBef>
            </a:pPr>
            <a:r>
              <a:rPr lang="en-US" b="true" sz="2191" spc="1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UNIFIED</a:t>
            </a:r>
            <a:r>
              <a:rPr lang="en-US" b="true" sz="2191" spc="1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DATA &amp; ERP FOUNDATION</a:t>
            </a:r>
          </a:p>
        </p:txBody>
      </p:sp>
      <p:sp>
        <p:nvSpPr>
          <p:cNvPr name="AutoShape 35" id="35"/>
          <p:cNvSpPr/>
          <p:nvPr/>
        </p:nvSpPr>
        <p:spPr>
          <a:xfrm>
            <a:off x="6530538" y="2859760"/>
            <a:ext cx="0" cy="41370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5888358" y="3352064"/>
            <a:ext cx="592293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12836366" y="2852106"/>
            <a:ext cx="0" cy="41370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>
            <a:off x="12194187" y="3344411"/>
            <a:ext cx="592293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9" id="39"/>
          <p:cNvSpPr txBox="true"/>
          <p:nvPr/>
        </p:nvSpPr>
        <p:spPr>
          <a:xfrm rot="0">
            <a:off x="12821359" y="6303829"/>
            <a:ext cx="5037754" cy="400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8"/>
              </a:lnSpc>
              <a:spcBef>
                <a:spcPct val="0"/>
              </a:spcBef>
            </a:pPr>
            <a:r>
              <a:rPr lang="en-US" b="true" sz="2220" spc="1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AI-POWERED</a:t>
            </a:r>
            <a:r>
              <a:rPr lang="en-US" b="true" sz="2220" spc="1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OPPORTUNITIES</a:t>
            </a:r>
          </a:p>
        </p:txBody>
      </p:sp>
      <p:sp>
        <p:nvSpPr>
          <p:cNvPr name="AutoShape 40" id="40"/>
          <p:cNvSpPr/>
          <p:nvPr/>
        </p:nvSpPr>
        <p:spPr>
          <a:xfrm>
            <a:off x="12836366" y="6343387"/>
            <a:ext cx="0" cy="509003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>
            <a:off x="12194187" y="6937593"/>
            <a:ext cx="592293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2" id="42"/>
          <p:cNvSpPr txBox="true"/>
          <p:nvPr/>
        </p:nvSpPr>
        <p:spPr>
          <a:xfrm rot="0">
            <a:off x="6530538" y="6151882"/>
            <a:ext cx="5100177" cy="791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8"/>
              </a:lnSpc>
              <a:spcBef>
                <a:spcPct val="0"/>
              </a:spcBef>
            </a:pPr>
            <a:r>
              <a:rPr lang="en-US" b="true" sz="2220" spc="1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LEARNING,</a:t>
            </a:r>
            <a:r>
              <a:rPr lang="en-US" b="true" sz="2220" spc="1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ASSESSMENT &amp; SKILL DEVELOPMENT</a:t>
            </a:r>
          </a:p>
        </p:txBody>
      </p:sp>
      <p:sp>
        <p:nvSpPr>
          <p:cNvPr name="AutoShape 43" id="43"/>
          <p:cNvSpPr/>
          <p:nvPr/>
        </p:nvSpPr>
        <p:spPr>
          <a:xfrm>
            <a:off x="6587863" y="6343387"/>
            <a:ext cx="0" cy="51298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>
            <a:off x="5968046" y="6945692"/>
            <a:ext cx="592293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5" id="45"/>
          <p:cNvGrpSpPr/>
          <p:nvPr/>
        </p:nvGrpSpPr>
        <p:grpSpPr>
          <a:xfrm rot="0">
            <a:off x="5972874" y="4407717"/>
            <a:ext cx="5657841" cy="1349221"/>
            <a:chOff x="0" y="0"/>
            <a:chExt cx="1427705" cy="34046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427705" cy="340464"/>
            </a:xfrm>
            <a:custGeom>
              <a:avLst/>
              <a:gdLst/>
              <a:ahLst/>
              <a:cxnLst/>
              <a:rect r="r" b="b" t="t" l="l"/>
              <a:pathLst>
                <a:path h="340464" w="1427705">
                  <a:moveTo>
                    <a:pt x="38314" y="0"/>
                  </a:moveTo>
                  <a:lnTo>
                    <a:pt x="1389392" y="0"/>
                  </a:lnTo>
                  <a:cubicBezTo>
                    <a:pt x="1399553" y="0"/>
                    <a:pt x="1409298" y="4037"/>
                    <a:pt x="1416484" y="11222"/>
                  </a:cubicBezTo>
                  <a:cubicBezTo>
                    <a:pt x="1423669" y="18407"/>
                    <a:pt x="1427705" y="28152"/>
                    <a:pt x="1427705" y="38314"/>
                  </a:cubicBezTo>
                  <a:lnTo>
                    <a:pt x="1427705" y="302150"/>
                  </a:lnTo>
                  <a:cubicBezTo>
                    <a:pt x="1427705" y="312312"/>
                    <a:pt x="1423669" y="322057"/>
                    <a:pt x="1416484" y="329242"/>
                  </a:cubicBezTo>
                  <a:cubicBezTo>
                    <a:pt x="1409298" y="336427"/>
                    <a:pt x="1399553" y="340464"/>
                    <a:pt x="1389392" y="340464"/>
                  </a:cubicBezTo>
                  <a:lnTo>
                    <a:pt x="38314" y="340464"/>
                  </a:lnTo>
                  <a:cubicBezTo>
                    <a:pt x="28152" y="340464"/>
                    <a:pt x="18407" y="336427"/>
                    <a:pt x="11222" y="329242"/>
                  </a:cubicBezTo>
                  <a:cubicBezTo>
                    <a:pt x="4037" y="322057"/>
                    <a:pt x="0" y="312312"/>
                    <a:pt x="0" y="302150"/>
                  </a:cubicBezTo>
                  <a:lnTo>
                    <a:pt x="0" y="38314"/>
                  </a:lnTo>
                  <a:cubicBezTo>
                    <a:pt x="0" y="28152"/>
                    <a:pt x="4037" y="18407"/>
                    <a:pt x="11222" y="11222"/>
                  </a:cubicBezTo>
                  <a:cubicBezTo>
                    <a:pt x="18407" y="4037"/>
                    <a:pt x="28152" y="0"/>
                    <a:pt x="38314" y="0"/>
                  </a:cubicBezTo>
                  <a:close/>
                </a:path>
              </a:pathLst>
            </a:custGeom>
            <a:solidFill>
              <a:srgbClr val="FBF0E1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1427705" cy="3880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72944" indent="-186472" lvl="1">
                <a:lnSpc>
                  <a:spcPts val="2418"/>
                </a:lnSpc>
                <a:buFont typeface="Arial"/>
                <a:buChar char="•"/>
              </a:pPr>
              <a:r>
                <a:rPr lang="en-US" sz="17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Data integration (ERP, LMS, IoT hardware)</a:t>
              </a:r>
            </a:p>
            <a:p>
              <a:pPr algn="l" marL="372944" indent="-186472" lvl="1">
                <a:lnSpc>
                  <a:spcPts val="2418"/>
                </a:lnSpc>
                <a:buFont typeface="Arial"/>
                <a:buChar char="•"/>
              </a:pPr>
              <a:r>
                <a:rPr lang="en-US" sz="17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Standardized model for skills, certificates &amp; attendance</a:t>
              </a:r>
            </a:p>
            <a:p>
              <a:pPr algn="l" marL="372944" indent="-186472" lvl="1">
                <a:lnSpc>
                  <a:spcPts val="2418"/>
                </a:lnSpc>
                <a:buFont typeface="Arial"/>
                <a:buChar char="•"/>
              </a:pPr>
              <a:r>
                <a:rPr lang="en-US" sz="17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Secure and scalable platform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304374" y="4396873"/>
            <a:ext cx="5667366" cy="1403534"/>
            <a:chOff x="0" y="0"/>
            <a:chExt cx="1430109" cy="35416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430109" cy="354169"/>
            </a:xfrm>
            <a:custGeom>
              <a:avLst/>
              <a:gdLst/>
              <a:ahLst/>
              <a:cxnLst/>
              <a:rect r="r" b="b" t="t" l="l"/>
              <a:pathLst>
                <a:path h="354169" w="1430109">
                  <a:moveTo>
                    <a:pt x="38249" y="0"/>
                  </a:moveTo>
                  <a:lnTo>
                    <a:pt x="1391860" y="0"/>
                  </a:lnTo>
                  <a:cubicBezTo>
                    <a:pt x="1412984" y="0"/>
                    <a:pt x="1430109" y="17125"/>
                    <a:pt x="1430109" y="38249"/>
                  </a:cubicBezTo>
                  <a:lnTo>
                    <a:pt x="1430109" y="315920"/>
                  </a:lnTo>
                  <a:cubicBezTo>
                    <a:pt x="1430109" y="337044"/>
                    <a:pt x="1412984" y="354169"/>
                    <a:pt x="1391860" y="354169"/>
                  </a:cubicBezTo>
                  <a:lnTo>
                    <a:pt x="38249" y="354169"/>
                  </a:lnTo>
                  <a:cubicBezTo>
                    <a:pt x="17125" y="354169"/>
                    <a:pt x="0" y="337044"/>
                    <a:pt x="0" y="315920"/>
                  </a:cubicBezTo>
                  <a:lnTo>
                    <a:pt x="0" y="38249"/>
                  </a:lnTo>
                  <a:cubicBezTo>
                    <a:pt x="0" y="17125"/>
                    <a:pt x="17125" y="0"/>
                    <a:pt x="38249" y="0"/>
                  </a:cubicBezTo>
                  <a:close/>
                </a:path>
              </a:pathLst>
            </a:custGeom>
            <a:solidFill>
              <a:srgbClr val="EAF3FB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430109" cy="392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51355" indent="-175677" lvl="1">
                <a:lnSpc>
                  <a:spcPts val="2278"/>
                </a:lnSpc>
                <a:buFont typeface="Arial"/>
                <a:buChar char="•"/>
              </a:pPr>
              <a:r>
                <a:rPr lang="en-US" sz="16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RFID tap-in + ESP32-CAM face verification</a:t>
              </a:r>
            </a:p>
            <a:p>
              <a:pPr algn="l" marL="351355" indent="-175677" lvl="1">
                <a:lnSpc>
                  <a:spcPts val="2278"/>
                </a:lnSpc>
                <a:buFont typeface="Arial"/>
                <a:buChar char="•"/>
              </a:pPr>
              <a:r>
                <a:rPr lang="en-US" sz="16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OLED display + buzzer for instant feedback</a:t>
              </a:r>
            </a:p>
            <a:p>
              <a:pPr algn="l" marL="351355" indent="-175677" lvl="1">
                <a:lnSpc>
                  <a:spcPts val="2278"/>
                </a:lnSpc>
                <a:buFont typeface="Arial"/>
                <a:buChar char="•"/>
              </a:pPr>
              <a:r>
                <a:rPr lang="en-US" sz="16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Works offline, syncs when connected</a:t>
              </a:r>
            </a:p>
            <a:p>
              <a:pPr algn="l" marL="351355" indent="-175677" lvl="1">
                <a:lnSpc>
                  <a:spcPts val="2278"/>
                </a:lnSpc>
                <a:buFont typeface="Arial"/>
                <a:buChar char="•"/>
              </a:pPr>
              <a:r>
                <a:rPr lang="en-US" sz="16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Cons</a:t>
              </a:r>
              <a:r>
                <a:rPr lang="en-US" sz="16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olidated onto</a:t>
              </a:r>
              <a:r>
                <a:rPr lang="en-US" sz="16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a single custom PCB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78311" y="7912870"/>
            <a:ext cx="5657841" cy="1333455"/>
            <a:chOff x="0" y="0"/>
            <a:chExt cx="1427705" cy="33648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427705" cy="336485"/>
            </a:xfrm>
            <a:custGeom>
              <a:avLst/>
              <a:gdLst/>
              <a:ahLst/>
              <a:cxnLst/>
              <a:rect r="r" b="b" t="t" l="l"/>
              <a:pathLst>
                <a:path h="336485" w="1427705">
                  <a:moveTo>
                    <a:pt x="38314" y="0"/>
                  </a:moveTo>
                  <a:lnTo>
                    <a:pt x="1389392" y="0"/>
                  </a:lnTo>
                  <a:cubicBezTo>
                    <a:pt x="1399553" y="0"/>
                    <a:pt x="1409298" y="4037"/>
                    <a:pt x="1416484" y="11222"/>
                  </a:cubicBezTo>
                  <a:cubicBezTo>
                    <a:pt x="1423669" y="18407"/>
                    <a:pt x="1427705" y="28152"/>
                    <a:pt x="1427705" y="38314"/>
                  </a:cubicBezTo>
                  <a:lnTo>
                    <a:pt x="1427705" y="298172"/>
                  </a:lnTo>
                  <a:cubicBezTo>
                    <a:pt x="1427705" y="308333"/>
                    <a:pt x="1423669" y="318078"/>
                    <a:pt x="1416484" y="325264"/>
                  </a:cubicBezTo>
                  <a:cubicBezTo>
                    <a:pt x="1409298" y="332449"/>
                    <a:pt x="1399553" y="336485"/>
                    <a:pt x="1389392" y="336485"/>
                  </a:cubicBezTo>
                  <a:lnTo>
                    <a:pt x="38314" y="336485"/>
                  </a:lnTo>
                  <a:cubicBezTo>
                    <a:pt x="28152" y="336485"/>
                    <a:pt x="18407" y="332449"/>
                    <a:pt x="11222" y="325264"/>
                  </a:cubicBezTo>
                  <a:cubicBezTo>
                    <a:pt x="4037" y="318078"/>
                    <a:pt x="0" y="308333"/>
                    <a:pt x="0" y="298172"/>
                  </a:cubicBezTo>
                  <a:lnTo>
                    <a:pt x="0" y="38314"/>
                  </a:lnTo>
                  <a:cubicBezTo>
                    <a:pt x="0" y="28152"/>
                    <a:pt x="4037" y="18407"/>
                    <a:pt x="11222" y="11222"/>
                  </a:cubicBezTo>
                  <a:cubicBezTo>
                    <a:pt x="18407" y="4037"/>
                    <a:pt x="28152" y="0"/>
                    <a:pt x="38314" y="0"/>
                  </a:cubicBezTo>
                  <a:close/>
                </a:path>
              </a:pathLst>
            </a:custGeom>
            <a:solidFill>
              <a:srgbClr val="E9F5EC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427705" cy="374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51355" indent="-175677" lvl="1">
                <a:lnSpc>
                  <a:spcPts val="2278"/>
                </a:lnSpc>
                <a:buFont typeface="Arial"/>
                <a:buChar char="•"/>
              </a:pPr>
              <a:r>
                <a:rPr lang="en-US" sz="16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Multilingual LMS (online/offline)</a:t>
              </a:r>
            </a:p>
            <a:p>
              <a:pPr algn="l" marL="351355" indent="-175677" lvl="1">
                <a:lnSpc>
                  <a:spcPts val="2278"/>
                </a:lnSpc>
                <a:buFont typeface="Arial"/>
                <a:buChar char="•"/>
              </a:pPr>
              <a:r>
                <a:rPr lang="en-US" sz="16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Tr</a:t>
              </a:r>
              <a:r>
                <a:rPr lang="en-US" sz="16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aining-to-skill mapping (NCCT framework)</a:t>
              </a:r>
            </a:p>
            <a:p>
              <a:pPr algn="l" marL="351355" indent="-175677" lvl="1">
                <a:lnSpc>
                  <a:spcPts val="2278"/>
                </a:lnSpc>
                <a:buFont typeface="Arial"/>
                <a:buChar char="•"/>
              </a:pPr>
              <a:r>
                <a:rPr lang="en-US" sz="16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Assessments and certification</a:t>
              </a:r>
            </a:p>
            <a:p>
              <a:pPr algn="l" marL="351355" indent="-175677" lvl="1">
                <a:lnSpc>
                  <a:spcPts val="2278"/>
                </a:lnSpc>
                <a:buFont typeface="Arial"/>
                <a:buChar char="•"/>
              </a:pPr>
              <a:r>
                <a:rPr lang="en-US" sz="16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Verified skill passport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358234" y="7910163"/>
            <a:ext cx="5657841" cy="1336134"/>
            <a:chOff x="0" y="0"/>
            <a:chExt cx="1427705" cy="33716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427705" cy="337161"/>
            </a:xfrm>
            <a:custGeom>
              <a:avLst/>
              <a:gdLst/>
              <a:ahLst/>
              <a:cxnLst/>
              <a:rect r="r" b="b" t="t" l="l"/>
              <a:pathLst>
                <a:path h="337161" w="1427705">
                  <a:moveTo>
                    <a:pt x="38314" y="0"/>
                  </a:moveTo>
                  <a:lnTo>
                    <a:pt x="1389392" y="0"/>
                  </a:lnTo>
                  <a:cubicBezTo>
                    <a:pt x="1399553" y="0"/>
                    <a:pt x="1409298" y="4037"/>
                    <a:pt x="1416484" y="11222"/>
                  </a:cubicBezTo>
                  <a:cubicBezTo>
                    <a:pt x="1423669" y="18407"/>
                    <a:pt x="1427705" y="28152"/>
                    <a:pt x="1427705" y="38314"/>
                  </a:cubicBezTo>
                  <a:lnTo>
                    <a:pt x="1427705" y="298848"/>
                  </a:lnTo>
                  <a:cubicBezTo>
                    <a:pt x="1427705" y="309009"/>
                    <a:pt x="1423669" y="318754"/>
                    <a:pt x="1416484" y="325940"/>
                  </a:cubicBezTo>
                  <a:cubicBezTo>
                    <a:pt x="1409298" y="333125"/>
                    <a:pt x="1399553" y="337161"/>
                    <a:pt x="1389392" y="337161"/>
                  </a:cubicBezTo>
                  <a:lnTo>
                    <a:pt x="38314" y="337161"/>
                  </a:lnTo>
                  <a:cubicBezTo>
                    <a:pt x="28152" y="337161"/>
                    <a:pt x="18407" y="333125"/>
                    <a:pt x="11222" y="325940"/>
                  </a:cubicBezTo>
                  <a:cubicBezTo>
                    <a:pt x="4037" y="318754"/>
                    <a:pt x="0" y="309009"/>
                    <a:pt x="0" y="298848"/>
                  </a:cubicBezTo>
                  <a:lnTo>
                    <a:pt x="0" y="38314"/>
                  </a:lnTo>
                  <a:cubicBezTo>
                    <a:pt x="0" y="28152"/>
                    <a:pt x="4037" y="18407"/>
                    <a:pt x="11222" y="11222"/>
                  </a:cubicBezTo>
                  <a:cubicBezTo>
                    <a:pt x="18407" y="4037"/>
                    <a:pt x="28152" y="0"/>
                    <a:pt x="38314" y="0"/>
                  </a:cubicBezTo>
                  <a:close/>
                </a:path>
              </a:pathLst>
            </a:custGeom>
            <a:solidFill>
              <a:srgbClr val="F0EBF7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427705" cy="375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51355" indent="-175677" lvl="1">
                <a:lnSpc>
                  <a:spcPts val="2278"/>
                </a:lnSpc>
                <a:buFont typeface="Arial"/>
                <a:buChar char="•"/>
              </a:pPr>
              <a:r>
                <a:rPr lang="en-US" sz="16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Skill &amp; competency matching</a:t>
              </a:r>
            </a:p>
            <a:p>
              <a:pPr algn="l" marL="351355" indent="-175677" lvl="1">
                <a:lnSpc>
                  <a:spcPts val="2278"/>
                </a:lnSpc>
                <a:buFont typeface="Arial"/>
                <a:buChar char="•"/>
              </a:pPr>
              <a:r>
                <a:rPr lang="en-US" sz="16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AI career counsellor</a:t>
              </a:r>
            </a:p>
            <a:p>
              <a:pPr algn="l" marL="351355" indent="-175677" lvl="1">
                <a:lnSpc>
                  <a:spcPts val="2278"/>
                </a:lnSpc>
                <a:buFont typeface="Arial"/>
                <a:buChar char="•"/>
              </a:pPr>
              <a:r>
                <a:rPr lang="en-US" sz="16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Job matching &amp; scheme support</a:t>
              </a:r>
            </a:p>
            <a:p>
              <a:pPr algn="l" marL="351355" indent="-175677" lvl="1">
                <a:lnSpc>
                  <a:spcPts val="2278"/>
                </a:lnSpc>
                <a:buFont typeface="Arial"/>
                <a:buChar char="•"/>
              </a:pPr>
              <a:r>
                <a:rPr lang="en-US" sz="16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Analytics fo</a:t>
              </a:r>
              <a:r>
                <a:rPr lang="en-US" sz="162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 employability and impact</a:t>
              </a:r>
            </a:p>
          </p:txBody>
        </p:sp>
      </p:grpSp>
      <p:sp>
        <p:nvSpPr>
          <p:cNvPr name="Freeform 57" id="57"/>
          <p:cNvSpPr/>
          <p:nvPr/>
        </p:nvSpPr>
        <p:spPr>
          <a:xfrm flipH="false" flipV="false" rot="0">
            <a:off x="11242827" y="5289128"/>
            <a:ext cx="775777" cy="779675"/>
          </a:xfrm>
          <a:custGeom>
            <a:avLst/>
            <a:gdLst/>
            <a:ahLst/>
            <a:cxnLst/>
            <a:rect r="r" b="b" t="t" l="l"/>
            <a:pathLst>
              <a:path h="779675" w="775777">
                <a:moveTo>
                  <a:pt x="0" y="0"/>
                </a:moveTo>
                <a:lnTo>
                  <a:pt x="775776" y="0"/>
                </a:lnTo>
                <a:lnTo>
                  <a:pt x="775776" y="779675"/>
                </a:lnTo>
                <a:lnTo>
                  <a:pt x="0" y="7796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033029" y="1783406"/>
            <a:ext cx="620782" cy="631304"/>
          </a:xfrm>
          <a:custGeom>
            <a:avLst/>
            <a:gdLst/>
            <a:ahLst/>
            <a:cxnLst/>
            <a:rect r="r" b="b" t="t" l="l"/>
            <a:pathLst>
              <a:path h="631304" w="620782">
                <a:moveTo>
                  <a:pt x="0" y="0"/>
                </a:moveTo>
                <a:lnTo>
                  <a:pt x="620782" y="0"/>
                </a:lnTo>
                <a:lnTo>
                  <a:pt x="620782" y="631304"/>
                </a:lnTo>
                <a:lnTo>
                  <a:pt x="0" y="6313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657512" y="2754854"/>
            <a:ext cx="4809811" cy="648899"/>
            <a:chOff x="0" y="0"/>
            <a:chExt cx="1209493" cy="16317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09493" cy="163174"/>
            </a:xfrm>
            <a:custGeom>
              <a:avLst/>
              <a:gdLst/>
              <a:ahLst/>
              <a:cxnLst/>
              <a:rect r="r" b="b" t="t" l="l"/>
              <a:pathLst>
                <a:path h="163174" w="1209493">
                  <a:moveTo>
                    <a:pt x="27363" y="0"/>
                  </a:moveTo>
                  <a:lnTo>
                    <a:pt x="1182129" y="0"/>
                  </a:lnTo>
                  <a:cubicBezTo>
                    <a:pt x="1197242" y="0"/>
                    <a:pt x="1209493" y="12251"/>
                    <a:pt x="1209493" y="27363"/>
                  </a:cubicBezTo>
                  <a:lnTo>
                    <a:pt x="1209493" y="135811"/>
                  </a:lnTo>
                  <a:cubicBezTo>
                    <a:pt x="1209493" y="150924"/>
                    <a:pt x="1197242" y="163174"/>
                    <a:pt x="1182129" y="163174"/>
                  </a:cubicBezTo>
                  <a:lnTo>
                    <a:pt x="27363" y="163174"/>
                  </a:lnTo>
                  <a:cubicBezTo>
                    <a:pt x="12251" y="163174"/>
                    <a:pt x="0" y="150924"/>
                    <a:pt x="0" y="135811"/>
                  </a:cubicBezTo>
                  <a:lnTo>
                    <a:pt x="0" y="27363"/>
                  </a:lnTo>
                  <a:cubicBezTo>
                    <a:pt x="0" y="12251"/>
                    <a:pt x="12251" y="0"/>
                    <a:pt x="27363" y="0"/>
                  </a:cubicBezTo>
                  <a:close/>
                </a:path>
              </a:pathLst>
            </a:custGeom>
            <a:solidFill>
              <a:srgbClr val="F5E1C8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1209493" cy="191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Freeform 62" id="62"/>
          <p:cNvSpPr/>
          <p:nvPr/>
        </p:nvSpPr>
        <p:spPr>
          <a:xfrm flipH="false" flipV="false" rot="0">
            <a:off x="810907" y="2708205"/>
            <a:ext cx="288679" cy="643965"/>
          </a:xfrm>
          <a:custGeom>
            <a:avLst/>
            <a:gdLst/>
            <a:ahLst/>
            <a:cxnLst/>
            <a:rect r="r" b="b" t="t" l="l"/>
            <a:pathLst>
              <a:path h="643965" w="288679">
                <a:moveTo>
                  <a:pt x="0" y="0"/>
                </a:moveTo>
                <a:lnTo>
                  <a:pt x="288678" y="0"/>
                </a:lnTo>
                <a:lnTo>
                  <a:pt x="288678" y="643965"/>
                </a:lnTo>
                <a:lnTo>
                  <a:pt x="0" y="64396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2258" t="0" r="-32258" b="0"/>
            </a:stretch>
          </a:blipFill>
        </p:spPr>
      </p:sp>
      <p:grpSp>
        <p:nvGrpSpPr>
          <p:cNvPr name="Group 63" id="63"/>
          <p:cNvGrpSpPr/>
          <p:nvPr/>
        </p:nvGrpSpPr>
        <p:grpSpPr>
          <a:xfrm rot="0">
            <a:off x="3888064" y="3717298"/>
            <a:ext cx="1850796" cy="1797114"/>
            <a:chOff x="0" y="0"/>
            <a:chExt cx="465408" cy="45190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65408" cy="451909"/>
            </a:xfrm>
            <a:custGeom>
              <a:avLst/>
              <a:gdLst/>
              <a:ahLst/>
              <a:cxnLst/>
              <a:rect r="r" b="b" t="t" l="l"/>
              <a:pathLst>
                <a:path h="451909" w="465408">
                  <a:moveTo>
                    <a:pt x="71111" y="0"/>
                  </a:moveTo>
                  <a:lnTo>
                    <a:pt x="394297" y="0"/>
                  </a:lnTo>
                  <a:cubicBezTo>
                    <a:pt x="413157" y="0"/>
                    <a:pt x="431244" y="7492"/>
                    <a:pt x="444580" y="20828"/>
                  </a:cubicBezTo>
                  <a:cubicBezTo>
                    <a:pt x="457916" y="34164"/>
                    <a:pt x="465408" y="52251"/>
                    <a:pt x="465408" y="71111"/>
                  </a:cubicBezTo>
                  <a:lnTo>
                    <a:pt x="465408" y="380798"/>
                  </a:lnTo>
                  <a:cubicBezTo>
                    <a:pt x="465408" y="399657"/>
                    <a:pt x="457916" y="417745"/>
                    <a:pt x="444580" y="431081"/>
                  </a:cubicBezTo>
                  <a:cubicBezTo>
                    <a:pt x="431244" y="444417"/>
                    <a:pt x="413157" y="451909"/>
                    <a:pt x="394297" y="451909"/>
                  </a:cubicBezTo>
                  <a:lnTo>
                    <a:pt x="71111" y="451909"/>
                  </a:lnTo>
                  <a:cubicBezTo>
                    <a:pt x="31838" y="451909"/>
                    <a:pt x="0" y="420071"/>
                    <a:pt x="0" y="380798"/>
                  </a:cubicBezTo>
                  <a:lnTo>
                    <a:pt x="0" y="71111"/>
                  </a:lnTo>
                  <a:cubicBezTo>
                    <a:pt x="0" y="52251"/>
                    <a:pt x="7492" y="34164"/>
                    <a:pt x="20828" y="20828"/>
                  </a:cubicBezTo>
                  <a:cubicBezTo>
                    <a:pt x="34164" y="7492"/>
                    <a:pt x="52251" y="0"/>
                    <a:pt x="71111" y="0"/>
                  </a:cubicBezTo>
                  <a:close/>
                </a:path>
              </a:pathLst>
            </a:custGeom>
            <a:solidFill>
              <a:srgbClr val="D9F4CD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465408" cy="480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88766" y="3698362"/>
            <a:ext cx="3649976" cy="1830781"/>
            <a:chOff x="0" y="0"/>
            <a:chExt cx="917836" cy="46037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17836" cy="460375"/>
            </a:xfrm>
            <a:custGeom>
              <a:avLst/>
              <a:gdLst/>
              <a:ahLst/>
              <a:cxnLst/>
              <a:rect r="r" b="b" t="t" l="l"/>
              <a:pathLst>
                <a:path h="460375" w="917836">
                  <a:moveTo>
                    <a:pt x="36058" y="0"/>
                  </a:moveTo>
                  <a:lnTo>
                    <a:pt x="881778" y="0"/>
                  </a:lnTo>
                  <a:cubicBezTo>
                    <a:pt x="891341" y="0"/>
                    <a:pt x="900513" y="3799"/>
                    <a:pt x="907275" y="10561"/>
                  </a:cubicBezTo>
                  <a:cubicBezTo>
                    <a:pt x="914037" y="17324"/>
                    <a:pt x="917836" y="26495"/>
                    <a:pt x="917836" y="36058"/>
                  </a:cubicBezTo>
                  <a:lnTo>
                    <a:pt x="917836" y="424316"/>
                  </a:lnTo>
                  <a:cubicBezTo>
                    <a:pt x="917836" y="444231"/>
                    <a:pt x="901692" y="460375"/>
                    <a:pt x="881778" y="460375"/>
                  </a:cubicBezTo>
                  <a:lnTo>
                    <a:pt x="36058" y="460375"/>
                  </a:lnTo>
                  <a:cubicBezTo>
                    <a:pt x="26495" y="460375"/>
                    <a:pt x="17324" y="456576"/>
                    <a:pt x="10561" y="449814"/>
                  </a:cubicBezTo>
                  <a:cubicBezTo>
                    <a:pt x="3799" y="443051"/>
                    <a:pt x="0" y="433880"/>
                    <a:pt x="0" y="424316"/>
                  </a:cubicBezTo>
                  <a:lnTo>
                    <a:pt x="0" y="36058"/>
                  </a:lnTo>
                  <a:cubicBezTo>
                    <a:pt x="0" y="26495"/>
                    <a:pt x="3799" y="17324"/>
                    <a:pt x="10561" y="10561"/>
                  </a:cubicBezTo>
                  <a:cubicBezTo>
                    <a:pt x="17324" y="3799"/>
                    <a:pt x="26495" y="0"/>
                    <a:pt x="36058" y="0"/>
                  </a:cubicBezTo>
                  <a:close/>
                </a:path>
              </a:pathLst>
            </a:custGeom>
            <a:solidFill>
              <a:srgbClr val="C2DCFF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917836" cy="48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Freeform 69" id="69"/>
          <p:cNvSpPr/>
          <p:nvPr/>
        </p:nvSpPr>
        <p:spPr>
          <a:xfrm flipH="false" flipV="false" rot="0">
            <a:off x="296505" y="4181178"/>
            <a:ext cx="649122" cy="431391"/>
          </a:xfrm>
          <a:custGeom>
            <a:avLst/>
            <a:gdLst/>
            <a:ahLst/>
            <a:cxnLst/>
            <a:rect r="r" b="b" t="t" l="l"/>
            <a:pathLst>
              <a:path h="431391" w="649122">
                <a:moveTo>
                  <a:pt x="0" y="0"/>
                </a:moveTo>
                <a:lnTo>
                  <a:pt x="649122" y="0"/>
                </a:lnTo>
                <a:lnTo>
                  <a:pt x="649122" y="431391"/>
                </a:lnTo>
                <a:lnTo>
                  <a:pt x="0" y="43139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3215" t="0" r="-13215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937305" y="4181178"/>
            <a:ext cx="324561" cy="431391"/>
          </a:xfrm>
          <a:custGeom>
            <a:avLst/>
            <a:gdLst/>
            <a:ahLst/>
            <a:cxnLst/>
            <a:rect r="r" b="b" t="t" l="l"/>
            <a:pathLst>
              <a:path h="431391" w="324561">
                <a:moveTo>
                  <a:pt x="0" y="0"/>
                </a:moveTo>
                <a:lnTo>
                  <a:pt x="324561" y="0"/>
                </a:lnTo>
                <a:lnTo>
                  <a:pt x="324561" y="431391"/>
                </a:lnTo>
                <a:lnTo>
                  <a:pt x="0" y="43139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3215" t="0" r="-13215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1261866" y="3981265"/>
            <a:ext cx="482680" cy="631304"/>
          </a:xfrm>
          <a:custGeom>
            <a:avLst/>
            <a:gdLst/>
            <a:ahLst/>
            <a:cxnLst/>
            <a:rect r="r" b="b" t="t" l="l"/>
            <a:pathLst>
              <a:path h="631304" w="482680">
                <a:moveTo>
                  <a:pt x="0" y="0"/>
                </a:moveTo>
                <a:lnTo>
                  <a:pt x="482680" y="0"/>
                </a:lnTo>
                <a:lnTo>
                  <a:pt x="482680" y="631304"/>
                </a:lnTo>
                <a:lnTo>
                  <a:pt x="0" y="6313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3215" t="0" r="-13215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1736224" y="4181178"/>
            <a:ext cx="324561" cy="431391"/>
          </a:xfrm>
          <a:custGeom>
            <a:avLst/>
            <a:gdLst/>
            <a:ahLst/>
            <a:cxnLst/>
            <a:rect r="r" b="b" t="t" l="l"/>
            <a:pathLst>
              <a:path h="431391" w="324561">
                <a:moveTo>
                  <a:pt x="0" y="0"/>
                </a:moveTo>
                <a:lnTo>
                  <a:pt x="324561" y="0"/>
                </a:lnTo>
                <a:lnTo>
                  <a:pt x="324561" y="431391"/>
                </a:lnTo>
                <a:lnTo>
                  <a:pt x="0" y="43139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3215" t="0" r="-13215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2060785" y="3981265"/>
            <a:ext cx="640800" cy="631304"/>
          </a:xfrm>
          <a:custGeom>
            <a:avLst/>
            <a:gdLst/>
            <a:ahLst/>
            <a:cxnLst/>
            <a:rect r="r" b="b" t="t" l="l"/>
            <a:pathLst>
              <a:path h="631304" w="640800">
                <a:moveTo>
                  <a:pt x="0" y="0"/>
                </a:moveTo>
                <a:lnTo>
                  <a:pt x="640800" y="0"/>
                </a:lnTo>
                <a:lnTo>
                  <a:pt x="640800" y="631304"/>
                </a:lnTo>
                <a:lnTo>
                  <a:pt x="0" y="6313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13215" t="0" r="-13215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2693262" y="4181178"/>
            <a:ext cx="332883" cy="431391"/>
          </a:xfrm>
          <a:custGeom>
            <a:avLst/>
            <a:gdLst/>
            <a:ahLst/>
            <a:cxnLst/>
            <a:rect r="r" b="b" t="t" l="l"/>
            <a:pathLst>
              <a:path h="431391" w="332883">
                <a:moveTo>
                  <a:pt x="0" y="0"/>
                </a:moveTo>
                <a:lnTo>
                  <a:pt x="332883" y="0"/>
                </a:lnTo>
                <a:lnTo>
                  <a:pt x="332883" y="431391"/>
                </a:lnTo>
                <a:lnTo>
                  <a:pt x="0" y="43139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3215" t="0" r="-13215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2859704" y="3981265"/>
            <a:ext cx="640800" cy="831217"/>
          </a:xfrm>
          <a:custGeom>
            <a:avLst/>
            <a:gdLst/>
            <a:ahLst/>
            <a:cxnLst/>
            <a:rect r="r" b="b" t="t" l="l"/>
            <a:pathLst>
              <a:path h="831217" w="640800">
                <a:moveTo>
                  <a:pt x="0" y="0"/>
                </a:moveTo>
                <a:lnTo>
                  <a:pt x="640800" y="0"/>
                </a:lnTo>
                <a:lnTo>
                  <a:pt x="640800" y="831216"/>
                </a:lnTo>
                <a:lnTo>
                  <a:pt x="0" y="83121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13215" t="0" r="-13215" b="0"/>
            </a:stretch>
          </a:blipFill>
        </p:spPr>
      </p:sp>
      <p:grpSp>
        <p:nvGrpSpPr>
          <p:cNvPr name="Group 76" id="76"/>
          <p:cNvGrpSpPr/>
          <p:nvPr/>
        </p:nvGrpSpPr>
        <p:grpSpPr>
          <a:xfrm rot="0">
            <a:off x="657512" y="1860507"/>
            <a:ext cx="4809811" cy="648899"/>
            <a:chOff x="0" y="0"/>
            <a:chExt cx="1209493" cy="16317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209493" cy="163174"/>
            </a:xfrm>
            <a:custGeom>
              <a:avLst/>
              <a:gdLst/>
              <a:ahLst/>
              <a:cxnLst/>
              <a:rect r="r" b="b" t="t" l="l"/>
              <a:pathLst>
                <a:path h="163174" w="1209493">
                  <a:moveTo>
                    <a:pt x="27363" y="0"/>
                  </a:moveTo>
                  <a:lnTo>
                    <a:pt x="1182129" y="0"/>
                  </a:lnTo>
                  <a:cubicBezTo>
                    <a:pt x="1197242" y="0"/>
                    <a:pt x="1209493" y="12251"/>
                    <a:pt x="1209493" y="27363"/>
                  </a:cubicBezTo>
                  <a:lnTo>
                    <a:pt x="1209493" y="135811"/>
                  </a:lnTo>
                  <a:cubicBezTo>
                    <a:pt x="1209493" y="150924"/>
                    <a:pt x="1197242" y="163174"/>
                    <a:pt x="1182129" y="163174"/>
                  </a:cubicBezTo>
                  <a:lnTo>
                    <a:pt x="27363" y="163174"/>
                  </a:lnTo>
                  <a:cubicBezTo>
                    <a:pt x="12251" y="163174"/>
                    <a:pt x="0" y="150924"/>
                    <a:pt x="0" y="135811"/>
                  </a:cubicBezTo>
                  <a:lnTo>
                    <a:pt x="0" y="27363"/>
                  </a:lnTo>
                  <a:cubicBezTo>
                    <a:pt x="0" y="12251"/>
                    <a:pt x="12251" y="0"/>
                    <a:pt x="27363" y="0"/>
                  </a:cubicBezTo>
                  <a:close/>
                </a:path>
              </a:pathLst>
            </a:custGeom>
            <a:solidFill>
              <a:srgbClr val="F5E1C8"/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1209493" cy="191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Freeform 79" id="79"/>
          <p:cNvSpPr/>
          <p:nvPr/>
        </p:nvSpPr>
        <p:spPr>
          <a:xfrm flipH="false" flipV="false" rot="0">
            <a:off x="1128857" y="1877793"/>
            <a:ext cx="470004" cy="561961"/>
          </a:xfrm>
          <a:custGeom>
            <a:avLst/>
            <a:gdLst/>
            <a:ahLst/>
            <a:cxnLst/>
            <a:rect r="r" b="b" t="t" l="l"/>
            <a:pathLst>
              <a:path h="561961" w="470004">
                <a:moveTo>
                  <a:pt x="0" y="0"/>
                </a:moveTo>
                <a:lnTo>
                  <a:pt x="470004" y="0"/>
                </a:lnTo>
                <a:lnTo>
                  <a:pt x="470004" y="561961"/>
                </a:lnTo>
                <a:lnTo>
                  <a:pt x="0" y="56196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AutoShape 80" id="80"/>
          <p:cNvSpPr/>
          <p:nvPr/>
        </p:nvSpPr>
        <p:spPr>
          <a:xfrm flipH="true">
            <a:off x="2816462" y="2509406"/>
            <a:ext cx="0" cy="225268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81" id="81"/>
          <p:cNvSpPr/>
          <p:nvPr/>
        </p:nvSpPr>
        <p:spPr>
          <a:xfrm flipH="false" flipV="false" rot="0">
            <a:off x="3926757" y="3866117"/>
            <a:ext cx="406184" cy="422092"/>
          </a:xfrm>
          <a:custGeom>
            <a:avLst/>
            <a:gdLst/>
            <a:ahLst/>
            <a:cxnLst/>
            <a:rect r="r" b="b" t="t" l="l"/>
            <a:pathLst>
              <a:path h="422092" w="406184">
                <a:moveTo>
                  <a:pt x="0" y="0"/>
                </a:moveTo>
                <a:lnTo>
                  <a:pt x="406184" y="0"/>
                </a:lnTo>
                <a:lnTo>
                  <a:pt x="406184" y="422092"/>
                </a:lnTo>
                <a:lnTo>
                  <a:pt x="0" y="42209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13215" t="0" r="-13215" b="0"/>
            </a:stretch>
          </a:blipFill>
        </p:spPr>
      </p:sp>
      <p:grpSp>
        <p:nvGrpSpPr>
          <p:cNvPr name="Group 82" id="82"/>
          <p:cNvGrpSpPr/>
          <p:nvPr/>
        </p:nvGrpSpPr>
        <p:grpSpPr>
          <a:xfrm rot="0">
            <a:off x="657512" y="5920169"/>
            <a:ext cx="4810125" cy="738346"/>
            <a:chOff x="0" y="0"/>
            <a:chExt cx="1209572" cy="185667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209572" cy="185667"/>
            </a:xfrm>
            <a:custGeom>
              <a:avLst/>
              <a:gdLst/>
              <a:ahLst/>
              <a:cxnLst/>
              <a:rect r="r" b="b" t="t" l="l"/>
              <a:pathLst>
                <a:path h="185667" w="1209572">
                  <a:moveTo>
                    <a:pt x="27362" y="0"/>
                  </a:moveTo>
                  <a:lnTo>
                    <a:pt x="1182210" y="0"/>
                  </a:lnTo>
                  <a:cubicBezTo>
                    <a:pt x="1189467" y="0"/>
                    <a:pt x="1196426" y="2883"/>
                    <a:pt x="1201558" y="8014"/>
                  </a:cubicBezTo>
                  <a:cubicBezTo>
                    <a:pt x="1206689" y="13145"/>
                    <a:pt x="1209572" y="20105"/>
                    <a:pt x="1209572" y="27362"/>
                  </a:cubicBezTo>
                  <a:lnTo>
                    <a:pt x="1209572" y="158306"/>
                  </a:lnTo>
                  <a:cubicBezTo>
                    <a:pt x="1209572" y="173417"/>
                    <a:pt x="1197321" y="185667"/>
                    <a:pt x="1182210" y="185667"/>
                  </a:cubicBezTo>
                  <a:lnTo>
                    <a:pt x="27362" y="185667"/>
                  </a:lnTo>
                  <a:cubicBezTo>
                    <a:pt x="12250" y="185667"/>
                    <a:pt x="0" y="173417"/>
                    <a:pt x="0" y="158306"/>
                  </a:cubicBezTo>
                  <a:lnTo>
                    <a:pt x="0" y="27362"/>
                  </a:lnTo>
                  <a:cubicBezTo>
                    <a:pt x="0" y="12250"/>
                    <a:pt x="12250" y="0"/>
                    <a:pt x="27362" y="0"/>
                  </a:cubicBezTo>
                  <a:close/>
                </a:path>
              </a:pathLst>
            </a:custGeom>
            <a:solidFill>
              <a:srgbClr val="D9F4CD"/>
            </a:solid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1209572" cy="214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Freeform 85" id="85"/>
          <p:cNvSpPr/>
          <p:nvPr/>
        </p:nvSpPr>
        <p:spPr>
          <a:xfrm flipH="false" flipV="false" rot="0">
            <a:off x="741849" y="5979128"/>
            <a:ext cx="525209" cy="631304"/>
          </a:xfrm>
          <a:custGeom>
            <a:avLst/>
            <a:gdLst/>
            <a:ahLst/>
            <a:cxnLst/>
            <a:rect r="r" b="b" t="t" l="l"/>
            <a:pathLst>
              <a:path h="631304" w="525209">
                <a:moveTo>
                  <a:pt x="0" y="0"/>
                </a:moveTo>
                <a:lnTo>
                  <a:pt x="525209" y="0"/>
                </a:lnTo>
                <a:lnTo>
                  <a:pt x="525209" y="631304"/>
                </a:lnTo>
                <a:lnTo>
                  <a:pt x="0" y="63130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9098" t="0" r="-9098" b="0"/>
            </a:stretch>
          </a:blipFill>
        </p:spPr>
      </p:sp>
      <p:grpSp>
        <p:nvGrpSpPr>
          <p:cNvPr name="Group 86" id="86"/>
          <p:cNvGrpSpPr/>
          <p:nvPr/>
        </p:nvGrpSpPr>
        <p:grpSpPr>
          <a:xfrm rot="0">
            <a:off x="657225" y="6884037"/>
            <a:ext cx="4810125" cy="607547"/>
            <a:chOff x="0" y="0"/>
            <a:chExt cx="1209572" cy="15277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209572" cy="152776"/>
            </a:xfrm>
            <a:custGeom>
              <a:avLst/>
              <a:gdLst/>
              <a:ahLst/>
              <a:cxnLst/>
              <a:rect r="r" b="b" t="t" l="l"/>
              <a:pathLst>
                <a:path h="152776" w="1209572">
                  <a:moveTo>
                    <a:pt x="27362" y="0"/>
                  </a:moveTo>
                  <a:lnTo>
                    <a:pt x="1182210" y="0"/>
                  </a:lnTo>
                  <a:cubicBezTo>
                    <a:pt x="1189467" y="0"/>
                    <a:pt x="1196426" y="2883"/>
                    <a:pt x="1201558" y="8014"/>
                  </a:cubicBezTo>
                  <a:cubicBezTo>
                    <a:pt x="1206689" y="13145"/>
                    <a:pt x="1209572" y="20105"/>
                    <a:pt x="1209572" y="27362"/>
                  </a:cubicBezTo>
                  <a:lnTo>
                    <a:pt x="1209572" y="125414"/>
                  </a:lnTo>
                  <a:cubicBezTo>
                    <a:pt x="1209572" y="140526"/>
                    <a:pt x="1197321" y="152776"/>
                    <a:pt x="1182210" y="152776"/>
                  </a:cubicBezTo>
                  <a:lnTo>
                    <a:pt x="27362" y="152776"/>
                  </a:lnTo>
                  <a:cubicBezTo>
                    <a:pt x="12250" y="152776"/>
                    <a:pt x="0" y="140526"/>
                    <a:pt x="0" y="125414"/>
                  </a:cubicBezTo>
                  <a:lnTo>
                    <a:pt x="0" y="27362"/>
                  </a:lnTo>
                  <a:cubicBezTo>
                    <a:pt x="0" y="12250"/>
                    <a:pt x="12250" y="0"/>
                    <a:pt x="27362" y="0"/>
                  </a:cubicBezTo>
                  <a:close/>
                </a:path>
              </a:pathLst>
            </a:custGeom>
            <a:solidFill>
              <a:srgbClr val="F0EBF7"/>
            </a:solid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28575"/>
              <a:ext cx="1209572" cy="181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657225" y="7736988"/>
            <a:ext cx="4810125" cy="666481"/>
            <a:chOff x="0" y="0"/>
            <a:chExt cx="1209572" cy="16759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209572" cy="167596"/>
            </a:xfrm>
            <a:custGeom>
              <a:avLst/>
              <a:gdLst/>
              <a:ahLst/>
              <a:cxnLst/>
              <a:rect r="r" b="b" t="t" l="l"/>
              <a:pathLst>
                <a:path h="167596" w="1209572">
                  <a:moveTo>
                    <a:pt x="27362" y="0"/>
                  </a:moveTo>
                  <a:lnTo>
                    <a:pt x="1182210" y="0"/>
                  </a:lnTo>
                  <a:cubicBezTo>
                    <a:pt x="1189467" y="0"/>
                    <a:pt x="1196426" y="2883"/>
                    <a:pt x="1201558" y="8014"/>
                  </a:cubicBezTo>
                  <a:cubicBezTo>
                    <a:pt x="1206689" y="13145"/>
                    <a:pt x="1209572" y="20105"/>
                    <a:pt x="1209572" y="27362"/>
                  </a:cubicBezTo>
                  <a:lnTo>
                    <a:pt x="1209572" y="140234"/>
                  </a:lnTo>
                  <a:cubicBezTo>
                    <a:pt x="1209572" y="155346"/>
                    <a:pt x="1197321" y="167596"/>
                    <a:pt x="1182210" y="167596"/>
                  </a:cubicBezTo>
                  <a:lnTo>
                    <a:pt x="27362" y="167596"/>
                  </a:lnTo>
                  <a:cubicBezTo>
                    <a:pt x="12250" y="167596"/>
                    <a:pt x="0" y="155346"/>
                    <a:pt x="0" y="140234"/>
                  </a:cubicBezTo>
                  <a:lnTo>
                    <a:pt x="0" y="27362"/>
                  </a:lnTo>
                  <a:cubicBezTo>
                    <a:pt x="0" y="12250"/>
                    <a:pt x="12250" y="0"/>
                    <a:pt x="27362" y="0"/>
                  </a:cubicBezTo>
                  <a:close/>
                </a:path>
              </a:pathLst>
            </a:custGeom>
            <a:solidFill>
              <a:srgbClr val="F0EBF7"/>
            </a:solid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28575"/>
              <a:ext cx="1209572" cy="1961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657225" y="8682572"/>
            <a:ext cx="4810125" cy="851953"/>
            <a:chOff x="0" y="0"/>
            <a:chExt cx="1209572" cy="21423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209572" cy="214235"/>
            </a:xfrm>
            <a:custGeom>
              <a:avLst/>
              <a:gdLst/>
              <a:ahLst/>
              <a:cxnLst/>
              <a:rect r="r" b="b" t="t" l="l"/>
              <a:pathLst>
                <a:path h="214235" w="1209572">
                  <a:moveTo>
                    <a:pt x="27362" y="0"/>
                  </a:moveTo>
                  <a:lnTo>
                    <a:pt x="1182210" y="0"/>
                  </a:lnTo>
                  <a:cubicBezTo>
                    <a:pt x="1189467" y="0"/>
                    <a:pt x="1196426" y="2883"/>
                    <a:pt x="1201558" y="8014"/>
                  </a:cubicBezTo>
                  <a:cubicBezTo>
                    <a:pt x="1206689" y="13145"/>
                    <a:pt x="1209572" y="20105"/>
                    <a:pt x="1209572" y="27362"/>
                  </a:cubicBezTo>
                  <a:lnTo>
                    <a:pt x="1209572" y="186874"/>
                  </a:lnTo>
                  <a:cubicBezTo>
                    <a:pt x="1209572" y="201985"/>
                    <a:pt x="1197321" y="214235"/>
                    <a:pt x="1182210" y="214235"/>
                  </a:cubicBezTo>
                  <a:lnTo>
                    <a:pt x="27362" y="214235"/>
                  </a:lnTo>
                  <a:cubicBezTo>
                    <a:pt x="12250" y="214235"/>
                    <a:pt x="0" y="201985"/>
                    <a:pt x="0" y="186874"/>
                  </a:cubicBezTo>
                  <a:lnTo>
                    <a:pt x="0" y="27362"/>
                  </a:lnTo>
                  <a:cubicBezTo>
                    <a:pt x="0" y="12250"/>
                    <a:pt x="12250" y="0"/>
                    <a:pt x="27362" y="0"/>
                  </a:cubicBezTo>
                  <a:close/>
                </a:path>
              </a:pathLst>
            </a:custGeom>
            <a:solidFill>
              <a:srgbClr val="F0EBF7"/>
            </a:solid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28575"/>
              <a:ext cx="1209572" cy="242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AutoShape 95" id="95"/>
          <p:cNvSpPr/>
          <p:nvPr/>
        </p:nvSpPr>
        <p:spPr>
          <a:xfrm>
            <a:off x="4810125" y="3552404"/>
            <a:ext cx="0" cy="145958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6" id="96"/>
          <p:cNvSpPr/>
          <p:nvPr/>
        </p:nvSpPr>
        <p:spPr>
          <a:xfrm flipH="true">
            <a:off x="1518712" y="3552404"/>
            <a:ext cx="0" cy="145958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7" id="97"/>
          <p:cNvSpPr/>
          <p:nvPr/>
        </p:nvSpPr>
        <p:spPr>
          <a:xfrm flipH="true">
            <a:off x="1518712" y="3552404"/>
            <a:ext cx="3291413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8" id="98"/>
          <p:cNvSpPr/>
          <p:nvPr/>
        </p:nvSpPr>
        <p:spPr>
          <a:xfrm>
            <a:off x="2816462" y="3403753"/>
            <a:ext cx="0" cy="144148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9" id="99"/>
          <p:cNvSpPr/>
          <p:nvPr/>
        </p:nvSpPr>
        <p:spPr>
          <a:xfrm flipH="false" flipV="false" rot="0">
            <a:off x="867343" y="7006314"/>
            <a:ext cx="480275" cy="429846"/>
          </a:xfrm>
          <a:custGeom>
            <a:avLst/>
            <a:gdLst/>
            <a:ahLst/>
            <a:cxnLst/>
            <a:rect r="r" b="b" t="t" l="l"/>
            <a:pathLst>
              <a:path h="429846" w="480275">
                <a:moveTo>
                  <a:pt x="0" y="0"/>
                </a:moveTo>
                <a:lnTo>
                  <a:pt x="480275" y="0"/>
                </a:lnTo>
                <a:lnTo>
                  <a:pt x="480275" y="429846"/>
                </a:lnTo>
                <a:lnTo>
                  <a:pt x="0" y="42984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0" id="100"/>
          <p:cNvSpPr/>
          <p:nvPr/>
        </p:nvSpPr>
        <p:spPr>
          <a:xfrm flipH="false" flipV="false" rot="0">
            <a:off x="807611" y="7899914"/>
            <a:ext cx="616049" cy="350036"/>
          </a:xfrm>
          <a:custGeom>
            <a:avLst/>
            <a:gdLst/>
            <a:ahLst/>
            <a:cxnLst/>
            <a:rect r="r" b="b" t="t" l="l"/>
            <a:pathLst>
              <a:path h="350036" w="616049">
                <a:moveTo>
                  <a:pt x="0" y="0"/>
                </a:moveTo>
                <a:lnTo>
                  <a:pt x="616049" y="0"/>
                </a:lnTo>
                <a:lnTo>
                  <a:pt x="616049" y="350036"/>
                </a:lnTo>
                <a:lnTo>
                  <a:pt x="0" y="35003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-10722" t="0" r="-10722" b="-457"/>
            </a:stretch>
          </a:blipFill>
        </p:spPr>
      </p:sp>
      <p:sp>
        <p:nvSpPr>
          <p:cNvPr name="Freeform 101" id="101"/>
          <p:cNvSpPr/>
          <p:nvPr/>
        </p:nvSpPr>
        <p:spPr>
          <a:xfrm flipH="false" flipV="false" rot="0">
            <a:off x="868760" y="8851144"/>
            <a:ext cx="438073" cy="398647"/>
          </a:xfrm>
          <a:custGeom>
            <a:avLst/>
            <a:gdLst/>
            <a:ahLst/>
            <a:cxnLst/>
            <a:rect r="r" b="b" t="t" l="l"/>
            <a:pathLst>
              <a:path h="398647" w="438073">
                <a:moveTo>
                  <a:pt x="0" y="0"/>
                </a:moveTo>
                <a:lnTo>
                  <a:pt x="438073" y="0"/>
                </a:lnTo>
                <a:lnTo>
                  <a:pt x="438073" y="398647"/>
                </a:lnTo>
                <a:lnTo>
                  <a:pt x="0" y="39864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2" id="102"/>
          <p:cNvSpPr/>
          <p:nvPr/>
        </p:nvSpPr>
        <p:spPr>
          <a:xfrm flipH="true">
            <a:off x="1518712" y="5716002"/>
            <a:ext cx="3291413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3" id="103"/>
          <p:cNvSpPr/>
          <p:nvPr/>
        </p:nvSpPr>
        <p:spPr>
          <a:xfrm>
            <a:off x="4810125" y="5514412"/>
            <a:ext cx="0" cy="201589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4" id="104"/>
          <p:cNvSpPr/>
          <p:nvPr/>
        </p:nvSpPr>
        <p:spPr>
          <a:xfrm>
            <a:off x="1529234" y="5529143"/>
            <a:ext cx="0" cy="194652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5" id="105"/>
          <p:cNvSpPr/>
          <p:nvPr/>
        </p:nvSpPr>
        <p:spPr>
          <a:xfrm flipH="true">
            <a:off x="2805941" y="5716002"/>
            <a:ext cx="0" cy="216123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06" id="106"/>
          <p:cNvSpPr/>
          <p:nvPr/>
        </p:nvSpPr>
        <p:spPr>
          <a:xfrm>
            <a:off x="2806937" y="6667500"/>
            <a:ext cx="0" cy="19050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07" id="107"/>
          <p:cNvSpPr/>
          <p:nvPr/>
        </p:nvSpPr>
        <p:spPr>
          <a:xfrm>
            <a:off x="2816462" y="7491584"/>
            <a:ext cx="0" cy="253574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08" id="108"/>
          <p:cNvSpPr/>
          <p:nvPr/>
        </p:nvSpPr>
        <p:spPr>
          <a:xfrm>
            <a:off x="2805941" y="8451094"/>
            <a:ext cx="0" cy="232602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09" id="109"/>
          <p:cNvSpPr/>
          <p:nvPr/>
        </p:nvSpPr>
        <p:spPr>
          <a:xfrm flipH="false" flipV="false" rot="0">
            <a:off x="17331477" y="5207815"/>
            <a:ext cx="930184" cy="786005"/>
          </a:xfrm>
          <a:custGeom>
            <a:avLst/>
            <a:gdLst/>
            <a:ahLst/>
            <a:cxnLst/>
            <a:rect r="r" b="b" t="t" l="l"/>
            <a:pathLst>
              <a:path h="786005" w="930184">
                <a:moveTo>
                  <a:pt x="0" y="0"/>
                </a:moveTo>
                <a:lnTo>
                  <a:pt x="930184" y="0"/>
                </a:lnTo>
                <a:lnTo>
                  <a:pt x="930184" y="786006"/>
                </a:lnTo>
                <a:lnTo>
                  <a:pt x="0" y="786006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110" id="110"/>
          <p:cNvSpPr/>
          <p:nvPr/>
        </p:nvSpPr>
        <p:spPr>
          <a:xfrm flipH="false" flipV="false" rot="0">
            <a:off x="11133568" y="8676901"/>
            <a:ext cx="937144" cy="937144"/>
          </a:xfrm>
          <a:custGeom>
            <a:avLst/>
            <a:gdLst/>
            <a:ahLst/>
            <a:cxnLst/>
            <a:rect r="r" b="b" t="t" l="l"/>
            <a:pathLst>
              <a:path h="937144" w="937144">
                <a:moveTo>
                  <a:pt x="0" y="0"/>
                </a:moveTo>
                <a:lnTo>
                  <a:pt x="937144" y="0"/>
                </a:lnTo>
                <a:lnTo>
                  <a:pt x="937144" y="937145"/>
                </a:lnTo>
                <a:lnTo>
                  <a:pt x="0" y="93714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111" id="111"/>
          <p:cNvSpPr/>
          <p:nvPr/>
        </p:nvSpPr>
        <p:spPr>
          <a:xfrm flipH="false" flipV="false" rot="0">
            <a:off x="17465673" y="8522390"/>
            <a:ext cx="1012135" cy="1012135"/>
          </a:xfrm>
          <a:custGeom>
            <a:avLst/>
            <a:gdLst/>
            <a:ahLst/>
            <a:cxnLst/>
            <a:rect r="r" b="b" t="t" l="l"/>
            <a:pathLst>
              <a:path h="1012135" w="1012135">
                <a:moveTo>
                  <a:pt x="0" y="0"/>
                </a:moveTo>
                <a:lnTo>
                  <a:pt x="1012134" y="0"/>
                </a:lnTo>
                <a:lnTo>
                  <a:pt x="1012134" y="1012135"/>
                </a:lnTo>
                <a:lnTo>
                  <a:pt x="0" y="101213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TextBox 112" id="112"/>
          <p:cNvSpPr txBox="true"/>
          <p:nvPr/>
        </p:nvSpPr>
        <p:spPr>
          <a:xfrm rot="0">
            <a:off x="8879618" y="1189072"/>
            <a:ext cx="6134230" cy="760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2"/>
              </a:lnSpc>
            </a:pPr>
            <a:r>
              <a:rPr lang="en-US" b="true" sz="4187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Proposed Solution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6028797" y="2765883"/>
            <a:ext cx="388985" cy="53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1"/>
              </a:lnSpc>
              <a:spcBef>
                <a:spcPct val="0"/>
              </a:spcBef>
            </a:pPr>
            <a:r>
              <a:rPr lang="en-US" b="true" sz="2950" spc="1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2896015" y="2821878"/>
            <a:ext cx="5220956" cy="38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8"/>
              </a:lnSpc>
              <a:spcBef>
                <a:spcPct val="0"/>
              </a:spcBef>
            </a:pPr>
            <a:r>
              <a:rPr lang="en-US" b="true" sz="2191" spc="1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HARDWARE-VERIFIED</a:t>
            </a:r>
            <a:r>
              <a:rPr lang="en-US" b="true" sz="2191" spc="1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ATTENDANCE 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2298086" y="2758230"/>
            <a:ext cx="462064" cy="53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1"/>
              </a:lnSpc>
              <a:spcBef>
                <a:spcPct val="0"/>
              </a:spcBef>
            </a:pPr>
            <a:r>
              <a:rPr lang="en-US" b="true" sz="2950" spc="1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2278216" y="6260586"/>
            <a:ext cx="501803" cy="53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1"/>
              </a:lnSpc>
              <a:spcBef>
                <a:spcPct val="0"/>
              </a:spcBef>
            </a:pPr>
            <a:r>
              <a:rPr lang="en-US" b="true" sz="2950" spc="1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6043183" y="6298838"/>
            <a:ext cx="474864" cy="53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1"/>
              </a:lnSpc>
              <a:spcBef>
                <a:spcPct val="0"/>
              </a:spcBef>
            </a:pPr>
            <a:r>
              <a:rPr lang="en-US" b="true" sz="2950" spc="1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5843635" y="3396164"/>
            <a:ext cx="5955950" cy="954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1800" spc="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nify trainees, institutions, programmes, assessments, certifications, employers, and hardware in one ecosystem.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12149308" y="3360266"/>
            <a:ext cx="5955950" cy="954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1"/>
              </a:lnSpc>
              <a:spcBef>
                <a:spcPct val="0"/>
              </a:spcBef>
            </a:pPr>
            <a:r>
              <a:rPr lang="en-US" sz="1794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1794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ow-cost, tamper-resistant kiosk verifies attendance in real time offline-capable, using RFID + on-device face recognition.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5923322" y="6945696"/>
            <a:ext cx="5846709" cy="954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1"/>
              </a:lnSpc>
              <a:spcBef>
                <a:spcPct val="0"/>
              </a:spcBef>
            </a:pPr>
            <a:r>
              <a:rPr lang="en-US" sz="1794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1794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elivers multilingual content, tracks progress, runs assessments, and issues digital certificates with verified skill records.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12155164" y="6909610"/>
            <a:ext cx="5761223" cy="954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1"/>
              </a:lnSpc>
              <a:spcBef>
                <a:spcPct val="0"/>
              </a:spcBef>
            </a:pPr>
            <a:r>
              <a:rPr lang="en-US" sz="1794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AI-matched skills connect trainees to jobs, entrepreneurship schemes, and employer opportunities — with built-in career guidance.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1240499" y="4641225"/>
            <a:ext cx="585279" cy="718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96"/>
              </a:lnSpc>
              <a:spcBef>
                <a:spcPct val="0"/>
              </a:spcBef>
            </a:pPr>
            <a:r>
              <a:rPr lang="en-US" sz="1354" strike="noStrike" u="none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ESP32 +</a:t>
            </a:r>
          </a:p>
          <a:p>
            <a:pPr algn="ctr" marL="0" indent="0" lvl="0">
              <a:lnSpc>
                <a:spcPts val="1896"/>
              </a:lnSpc>
              <a:spcBef>
                <a:spcPct val="0"/>
              </a:spcBef>
            </a:pPr>
            <a:r>
              <a:rPr lang="en-US" sz="1354" strike="noStrike" u="none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RC522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207544" y="4624881"/>
            <a:ext cx="899936" cy="71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49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NFC</a:t>
            </a:r>
          </a:p>
          <a:p>
            <a:pPr algn="ctr">
              <a:lnSpc>
                <a:spcPts val="1889"/>
              </a:lnSpc>
            </a:pPr>
            <a:r>
              <a:rPr lang="en-US" sz="1349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Trainee Card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1775555" y="1883057"/>
            <a:ext cx="2918839" cy="275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28"/>
              </a:lnSpc>
              <a:spcBef>
                <a:spcPct val="0"/>
              </a:spcBef>
            </a:pPr>
            <a:r>
              <a:rPr lang="en-US" b="true" sz="1520" strike="noStrike" u="none">
                <a:solidFill>
                  <a:srgbClr val="183B0A"/>
                </a:solidFill>
                <a:latin typeface="Poppins Bold"/>
                <a:ea typeface="Poppins Bold"/>
                <a:cs typeface="Poppins Bold"/>
                <a:sym typeface="Poppins Bold"/>
              </a:rPr>
              <a:t>1. REGISTRATION &amp; PROFILE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2010700" y="2155382"/>
            <a:ext cx="2799425" cy="259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415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Trainee / Institution / Employer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1417636" y="2760008"/>
            <a:ext cx="4256623" cy="275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28"/>
              </a:lnSpc>
              <a:spcBef>
                <a:spcPct val="0"/>
              </a:spcBef>
            </a:pPr>
            <a:r>
              <a:rPr lang="en-US" b="true" sz="1520" strike="noStrike" u="none">
                <a:solidFill>
                  <a:srgbClr val="183B0A"/>
                </a:solidFill>
                <a:latin typeface="Poppins Bold"/>
                <a:ea typeface="Poppins Bold"/>
                <a:cs typeface="Poppins Bold"/>
                <a:sym typeface="Poppins Bold"/>
              </a:rPr>
              <a:t>2. PROGRAMME &amp; BATCH MANAGEMENT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433846" y="3724389"/>
            <a:ext cx="2599826" cy="275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28"/>
              </a:lnSpc>
              <a:spcBef>
                <a:spcPct val="0"/>
              </a:spcBef>
            </a:pPr>
            <a:r>
              <a:rPr lang="en-US" b="true" sz="1520" strike="noStrike" u="none">
                <a:solidFill>
                  <a:srgbClr val="183B0A"/>
                </a:solidFill>
                <a:latin typeface="Poppins Bold"/>
                <a:ea typeface="Poppins Bold"/>
                <a:cs typeface="Poppins Bold"/>
                <a:sym typeface="Poppins Bold"/>
              </a:rPr>
              <a:t>3A. SMART ATTENDANCE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2207974" y="4735115"/>
            <a:ext cx="455455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Wi-Fi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3136962" y="4756159"/>
            <a:ext cx="411033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ERP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4366296" y="3818492"/>
            <a:ext cx="1372564" cy="542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28"/>
              </a:lnSpc>
              <a:spcBef>
                <a:spcPct val="0"/>
              </a:spcBef>
            </a:pPr>
            <a:r>
              <a:rPr lang="en-US" b="true" sz="1520" strike="noStrike" u="none">
                <a:solidFill>
                  <a:srgbClr val="183B0A"/>
                </a:solidFill>
                <a:latin typeface="Poppins Bold"/>
                <a:ea typeface="Poppins Bold"/>
                <a:cs typeface="Poppins Bold"/>
                <a:sym typeface="Poppins Bold"/>
              </a:rPr>
              <a:t>3B. LEARNING (LMS)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3998564" y="4379142"/>
            <a:ext cx="1632875" cy="919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8"/>
              </a:lnSpc>
            </a:pPr>
            <a:r>
              <a:rPr lang="en-US" sz="1298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Multilingual content, offline learning (cache) &amp; progress tracking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2060785" y="5905544"/>
            <a:ext cx="1865973" cy="275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28"/>
              </a:lnSpc>
              <a:spcBef>
                <a:spcPct val="0"/>
              </a:spcBef>
            </a:pPr>
            <a:r>
              <a:rPr lang="en-US" b="true" sz="1520" strike="noStrike" u="none">
                <a:solidFill>
                  <a:srgbClr val="183B0A"/>
                </a:solidFill>
                <a:latin typeface="Poppins Bold"/>
                <a:ea typeface="Poppins Bold"/>
                <a:cs typeface="Poppins Bold"/>
                <a:sym typeface="Poppins Bold"/>
              </a:rPr>
              <a:t>4. ASSESSMENT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1142561" y="6103575"/>
            <a:ext cx="4075085" cy="506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8"/>
              </a:lnSpc>
            </a:pPr>
            <a:r>
              <a:rPr lang="en-US" sz="1420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Conduct assessments, evaluate and track learning outcomes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1550793" y="6874512"/>
            <a:ext cx="3749924" cy="275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28"/>
              </a:lnSpc>
              <a:spcBef>
                <a:spcPct val="0"/>
              </a:spcBef>
            </a:pPr>
            <a:r>
              <a:rPr lang="en-US" b="true" sz="1520" strike="noStrike" u="none">
                <a:solidFill>
                  <a:srgbClr val="183B0A"/>
                </a:solidFill>
                <a:latin typeface="Poppins Bold"/>
                <a:ea typeface="Poppins Bold"/>
                <a:cs typeface="Poppins Bold"/>
                <a:sym typeface="Poppins Bold"/>
              </a:rPr>
              <a:t>5. CERTIFICATION &amp; SKILL PASSPORT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1417636" y="7140704"/>
            <a:ext cx="3995660" cy="25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420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Digital certificates &amp; verified skill passport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1550793" y="7735633"/>
            <a:ext cx="3660921" cy="275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28"/>
              </a:lnSpc>
              <a:spcBef>
                <a:spcPct val="0"/>
              </a:spcBef>
            </a:pPr>
            <a:r>
              <a:rPr lang="en-US" b="true" sz="1520" strike="noStrike" u="none">
                <a:solidFill>
                  <a:srgbClr val="183B0A"/>
                </a:solidFill>
                <a:latin typeface="Poppins Bold"/>
                <a:ea typeface="Poppins Bold"/>
                <a:cs typeface="Poppins Bold"/>
                <a:sym typeface="Poppins Bold"/>
              </a:rPr>
              <a:t>6. EMPLOYMENT &amp; OPPORTUNITIES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923078" y="8011350"/>
            <a:ext cx="4427768" cy="25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8"/>
              </a:lnSpc>
            </a:pPr>
            <a:r>
              <a:rPr lang="en-US" sz="1420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Skill-based job matching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1825778" y="8687556"/>
            <a:ext cx="2987684" cy="275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28"/>
              </a:lnSpc>
              <a:spcBef>
                <a:spcPct val="0"/>
              </a:spcBef>
            </a:pPr>
            <a:r>
              <a:rPr lang="en-US" b="true" sz="1520" strike="noStrike" u="none">
                <a:solidFill>
                  <a:srgbClr val="183B0A"/>
                </a:solidFill>
                <a:latin typeface="Poppins Bold"/>
                <a:ea typeface="Poppins Bold"/>
                <a:cs typeface="Poppins Bold"/>
                <a:sym typeface="Poppins Bold"/>
              </a:rPr>
              <a:t>7. ANALYTICS &amp; MONITORING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1329632" y="8953748"/>
            <a:ext cx="3872557" cy="506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88"/>
              </a:lnSpc>
              <a:spcBef>
                <a:spcPct val="0"/>
              </a:spcBef>
            </a:pPr>
            <a:r>
              <a:rPr lang="en-US" sz="1420" strike="noStrike" u="none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Dashboards for institutions </a:t>
            </a:r>
            <a:r>
              <a:rPr lang="en-US" sz="1420" strike="noStrike" u="none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&amp;</a:t>
            </a:r>
            <a:r>
              <a:rPr lang="en-US" sz="1420" strike="noStrike" u="none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 NCCT to track KPIs,</a:t>
            </a:r>
            <a:r>
              <a:rPr lang="en-US" sz="1420" strike="noStrike" u="none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20" strike="noStrike" u="none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outcomes </a:t>
            </a:r>
            <a:r>
              <a:rPr lang="en-US" sz="1420" strike="noStrike" u="none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&amp;</a:t>
            </a:r>
            <a:r>
              <a:rPr lang="en-US" sz="1420" strike="noStrike" u="none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 impact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2166257" y="3030246"/>
            <a:ext cx="2412215" cy="25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420">
                <a:solidFill>
                  <a:srgbClr val="183B0A"/>
                </a:solidFill>
                <a:latin typeface="Poppins"/>
                <a:ea typeface="Poppins"/>
                <a:cs typeface="Poppins"/>
                <a:sym typeface="Poppins"/>
              </a:rPr>
              <a:t>Courses, batches, content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7014966" y="1962165"/>
            <a:ext cx="10578816" cy="64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8"/>
              </a:lnSpc>
              <a:spcBef>
                <a:spcPct val="0"/>
              </a:spcBef>
            </a:pPr>
            <a:r>
              <a:rPr lang="en-US" sz="1827" i="true" spc="9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“An integrated platform to train, certify, and c</a:t>
            </a:r>
            <a:r>
              <a:rPr lang="en-US" sz="1827" i="true" spc="9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onnect rural talent with opportunities — powered by AI, LMS, and verified hardware attendance”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08099" y="9920516"/>
            <a:ext cx="2083137" cy="9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56"/>
              </a:lnSpc>
            </a:pPr>
            <a:r>
              <a:rPr lang="en-US" sz="63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programme feedback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83559" y="9979571"/>
            <a:ext cx="4757757" cy="190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@SIH Idea Submission • KaushalSetu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536858" y="9979571"/>
            <a:ext cx="94317" cy="190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651974" y="87973"/>
            <a:ext cx="3039389" cy="1435141"/>
            <a:chOff x="0" y="0"/>
            <a:chExt cx="4499699" cy="21246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-175679" y="9652695"/>
            <a:ext cx="18463679" cy="754856"/>
            <a:chOff x="0" y="0"/>
            <a:chExt cx="24618239" cy="10064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618238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618238">
                  <a:moveTo>
                    <a:pt x="0" y="0"/>
                  </a:moveTo>
                  <a:lnTo>
                    <a:pt x="24618238" y="0"/>
                  </a:lnTo>
                  <a:lnTo>
                    <a:pt x="24618238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088522" y="9663074"/>
            <a:ext cx="4267200" cy="653472"/>
            <a:chOff x="0" y="0"/>
            <a:chExt cx="5689600" cy="8712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89600" cy="871296"/>
            </a:xfrm>
            <a:custGeom>
              <a:avLst/>
              <a:gdLst/>
              <a:ahLst/>
              <a:cxnLst/>
              <a:rect r="r" b="b" t="t" l="l"/>
              <a:pathLst>
                <a:path h="871296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871296"/>
                  </a:lnTo>
                  <a:lnTo>
                    <a:pt x="0" y="8712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5332" r="0" b="-6914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5689600" cy="8712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99"/>
                </a:lnSpc>
              </a:pPr>
              <a:r>
                <a:rPr lang="en-US" sz="19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3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82701" y="160192"/>
            <a:ext cx="2174620" cy="1329027"/>
          </a:xfrm>
          <a:custGeom>
            <a:avLst/>
            <a:gdLst/>
            <a:ahLst/>
            <a:cxnLst/>
            <a:rect r="r" b="b" t="t" l="l"/>
            <a:pathLst>
              <a:path h="1329027" w="2174620">
                <a:moveTo>
                  <a:pt x="0" y="0"/>
                </a:moveTo>
                <a:lnTo>
                  <a:pt x="2174620" y="0"/>
                </a:lnTo>
                <a:lnTo>
                  <a:pt x="2174620" y="1329027"/>
                </a:lnTo>
                <a:lnTo>
                  <a:pt x="0" y="13290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6839043" y="2067213"/>
            <a:ext cx="5365120" cy="1620480"/>
            <a:chOff x="0" y="0"/>
            <a:chExt cx="2631056" cy="7946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31056" cy="794684"/>
            </a:xfrm>
            <a:custGeom>
              <a:avLst/>
              <a:gdLst/>
              <a:ahLst/>
              <a:cxnLst/>
              <a:rect r="r" b="b" t="t" l="l"/>
              <a:pathLst>
                <a:path h="794684" w="2631056">
                  <a:moveTo>
                    <a:pt x="46176" y="0"/>
                  </a:moveTo>
                  <a:lnTo>
                    <a:pt x="2584880" y="0"/>
                  </a:lnTo>
                  <a:cubicBezTo>
                    <a:pt x="2597127" y="0"/>
                    <a:pt x="2608872" y="4865"/>
                    <a:pt x="2617532" y="13525"/>
                  </a:cubicBezTo>
                  <a:cubicBezTo>
                    <a:pt x="2626191" y="22184"/>
                    <a:pt x="2631056" y="33930"/>
                    <a:pt x="2631056" y="46176"/>
                  </a:cubicBezTo>
                  <a:lnTo>
                    <a:pt x="2631056" y="748508"/>
                  </a:lnTo>
                  <a:cubicBezTo>
                    <a:pt x="2631056" y="760754"/>
                    <a:pt x="2626191" y="772500"/>
                    <a:pt x="2617532" y="781159"/>
                  </a:cubicBezTo>
                  <a:cubicBezTo>
                    <a:pt x="2608872" y="789819"/>
                    <a:pt x="2597127" y="794684"/>
                    <a:pt x="2584880" y="794684"/>
                  </a:cubicBezTo>
                  <a:lnTo>
                    <a:pt x="46176" y="794684"/>
                  </a:lnTo>
                  <a:cubicBezTo>
                    <a:pt x="33930" y="794684"/>
                    <a:pt x="22184" y="789819"/>
                    <a:pt x="13525" y="781159"/>
                  </a:cubicBezTo>
                  <a:cubicBezTo>
                    <a:pt x="4865" y="772500"/>
                    <a:pt x="0" y="760754"/>
                    <a:pt x="0" y="748508"/>
                  </a:cubicBezTo>
                  <a:lnTo>
                    <a:pt x="0" y="46176"/>
                  </a:lnTo>
                  <a:cubicBezTo>
                    <a:pt x="0" y="33930"/>
                    <a:pt x="4865" y="22184"/>
                    <a:pt x="13525" y="13525"/>
                  </a:cubicBezTo>
                  <a:cubicBezTo>
                    <a:pt x="22184" y="4865"/>
                    <a:pt x="33930" y="0"/>
                    <a:pt x="46176" y="0"/>
                  </a:cubicBezTo>
                  <a:close/>
                </a:path>
              </a:pathLst>
            </a:custGeom>
            <a:solidFill>
              <a:srgbClr val="F5E7C6"/>
            </a:solidFill>
            <a:ln w="38100" cap="rnd">
              <a:solidFill>
                <a:srgbClr val="C98A2C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631056" cy="842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326243" y="2067213"/>
            <a:ext cx="5365120" cy="1620480"/>
            <a:chOff x="0" y="0"/>
            <a:chExt cx="2631056" cy="7946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631056" cy="794684"/>
            </a:xfrm>
            <a:custGeom>
              <a:avLst/>
              <a:gdLst/>
              <a:ahLst/>
              <a:cxnLst/>
              <a:rect r="r" b="b" t="t" l="l"/>
              <a:pathLst>
                <a:path h="794684" w="2631056">
                  <a:moveTo>
                    <a:pt x="46176" y="0"/>
                  </a:moveTo>
                  <a:lnTo>
                    <a:pt x="2584880" y="0"/>
                  </a:lnTo>
                  <a:cubicBezTo>
                    <a:pt x="2597127" y="0"/>
                    <a:pt x="2608872" y="4865"/>
                    <a:pt x="2617532" y="13525"/>
                  </a:cubicBezTo>
                  <a:cubicBezTo>
                    <a:pt x="2626191" y="22184"/>
                    <a:pt x="2631056" y="33930"/>
                    <a:pt x="2631056" y="46176"/>
                  </a:cubicBezTo>
                  <a:lnTo>
                    <a:pt x="2631056" y="748508"/>
                  </a:lnTo>
                  <a:cubicBezTo>
                    <a:pt x="2631056" y="760754"/>
                    <a:pt x="2626191" y="772500"/>
                    <a:pt x="2617532" y="781159"/>
                  </a:cubicBezTo>
                  <a:cubicBezTo>
                    <a:pt x="2608872" y="789819"/>
                    <a:pt x="2597127" y="794684"/>
                    <a:pt x="2584880" y="794684"/>
                  </a:cubicBezTo>
                  <a:lnTo>
                    <a:pt x="46176" y="794684"/>
                  </a:lnTo>
                  <a:cubicBezTo>
                    <a:pt x="33930" y="794684"/>
                    <a:pt x="22184" y="789819"/>
                    <a:pt x="13525" y="781159"/>
                  </a:cubicBezTo>
                  <a:cubicBezTo>
                    <a:pt x="4865" y="772500"/>
                    <a:pt x="0" y="760754"/>
                    <a:pt x="0" y="748508"/>
                  </a:cubicBezTo>
                  <a:lnTo>
                    <a:pt x="0" y="46176"/>
                  </a:lnTo>
                  <a:cubicBezTo>
                    <a:pt x="0" y="33930"/>
                    <a:pt x="4865" y="22184"/>
                    <a:pt x="13525" y="13525"/>
                  </a:cubicBezTo>
                  <a:cubicBezTo>
                    <a:pt x="22184" y="4865"/>
                    <a:pt x="33930" y="0"/>
                    <a:pt x="46176" y="0"/>
                  </a:cubicBezTo>
                  <a:close/>
                </a:path>
              </a:pathLst>
            </a:custGeom>
            <a:solidFill>
              <a:srgbClr val="C8D1D9"/>
            </a:solidFill>
            <a:ln w="38100" cap="rnd">
              <a:solidFill>
                <a:srgbClr val="425962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631056" cy="842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39043" y="4286875"/>
            <a:ext cx="5365120" cy="856625"/>
            <a:chOff x="0" y="0"/>
            <a:chExt cx="2631056" cy="42008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631056" cy="420089"/>
            </a:xfrm>
            <a:custGeom>
              <a:avLst/>
              <a:gdLst/>
              <a:ahLst/>
              <a:cxnLst/>
              <a:rect r="r" b="b" t="t" l="l"/>
              <a:pathLst>
                <a:path h="420089" w="2631056">
                  <a:moveTo>
                    <a:pt x="46176" y="0"/>
                  </a:moveTo>
                  <a:lnTo>
                    <a:pt x="2584880" y="0"/>
                  </a:lnTo>
                  <a:cubicBezTo>
                    <a:pt x="2597127" y="0"/>
                    <a:pt x="2608872" y="4865"/>
                    <a:pt x="2617532" y="13525"/>
                  </a:cubicBezTo>
                  <a:cubicBezTo>
                    <a:pt x="2626191" y="22184"/>
                    <a:pt x="2631056" y="33930"/>
                    <a:pt x="2631056" y="46176"/>
                  </a:cubicBezTo>
                  <a:lnTo>
                    <a:pt x="2631056" y="373913"/>
                  </a:lnTo>
                  <a:cubicBezTo>
                    <a:pt x="2631056" y="386160"/>
                    <a:pt x="2626191" y="397905"/>
                    <a:pt x="2617532" y="406565"/>
                  </a:cubicBezTo>
                  <a:cubicBezTo>
                    <a:pt x="2608872" y="415224"/>
                    <a:pt x="2597127" y="420089"/>
                    <a:pt x="2584880" y="420089"/>
                  </a:cubicBezTo>
                  <a:lnTo>
                    <a:pt x="46176" y="420089"/>
                  </a:lnTo>
                  <a:cubicBezTo>
                    <a:pt x="33930" y="420089"/>
                    <a:pt x="22184" y="415224"/>
                    <a:pt x="13525" y="406565"/>
                  </a:cubicBezTo>
                  <a:cubicBezTo>
                    <a:pt x="4865" y="397905"/>
                    <a:pt x="0" y="386160"/>
                    <a:pt x="0" y="373913"/>
                  </a:cubicBezTo>
                  <a:lnTo>
                    <a:pt x="0" y="46176"/>
                  </a:lnTo>
                  <a:cubicBezTo>
                    <a:pt x="0" y="33930"/>
                    <a:pt x="4865" y="22184"/>
                    <a:pt x="13525" y="13525"/>
                  </a:cubicBezTo>
                  <a:cubicBezTo>
                    <a:pt x="22184" y="4865"/>
                    <a:pt x="33930" y="0"/>
                    <a:pt x="46176" y="0"/>
                  </a:cubicBezTo>
                  <a:close/>
                </a:path>
              </a:pathLst>
            </a:custGeom>
            <a:solidFill>
              <a:srgbClr val="E9F5EC"/>
            </a:solidFill>
            <a:ln w="38100" cap="rnd">
              <a:solidFill>
                <a:srgbClr val="425962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631056" cy="4677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839043" y="5203562"/>
            <a:ext cx="10852320" cy="1767232"/>
            <a:chOff x="0" y="0"/>
            <a:chExt cx="5321981" cy="8666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21981" cy="866651"/>
            </a:xfrm>
            <a:custGeom>
              <a:avLst/>
              <a:gdLst/>
              <a:ahLst/>
              <a:cxnLst/>
              <a:rect r="r" b="b" t="t" l="l"/>
              <a:pathLst>
                <a:path h="866651" w="5321981">
                  <a:moveTo>
                    <a:pt x="22828" y="0"/>
                  </a:moveTo>
                  <a:lnTo>
                    <a:pt x="5299153" y="0"/>
                  </a:lnTo>
                  <a:cubicBezTo>
                    <a:pt x="5311760" y="0"/>
                    <a:pt x="5321981" y="10221"/>
                    <a:pt x="5321981" y="22828"/>
                  </a:cubicBezTo>
                  <a:lnTo>
                    <a:pt x="5321981" y="843823"/>
                  </a:lnTo>
                  <a:cubicBezTo>
                    <a:pt x="5321981" y="849877"/>
                    <a:pt x="5319576" y="855684"/>
                    <a:pt x="5315295" y="859965"/>
                  </a:cubicBezTo>
                  <a:cubicBezTo>
                    <a:pt x="5311013" y="864246"/>
                    <a:pt x="5305207" y="866651"/>
                    <a:pt x="5299153" y="866651"/>
                  </a:cubicBezTo>
                  <a:lnTo>
                    <a:pt x="22828" y="866651"/>
                  </a:lnTo>
                  <a:cubicBezTo>
                    <a:pt x="16774" y="866651"/>
                    <a:pt x="10967" y="864246"/>
                    <a:pt x="6686" y="859965"/>
                  </a:cubicBezTo>
                  <a:cubicBezTo>
                    <a:pt x="2405" y="855684"/>
                    <a:pt x="0" y="849877"/>
                    <a:pt x="0" y="843823"/>
                  </a:cubicBezTo>
                  <a:lnTo>
                    <a:pt x="0" y="22828"/>
                  </a:lnTo>
                  <a:cubicBezTo>
                    <a:pt x="0" y="16774"/>
                    <a:pt x="2405" y="10967"/>
                    <a:pt x="6686" y="6686"/>
                  </a:cubicBezTo>
                  <a:cubicBezTo>
                    <a:pt x="10967" y="2405"/>
                    <a:pt x="16774" y="0"/>
                    <a:pt x="22828" y="0"/>
                  </a:cubicBezTo>
                  <a:close/>
                </a:path>
              </a:pathLst>
            </a:custGeom>
            <a:solidFill>
              <a:srgbClr val="C8D1D9"/>
            </a:solidFill>
            <a:ln w="38100" cap="rnd">
              <a:solidFill>
                <a:srgbClr val="425962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5321981" cy="914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839043" y="7725576"/>
            <a:ext cx="6528105" cy="1767232"/>
            <a:chOff x="0" y="0"/>
            <a:chExt cx="3201385" cy="86665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201385" cy="866651"/>
            </a:xfrm>
            <a:custGeom>
              <a:avLst/>
              <a:gdLst/>
              <a:ahLst/>
              <a:cxnLst/>
              <a:rect r="r" b="b" t="t" l="l"/>
              <a:pathLst>
                <a:path h="866651" w="3201385">
                  <a:moveTo>
                    <a:pt x="37950" y="0"/>
                  </a:moveTo>
                  <a:lnTo>
                    <a:pt x="3163435" y="0"/>
                  </a:lnTo>
                  <a:cubicBezTo>
                    <a:pt x="3173500" y="0"/>
                    <a:pt x="3183153" y="3998"/>
                    <a:pt x="3190270" y="11115"/>
                  </a:cubicBezTo>
                  <a:cubicBezTo>
                    <a:pt x="3197387" y="18232"/>
                    <a:pt x="3201385" y="27885"/>
                    <a:pt x="3201385" y="37950"/>
                  </a:cubicBezTo>
                  <a:lnTo>
                    <a:pt x="3201385" y="828701"/>
                  </a:lnTo>
                  <a:cubicBezTo>
                    <a:pt x="3201385" y="838766"/>
                    <a:pt x="3197387" y="848419"/>
                    <a:pt x="3190270" y="855536"/>
                  </a:cubicBezTo>
                  <a:cubicBezTo>
                    <a:pt x="3183153" y="862653"/>
                    <a:pt x="3173500" y="866651"/>
                    <a:pt x="3163435" y="866651"/>
                  </a:cubicBezTo>
                  <a:lnTo>
                    <a:pt x="37950" y="866651"/>
                  </a:lnTo>
                  <a:cubicBezTo>
                    <a:pt x="27885" y="866651"/>
                    <a:pt x="18232" y="862653"/>
                    <a:pt x="11115" y="855536"/>
                  </a:cubicBezTo>
                  <a:cubicBezTo>
                    <a:pt x="3998" y="848419"/>
                    <a:pt x="0" y="838766"/>
                    <a:pt x="0" y="828701"/>
                  </a:cubicBezTo>
                  <a:lnTo>
                    <a:pt x="0" y="37950"/>
                  </a:lnTo>
                  <a:cubicBezTo>
                    <a:pt x="0" y="27885"/>
                    <a:pt x="3998" y="18232"/>
                    <a:pt x="11115" y="11115"/>
                  </a:cubicBezTo>
                  <a:cubicBezTo>
                    <a:pt x="18232" y="3998"/>
                    <a:pt x="27885" y="0"/>
                    <a:pt x="37950" y="0"/>
                  </a:cubicBezTo>
                  <a:close/>
                </a:path>
              </a:pathLst>
            </a:custGeom>
            <a:solidFill>
              <a:srgbClr val="C8D1D9"/>
            </a:solidFill>
            <a:ln w="38100" cap="rnd">
              <a:solidFill>
                <a:srgbClr val="425962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3201385" cy="914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5400000">
            <a:off x="8001447" y="3885467"/>
            <a:ext cx="599181" cy="203634"/>
            <a:chOff x="0" y="0"/>
            <a:chExt cx="2391621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391621" cy="812800"/>
            </a:xfrm>
            <a:custGeom>
              <a:avLst/>
              <a:gdLst/>
              <a:ahLst/>
              <a:cxnLst/>
              <a:rect r="r" b="b" t="t" l="l"/>
              <a:pathLst>
                <a:path h="812800" w="2391621">
                  <a:moveTo>
                    <a:pt x="2391621" y="406400"/>
                  </a:moveTo>
                  <a:lnTo>
                    <a:pt x="1985221" y="0"/>
                  </a:lnTo>
                  <a:lnTo>
                    <a:pt x="1985221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1985221" y="609600"/>
                  </a:lnTo>
                  <a:lnTo>
                    <a:pt x="1985221" y="812800"/>
                  </a:lnTo>
                  <a:lnTo>
                    <a:pt x="2391621" y="406400"/>
                  </a:lnTo>
                  <a:close/>
                </a:path>
              </a:pathLst>
            </a:custGeom>
            <a:solidFill>
              <a:srgbClr val="222624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155575"/>
              <a:ext cx="2290021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5400000">
            <a:off x="10506185" y="3887927"/>
            <a:ext cx="599181" cy="203634"/>
            <a:chOff x="0" y="0"/>
            <a:chExt cx="2391621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391621" cy="812800"/>
            </a:xfrm>
            <a:custGeom>
              <a:avLst/>
              <a:gdLst/>
              <a:ahLst/>
              <a:cxnLst/>
              <a:rect r="r" b="b" t="t" l="l"/>
              <a:pathLst>
                <a:path h="812800" w="2391621">
                  <a:moveTo>
                    <a:pt x="2391621" y="406400"/>
                  </a:moveTo>
                  <a:lnTo>
                    <a:pt x="1985221" y="0"/>
                  </a:lnTo>
                  <a:lnTo>
                    <a:pt x="1985221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1985221" y="609600"/>
                  </a:lnTo>
                  <a:lnTo>
                    <a:pt x="1985221" y="812800"/>
                  </a:lnTo>
                  <a:lnTo>
                    <a:pt x="2391621" y="406400"/>
                  </a:lnTo>
                  <a:close/>
                </a:path>
              </a:pathLst>
            </a:custGeom>
            <a:solidFill>
              <a:srgbClr val="222624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155575"/>
              <a:ext cx="2290021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5400000">
            <a:off x="13204356" y="4278175"/>
            <a:ext cx="1510948" cy="329985"/>
            <a:chOff x="0" y="0"/>
            <a:chExt cx="2391621" cy="5223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391621" cy="522320"/>
            </a:xfrm>
            <a:custGeom>
              <a:avLst/>
              <a:gdLst/>
              <a:ahLst/>
              <a:cxnLst/>
              <a:rect r="r" b="b" t="t" l="l"/>
              <a:pathLst>
                <a:path h="522320" w="2391621">
                  <a:moveTo>
                    <a:pt x="2391621" y="261160"/>
                  </a:moveTo>
                  <a:lnTo>
                    <a:pt x="1985221" y="0"/>
                  </a:lnTo>
                  <a:lnTo>
                    <a:pt x="1985221" y="203200"/>
                  </a:lnTo>
                  <a:lnTo>
                    <a:pt x="0" y="203200"/>
                  </a:lnTo>
                  <a:lnTo>
                    <a:pt x="0" y="319120"/>
                  </a:lnTo>
                  <a:lnTo>
                    <a:pt x="1985221" y="319120"/>
                  </a:lnTo>
                  <a:lnTo>
                    <a:pt x="1985221" y="522320"/>
                  </a:lnTo>
                  <a:lnTo>
                    <a:pt x="2391621" y="261160"/>
                  </a:lnTo>
                  <a:close/>
                </a:path>
              </a:pathLst>
            </a:custGeom>
            <a:solidFill>
              <a:srgbClr val="222624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155575"/>
              <a:ext cx="2290021" cy="163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5400000">
            <a:off x="15581187" y="4278175"/>
            <a:ext cx="1510948" cy="329985"/>
            <a:chOff x="0" y="0"/>
            <a:chExt cx="2391621" cy="5223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391621" cy="522320"/>
            </a:xfrm>
            <a:custGeom>
              <a:avLst/>
              <a:gdLst/>
              <a:ahLst/>
              <a:cxnLst/>
              <a:rect r="r" b="b" t="t" l="l"/>
              <a:pathLst>
                <a:path h="522320" w="2391621">
                  <a:moveTo>
                    <a:pt x="2391621" y="261160"/>
                  </a:moveTo>
                  <a:lnTo>
                    <a:pt x="1985221" y="0"/>
                  </a:lnTo>
                  <a:lnTo>
                    <a:pt x="1985221" y="203200"/>
                  </a:lnTo>
                  <a:lnTo>
                    <a:pt x="0" y="203200"/>
                  </a:lnTo>
                  <a:lnTo>
                    <a:pt x="0" y="319120"/>
                  </a:lnTo>
                  <a:lnTo>
                    <a:pt x="1985221" y="319120"/>
                  </a:lnTo>
                  <a:lnTo>
                    <a:pt x="1985221" y="522320"/>
                  </a:lnTo>
                  <a:lnTo>
                    <a:pt x="2391621" y="261160"/>
                  </a:lnTo>
                  <a:close/>
                </a:path>
              </a:pathLst>
            </a:custGeom>
            <a:solidFill>
              <a:srgbClr val="222624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155575"/>
              <a:ext cx="2290021" cy="163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5400000">
            <a:off x="8006067" y="7265764"/>
            <a:ext cx="754782" cy="164841"/>
            <a:chOff x="0" y="0"/>
            <a:chExt cx="2391621" cy="5223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391621" cy="522320"/>
            </a:xfrm>
            <a:custGeom>
              <a:avLst/>
              <a:gdLst/>
              <a:ahLst/>
              <a:cxnLst/>
              <a:rect r="r" b="b" t="t" l="l"/>
              <a:pathLst>
                <a:path h="522320" w="2391621">
                  <a:moveTo>
                    <a:pt x="2391621" y="261160"/>
                  </a:moveTo>
                  <a:lnTo>
                    <a:pt x="1985221" y="0"/>
                  </a:lnTo>
                  <a:lnTo>
                    <a:pt x="1985221" y="203200"/>
                  </a:lnTo>
                  <a:lnTo>
                    <a:pt x="0" y="203200"/>
                  </a:lnTo>
                  <a:lnTo>
                    <a:pt x="0" y="319120"/>
                  </a:lnTo>
                  <a:lnTo>
                    <a:pt x="1985221" y="319120"/>
                  </a:lnTo>
                  <a:lnTo>
                    <a:pt x="1985221" y="522320"/>
                  </a:lnTo>
                  <a:lnTo>
                    <a:pt x="2391621" y="261160"/>
                  </a:lnTo>
                  <a:close/>
                </a:path>
              </a:pathLst>
            </a:custGeom>
            <a:solidFill>
              <a:srgbClr val="222624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155575"/>
              <a:ext cx="2290021" cy="163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5400000">
            <a:off x="10228132" y="7265764"/>
            <a:ext cx="754782" cy="164841"/>
            <a:chOff x="0" y="0"/>
            <a:chExt cx="2391621" cy="5223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391621" cy="522320"/>
            </a:xfrm>
            <a:custGeom>
              <a:avLst/>
              <a:gdLst/>
              <a:ahLst/>
              <a:cxnLst/>
              <a:rect r="r" b="b" t="t" l="l"/>
              <a:pathLst>
                <a:path h="522320" w="2391621">
                  <a:moveTo>
                    <a:pt x="2391621" y="261160"/>
                  </a:moveTo>
                  <a:lnTo>
                    <a:pt x="1985221" y="0"/>
                  </a:lnTo>
                  <a:lnTo>
                    <a:pt x="1985221" y="203200"/>
                  </a:lnTo>
                  <a:lnTo>
                    <a:pt x="0" y="203200"/>
                  </a:lnTo>
                  <a:lnTo>
                    <a:pt x="0" y="319120"/>
                  </a:lnTo>
                  <a:lnTo>
                    <a:pt x="1985221" y="319120"/>
                  </a:lnTo>
                  <a:lnTo>
                    <a:pt x="1985221" y="522320"/>
                  </a:lnTo>
                  <a:lnTo>
                    <a:pt x="2391621" y="261160"/>
                  </a:lnTo>
                  <a:close/>
                </a:path>
              </a:pathLst>
            </a:custGeom>
            <a:solidFill>
              <a:srgbClr val="222624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155575"/>
              <a:ext cx="2290021" cy="163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5400000">
            <a:off x="12031273" y="7265764"/>
            <a:ext cx="754782" cy="164841"/>
            <a:chOff x="0" y="0"/>
            <a:chExt cx="2391621" cy="5223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391621" cy="522320"/>
            </a:xfrm>
            <a:custGeom>
              <a:avLst/>
              <a:gdLst/>
              <a:ahLst/>
              <a:cxnLst/>
              <a:rect r="r" b="b" t="t" l="l"/>
              <a:pathLst>
                <a:path h="522320" w="2391621">
                  <a:moveTo>
                    <a:pt x="2391621" y="261160"/>
                  </a:moveTo>
                  <a:lnTo>
                    <a:pt x="1985221" y="0"/>
                  </a:lnTo>
                  <a:lnTo>
                    <a:pt x="1985221" y="203200"/>
                  </a:lnTo>
                  <a:lnTo>
                    <a:pt x="0" y="203200"/>
                  </a:lnTo>
                  <a:lnTo>
                    <a:pt x="0" y="319120"/>
                  </a:lnTo>
                  <a:lnTo>
                    <a:pt x="1985221" y="319120"/>
                  </a:lnTo>
                  <a:lnTo>
                    <a:pt x="1985221" y="522320"/>
                  </a:lnTo>
                  <a:lnTo>
                    <a:pt x="2391621" y="261160"/>
                  </a:lnTo>
                  <a:close/>
                </a:path>
              </a:pathLst>
            </a:custGeom>
            <a:solidFill>
              <a:srgbClr val="222624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155575"/>
              <a:ext cx="2290021" cy="163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5400000">
            <a:off x="13829852" y="7265764"/>
            <a:ext cx="754782" cy="164841"/>
            <a:chOff x="0" y="0"/>
            <a:chExt cx="2391621" cy="5223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391621" cy="522320"/>
            </a:xfrm>
            <a:custGeom>
              <a:avLst/>
              <a:gdLst/>
              <a:ahLst/>
              <a:cxnLst/>
              <a:rect r="r" b="b" t="t" l="l"/>
              <a:pathLst>
                <a:path h="522320" w="2391621">
                  <a:moveTo>
                    <a:pt x="2391621" y="261160"/>
                  </a:moveTo>
                  <a:lnTo>
                    <a:pt x="1985221" y="0"/>
                  </a:lnTo>
                  <a:lnTo>
                    <a:pt x="1985221" y="203200"/>
                  </a:lnTo>
                  <a:lnTo>
                    <a:pt x="0" y="203200"/>
                  </a:lnTo>
                  <a:lnTo>
                    <a:pt x="0" y="319120"/>
                  </a:lnTo>
                  <a:lnTo>
                    <a:pt x="1985221" y="319120"/>
                  </a:lnTo>
                  <a:lnTo>
                    <a:pt x="1985221" y="522320"/>
                  </a:lnTo>
                  <a:lnTo>
                    <a:pt x="2391621" y="261160"/>
                  </a:lnTo>
                  <a:close/>
                </a:path>
              </a:pathLst>
            </a:custGeom>
            <a:solidFill>
              <a:srgbClr val="222624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155575"/>
              <a:ext cx="2290021" cy="163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5400000">
            <a:off x="15628431" y="7265764"/>
            <a:ext cx="754782" cy="164841"/>
            <a:chOff x="0" y="0"/>
            <a:chExt cx="2391621" cy="5223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391621" cy="522320"/>
            </a:xfrm>
            <a:custGeom>
              <a:avLst/>
              <a:gdLst/>
              <a:ahLst/>
              <a:cxnLst/>
              <a:rect r="r" b="b" t="t" l="l"/>
              <a:pathLst>
                <a:path h="522320" w="2391621">
                  <a:moveTo>
                    <a:pt x="2391621" y="261160"/>
                  </a:moveTo>
                  <a:lnTo>
                    <a:pt x="1985221" y="0"/>
                  </a:lnTo>
                  <a:lnTo>
                    <a:pt x="1985221" y="203200"/>
                  </a:lnTo>
                  <a:lnTo>
                    <a:pt x="0" y="203200"/>
                  </a:lnTo>
                  <a:lnTo>
                    <a:pt x="0" y="319120"/>
                  </a:lnTo>
                  <a:lnTo>
                    <a:pt x="1985221" y="319120"/>
                  </a:lnTo>
                  <a:lnTo>
                    <a:pt x="1985221" y="522320"/>
                  </a:lnTo>
                  <a:lnTo>
                    <a:pt x="2391621" y="261160"/>
                  </a:lnTo>
                  <a:close/>
                </a:path>
              </a:pathLst>
            </a:custGeom>
            <a:solidFill>
              <a:srgbClr val="222624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155575"/>
              <a:ext cx="2290021" cy="163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211657" y="1908469"/>
            <a:ext cx="6271966" cy="1328840"/>
            <a:chOff x="0" y="0"/>
            <a:chExt cx="15699538" cy="332625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5699538" cy="3326258"/>
            </a:xfrm>
            <a:custGeom>
              <a:avLst/>
              <a:gdLst/>
              <a:ahLst/>
              <a:cxnLst/>
              <a:rect r="r" b="b" t="t" l="l"/>
              <a:pathLst>
                <a:path h="3326258" w="15699538">
                  <a:moveTo>
                    <a:pt x="480825" y="0"/>
                  </a:moveTo>
                  <a:lnTo>
                    <a:pt x="15218713" y="0"/>
                  </a:lnTo>
                  <a:cubicBezTo>
                    <a:pt x="15346235" y="0"/>
                    <a:pt x="15468535" y="50658"/>
                    <a:pt x="15558708" y="140830"/>
                  </a:cubicBezTo>
                  <a:cubicBezTo>
                    <a:pt x="15648879" y="231003"/>
                    <a:pt x="15699538" y="353303"/>
                    <a:pt x="15699538" y="480825"/>
                  </a:cubicBezTo>
                  <a:lnTo>
                    <a:pt x="15699538" y="2845433"/>
                  </a:lnTo>
                  <a:cubicBezTo>
                    <a:pt x="15699538" y="2972955"/>
                    <a:pt x="15648879" y="3095255"/>
                    <a:pt x="15558708" y="3185427"/>
                  </a:cubicBezTo>
                  <a:cubicBezTo>
                    <a:pt x="15468535" y="3275600"/>
                    <a:pt x="15346235" y="3326258"/>
                    <a:pt x="15218713" y="3326258"/>
                  </a:cubicBezTo>
                  <a:lnTo>
                    <a:pt x="480825" y="3326258"/>
                  </a:lnTo>
                  <a:cubicBezTo>
                    <a:pt x="353303" y="3326258"/>
                    <a:pt x="231003" y="3275600"/>
                    <a:pt x="140830" y="3185427"/>
                  </a:cubicBezTo>
                  <a:cubicBezTo>
                    <a:pt x="50658" y="3095255"/>
                    <a:pt x="0" y="2972955"/>
                    <a:pt x="0" y="2845433"/>
                  </a:cubicBezTo>
                  <a:lnTo>
                    <a:pt x="0" y="480825"/>
                  </a:lnTo>
                  <a:cubicBezTo>
                    <a:pt x="0" y="353303"/>
                    <a:pt x="50658" y="231003"/>
                    <a:pt x="140830" y="140830"/>
                  </a:cubicBezTo>
                  <a:cubicBezTo>
                    <a:pt x="231003" y="50658"/>
                    <a:pt x="353303" y="0"/>
                    <a:pt x="480825" y="0"/>
                  </a:cubicBezTo>
                  <a:close/>
                </a:path>
              </a:pathLst>
            </a:custGeom>
            <a:solidFill>
              <a:srgbClr val="CFE0F7"/>
            </a:solidFill>
            <a:ln w="28575" cap="rnd">
              <a:solidFill>
                <a:srgbClr val="5B2A86"/>
              </a:solidFill>
              <a:prstDash val="solid"/>
              <a:round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211657" y="3336138"/>
            <a:ext cx="6271966" cy="1505928"/>
            <a:chOff x="0" y="0"/>
            <a:chExt cx="15699538" cy="376953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5699538" cy="3769532"/>
            </a:xfrm>
            <a:custGeom>
              <a:avLst/>
              <a:gdLst/>
              <a:ahLst/>
              <a:cxnLst/>
              <a:rect r="r" b="b" t="t" l="l"/>
              <a:pathLst>
                <a:path h="3769532" w="15699538">
                  <a:moveTo>
                    <a:pt x="480825" y="0"/>
                  </a:moveTo>
                  <a:lnTo>
                    <a:pt x="15218713" y="0"/>
                  </a:lnTo>
                  <a:cubicBezTo>
                    <a:pt x="15346235" y="0"/>
                    <a:pt x="15468535" y="50658"/>
                    <a:pt x="15558708" y="140830"/>
                  </a:cubicBezTo>
                  <a:cubicBezTo>
                    <a:pt x="15648879" y="231003"/>
                    <a:pt x="15699538" y="353303"/>
                    <a:pt x="15699538" y="480825"/>
                  </a:cubicBezTo>
                  <a:lnTo>
                    <a:pt x="15699538" y="3288707"/>
                  </a:lnTo>
                  <a:cubicBezTo>
                    <a:pt x="15699538" y="3416230"/>
                    <a:pt x="15648879" y="3538530"/>
                    <a:pt x="15558708" y="3628702"/>
                  </a:cubicBezTo>
                  <a:cubicBezTo>
                    <a:pt x="15468535" y="3718874"/>
                    <a:pt x="15346235" y="3769532"/>
                    <a:pt x="15218713" y="3769532"/>
                  </a:cubicBezTo>
                  <a:lnTo>
                    <a:pt x="480825" y="3769532"/>
                  </a:lnTo>
                  <a:cubicBezTo>
                    <a:pt x="353303" y="3769532"/>
                    <a:pt x="231003" y="3718874"/>
                    <a:pt x="140830" y="3628702"/>
                  </a:cubicBezTo>
                  <a:cubicBezTo>
                    <a:pt x="50658" y="3538530"/>
                    <a:pt x="0" y="3416230"/>
                    <a:pt x="0" y="3288707"/>
                  </a:cubicBezTo>
                  <a:lnTo>
                    <a:pt x="0" y="480825"/>
                  </a:lnTo>
                  <a:cubicBezTo>
                    <a:pt x="0" y="353303"/>
                    <a:pt x="50658" y="231003"/>
                    <a:pt x="140830" y="140830"/>
                  </a:cubicBezTo>
                  <a:cubicBezTo>
                    <a:pt x="231003" y="50658"/>
                    <a:pt x="353303" y="0"/>
                    <a:pt x="480825" y="0"/>
                  </a:cubicBezTo>
                  <a:close/>
                </a:path>
              </a:pathLst>
            </a:custGeom>
            <a:solidFill>
              <a:srgbClr val="CFE0F7"/>
            </a:solidFill>
            <a:ln w="28575" cap="rnd">
              <a:solidFill>
                <a:srgbClr val="5B2A86"/>
              </a:solidFill>
              <a:prstDash val="solid"/>
              <a:round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211657" y="4935497"/>
            <a:ext cx="6271966" cy="1328840"/>
            <a:chOff x="0" y="0"/>
            <a:chExt cx="15699538" cy="332625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5699538" cy="3326258"/>
            </a:xfrm>
            <a:custGeom>
              <a:avLst/>
              <a:gdLst/>
              <a:ahLst/>
              <a:cxnLst/>
              <a:rect r="r" b="b" t="t" l="l"/>
              <a:pathLst>
                <a:path h="3326258" w="15699538">
                  <a:moveTo>
                    <a:pt x="480825" y="0"/>
                  </a:moveTo>
                  <a:lnTo>
                    <a:pt x="15218713" y="0"/>
                  </a:lnTo>
                  <a:cubicBezTo>
                    <a:pt x="15346235" y="0"/>
                    <a:pt x="15468535" y="50658"/>
                    <a:pt x="15558708" y="140830"/>
                  </a:cubicBezTo>
                  <a:cubicBezTo>
                    <a:pt x="15648879" y="231003"/>
                    <a:pt x="15699538" y="353303"/>
                    <a:pt x="15699538" y="480825"/>
                  </a:cubicBezTo>
                  <a:lnTo>
                    <a:pt x="15699538" y="2845433"/>
                  </a:lnTo>
                  <a:cubicBezTo>
                    <a:pt x="15699538" y="2972955"/>
                    <a:pt x="15648879" y="3095255"/>
                    <a:pt x="15558708" y="3185427"/>
                  </a:cubicBezTo>
                  <a:cubicBezTo>
                    <a:pt x="15468535" y="3275600"/>
                    <a:pt x="15346235" y="3326258"/>
                    <a:pt x="15218713" y="3326258"/>
                  </a:cubicBezTo>
                  <a:lnTo>
                    <a:pt x="480825" y="3326258"/>
                  </a:lnTo>
                  <a:cubicBezTo>
                    <a:pt x="353303" y="3326258"/>
                    <a:pt x="231003" y="3275600"/>
                    <a:pt x="140830" y="3185427"/>
                  </a:cubicBezTo>
                  <a:cubicBezTo>
                    <a:pt x="50658" y="3095255"/>
                    <a:pt x="0" y="2972955"/>
                    <a:pt x="0" y="2845433"/>
                  </a:cubicBezTo>
                  <a:lnTo>
                    <a:pt x="0" y="480825"/>
                  </a:lnTo>
                  <a:cubicBezTo>
                    <a:pt x="0" y="353303"/>
                    <a:pt x="50658" y="231003"/>
                    <a:pt x="140830" y="140830"/>
                  </a:cubicBezTo>
                  <a:cubicBezTo>
                    <a:pt x="231003" y="50658"/>
                    <a:pt x="353303" y="0"/>
                    <a:pt x="480825" y="0"/>
                  </a:cubicBezTo>
                  <a:close/>
                </a:path>
              </a:pathLst>
            </a:custGeom>
            <a:solidFill>
              <a:srgbClr val="CFE0F7"/>
            </a:solidFill>
            <a:ln w="28575" cap="rnd">
              <a:solidFill>
                <a:srgbClr val="5B2A86"/>
              </a:solidFill>
              <a:prstDash val="solid"/>
              <a:round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211657" y="6388163"/>
            <a:ext cx="6271966" cy="1337413"/>
            <a:chOff x="0" y="0"/>
            <a:chExt cx="15699538" cy="334771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5699538" cy="3347718"/>
            </a:xfrm>
            <a:custGeom>
              <a:avLst/>
              <a:gdLst/>
              <a:ahLst/>
              <a:cxnLst/>
              <a:rect r="r" b="b" t="t" l="l"/>
              <a:pathLst>
                <a:path h="3347718" w="15699538">
                  <a:moveTo>
                    <a:pt x="480825" y="0"/>
                  </a:moveTo>
                  <a:lnTo>
                    <a:pt x="15218713" y="0"/>
                  </a:lnTo>
                  <a:cubicBezTo>
                    <a:pt x="15346235" y="0"/>
                    <a:pt x="15468535" y="50658"/>
                    <a:pt x="15558708" y="140830"/>
                  </a:cubicBezTo>
                  <a:cubicBezTo>
                    <a:pt x="15648879" y="231003"/>
                    <a:pt x="15699538" y="353303"/>
                    <a:pt x="15699538" y="480825"/>
                  </a:cubicBezTo>
                  <a:lnTo>
                    <a:pt x="15699538" y="2866892"/>
                  </a:lnTo>
                  <a:cubicBezTo>
                    <a:pt x="15699538" y="2994415"/>
                    <a:pt x="15648879" y="3116715"/>
                    <a:pt x="15558708" y="3206887"/>
                  </a:cubicBezTo>
                  <a:cubicBezTo>
                    <a:pt x="15468535" y="3297060"/>
                    <a:pt x="15346235" y="3347718"/>
                    <a:pt x="15218713" y="3347718"/>
                  </a:cubicBezTo>
                  <a:lnTo>
                    <a:pt x="480825" y="3347718"/>
                  </a:lnTo>
                  <a:cubicBezTo>
                    <a:pt x="353303" y="3347718"/>
                    <a:pt x="231003" y="3297060"/>
                    <a:pt x="140830" y="3206887"/>
                  </a:cubicBezTo>
                  <a:cubicBezTo>
                    <a:pt x="50658" y="3116715"/>
                    <a:pt x="0" y="2994415"/>
                    <a:pt x="0" y="2866892"/>
                  </a:cubicBezTo>
                  <a:lnTo>
                    <a:pt x="0" y="480825"/>
                  </a:lnTo>
                  <a:cubicBezTo>
                    <a:pt x="0" y="353303"/>
                    <a:pt x="50658" y="231003"/>
                    <a:pt x="140830" y="140830"/>
                  </a:cubicBezTo>
                  <a:cubicBezTo>
                    <a:pt x="231003" y="50658"/>
                    <a:pt x="353303" y="0"/>
                    <a:pt x="480825" y="0"/>
                  </a:cubicBezTo>
                  <a:close/>
                </a:path>
              </a:pathLst>
            </a:custGeom>
            <a:solidFill>
              <a:srgbClr val="CFE0F7"/>
            </a:solidFill>
            <a:ln w="28575" cap="rnd">
              <a:solidFill>
                <a:srgbClr val="5B2A86"/>
              </a:solidFill>
              <a:prstDash val="solid"/>
              <a:round/>
            </a:ln>
          </p:spPr>
        </p:sp>
      </p:grpSp>
      <p:sp>
        <p:nvSpPr>
          <p:cNvPr name="TextBox 63" id="63"/>
          <p:cNvSpPr txBox="true"/>
          <p:nvPr/>
        </p:nvSpPr>
        <p:spPr>
          <a:xfrm rot="0">
            <a:off x="7281496" y="2018426"/>
            <a:ext cx="2891996" cy="37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8"/>
              </a:lnSpc>
              <a:spcBef>
                <a:spcPct val="0"/>
              </a:spcBef>
            </a:pPr>
            <a:r>
              <a:rPr lang="en-US" b="true" sz="2127" spc="1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KIOSK HARDWARE &gt; 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088593" y="2018426"/>
            <a:ext cx="1033859" cy="37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8"/>
              </a:lnSpc>
              <a:spcBef>
                <a:spcPct val="0"/>
              </a:spcBef>
            </a:pPr>
            <a:r>
              <a:rPr lang="en-US" b="true" sz="2127" spc="10">
                <a:solidFill>
                  <a:srgbClr val="C98A2C"/>
                </a:solidFill>
                <a:latin typeface="Poppins Bold"/>
                <a:ea typeface="Poppins Bold"/>
                <a:cs typeface="Poppins Bold"/>
                <a:sym typeface="Poppins Bold"/>
              </a:rPr>
              <a:t>ON SITE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6971929" y="2393032"/>
            <a:ext cx="2454584" cy="1149296"/>
            <a:chOff x="0" y="0"/>
            <a:chExt cx="1203729" cy="56361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203729" cy="563615"/>
            </a:xfrm>
            <a:custGeom>
              <a:avLst/>
              <a:gdLst/>
              <a:ahLst/>
              <a:cxnLst/>
              <a:rect r="r" b="b" t="t" l="l"/>
              <a:pathLst>
                <a:path h="563615" w="1203729">
                  <a:moveTo>
                    <a:pt x="100930" y="0"/>
                  </a:moveTo>
                  <a:lnTo>
                    <a:pt x="1102799" y="0"/>
                  </a:lnTo>
                  <a:cubicBezTo>
                    <a:pt x="1129567" y="0"/>
                    <a:pt x="1155239" y="10634"/>
                    <a:pt x="1174167" y="29562"/>
                  </a:cubicBezTo>
                  <a:cubicBezTo>
                    <a:pt x="1193095" y="48490"/>
                    <a:pt x="1203729" y="74162"/>
                    <a:pt x="1203729" y="100930"/>
                  </a:cubicBezTo>
                  <a:lnTo>
                    <a:pt x="1203729" y="462685"/>
                  </a:lnTo>
                  <a:cubicBezTo>
                    <a:pt x="1203729" y="489453"/>
                    <a:pt x="1193095" y="515125"/>
                    <a:pt x="1174167" y="534053"/>
                  </a:cubicBezTo>
                  <a:cubicBezTo>
                    <a:pt x="1155239" y="552982"/>
                    <a:pt x="1129567" y="563615"/>
                    <a:pt x="1102799" y="563615"/>
                  </a:cubicBezTo>
                  <a:lnTo>
                    <a:pt x="100930" y="563615"/>
                  </a:lnTo>
                  <a:cubicBezTo>
                    <a:pt x="45188" y="563615"/>
                    <a:pt x="0" y="518427"/>
                    <a:pt x="0" y="462685"/>
                  </a:cubicBezTo>
                  <a:lnTo>
                    <a:pt x="0" y="100930"/>
                  </a:lnTo>
                  <a:cubicBezTo>
                    <a:pt x="0" y="45188"/>
                    <a:pt x="45188" y="0"/>
                    <a:pt x="100930" y="0"/>
                  </a:cubicBezTo>
                  <a:close/>
                </a:path>
              </a:pathLst>
            </a:custGeom>
            <a:solidFill>
              <a:srgbClr val="F5E7C6"/>
            </a:solidFill>
            <a:ln w="38100" cap="rnd">
              <a:solidFill>
                <a:srgbClr val="C98A2C"/>
              </a:solidFill>
              <a:prstDash val="solid"/>
              <a:round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1203729" cy="611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554363" y="2376472"/>
            <a:ext cx="2502825" cy="1151757"/>
            <a:chOff x="0" y="0"/>
            <a:chExt cx="1227386" cy="56482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227386" cy="564822"/>
            </a:xfrm>
            <a:custGeom>
              <a:avLst/>
              <a:gdLst/>
              <a:ahLst/>
              <a:cxnLst/>
              <a:rect r="r" b="b" t="t" l="l"/>
              <a:pathLst>
                <a:path h="564822" w="1227386">
                  <a:moveTo>
                    <a:pt x="98985" y="0"/>
                  </a:moveTo>
                  <a:lnTo>
                    <a:pt x="1128401" y="0"/>
                  </a:lnTo>
                  <a:cubicBezTo>
                    <a:pt x="1154654" y="0"/>
                    <a:pt x="1179831" y="10429"/>
                    <a:pt x="1198394" y="28992"/>
                  </a:cubicBezTo>
                  <a:cubicBezTo>
                    <a:pt x="1216957" y="47555"/>
                    <a:pt x="1227386" y="72732"/>
                    <a:pt x="1227386" y="98985"/>
                  </a:cubicBezTo>
                  <a:lnTo>
                    <a:pt x="1227386" y="465837"/>
                  </a:lnTo>
                  <a:cubicBezTo>
                    <a:pt x="1227386" y="492089"/>
                    <a:pt x="1216957" y="517267"/>
                    <a:pt x="1198394" y="535830"/>
                  </a:cubicBezTo>
                  <a:cubicBezTo>
                    <a:pt x="1179831" y="554393"/>
                    <a:pt x="1154654" y="564822"/>
                    <a:pt x="1128401" y="564822"/>
                  </a:cubicBezTo>
                  <a:lnTo>
                    <a:pt x="98985" y="564822"/>
                  </a:lnTo>
                  <a:cubicBezTo>
                    <a:pt x="72732" y="564822"/>
                    <a:pt x="47555" y="554393"/>
                    <a:pt x="28992" y="535830"/>
                  </a:cubicBezTo>
                  <a:cubicBezTo>
                    <a:pt x="10429" y="517267"/>
                    <a:pt x="0" y="492089"/>
                    <a:pt x="0" y="465837"/>
                  </a:cubicBezTo>
                  <a:lnTo>
                    <a:pt x="0" y="98985"/>
                  </a:lnTo>
                  <a:cubicBezTo>
                    <a:pt x="0" y="72732"/>
                    <a:pt x="10429" y="47555"/>
                    <a:pt x="28992" y="28992"/>
                  </a:cubicBezTo>
                  <a:cubicBezTo>
                    <a:pt x="47555" y="10429"/>
                    <a:pt x="72732" y="0"/>
                    <a:pt x="98985" y="0"/>
                  </a:cubicBezTo>
                  <a:close/>
                </a:path>
              </a:pathLst>
            </a:custGeom>
            <a:solidFill>
              <a:srgbClr val="F5E7C6"/>
            </a:solidFill>
            <a:ln w="38100" cap="rnd">
              <a:solidFill>
                <a:srgbClr val="C98A2C"/>
              </a:solidFill>
              <a:prstDash val="solid"/>
              <a:round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1227386" cy="612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13562805" y="2018426"/>
            <a:ext cx="2891996" cy="37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8"/>
              </a:lnSpc>
              <a:spcBef>
                <a:spcPct val="0"/>
              </a:spcBef>
            </a:pPr>
            <a:r>
              <a:rPr lang="en-US" b="true" sz="2127" spc="10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CLIENTS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12451813" y="2393032"/>
            <a:ext cx="2482591" cy="1149296"/>
            <a:chOff x="0" y="0"/>
            <a:chExt cx="1217463" cy="563615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217463" cy="563615"/>
            </a:xfrm>
            <a:custGeom>
              <a:avLst/>
              <a:gdLst/>
              <a:ahLst/>
              <a:cxnLst/>
              <a:rect r="r" b="b" t="t" l="l"/>
              <a:pathLst>
                <a:path h="563615" w="1217463">
                  <a:moveTo>
                    <a:pt x="99791" y="0"/>
                  </a:moveTo>
                  <a:lnTo>
                    <a:pt x="1117672" y="0"/>
                  </a:lnTo>
                  <a:cubicBezTo>
                    <a:pt x="1172785" y="0"/>
                    <a:pt x="1217463" y="44678"/>
                    <a:pt x="1217463" y="99791"/>
                  </a:cubicBezTo>
                  <a:lnTo>
                    <a:pt x="1217463" y="463824"/>
                  </a:lnTo>
                  <a:cubicBezTo>
                    <a:pt x="1217463" y="518937"/>
                    <a:pt x="1172785" y="563615"/>
                    <a:pt x="1117672" y="563615"/>
                  </a:cubicBezTo>
                  <a:lnTo>
                    <a:pt x="99791" y="563615"/>
                  </a:lnTo>
                  <a:cubicBezTo>
                    <a:pt x="44678" y="563615"/>
                    <a:pt x="0" y="518937"/>
                    <a:pt x="0" y="463824"/>
                  </a:cubicBezTo>
                  <a:lnTo>
                    <a:pt x="0" y="99791"/>
                  </a:lnTo>
                  <a:cubicBezTo>
                    <a:pt x="0" y="44678"/>
                    <a:pt x="44678" y="0"/>
                    <a:pt x="99791" y="0"/>
                  </a:cubicBezTo>
                  <a:close/>
                </a:path>
              </a:pathLst>
            </a:custGeom>
            <a:solidFill>
              <a:srgbClr val="E6E6E6"/>
            </a:solidFill>
            <a:ln w="38100" cap="rnd">
              <a:solidFill>
                <a:srgbClr val="425962"/>
              </a:solidFill>
              <a:prstDash val="solid"/>
              <a:round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1217463" cy="611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5054268" y="2376472"/>
            <a:ext cx="2482591" cy="1165856"/>
            <a:chOff x="0" y="0"/>
            <a:chExt cx="1217463" cy="57173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217463" cy="571736"/>
            </a:xfrm>
            <a:custGeom>
              <a:avLst/>
              <a:gdLst/>
              <a:ahLst/>
              <a:cxnLst/>
              <a:rect r="r" b="b" t="t" l="l"/>
              <a:pathLst>
                <a:path h="571736" w="1217463">
                  <a:moveTo>
                    <a:pt x="99791" y="0"/>
                  </a:moveTo>
                  <a:lnTo>
                    <a:pt x="1117672" y="0"/>
                  </a:lnTo>
                  <a:cubicBezTo>
                    <a:pt x="1172785" y="0"/>
                    <a:pt x="1217463" y="44678"/>
                    <a:pt x="1217463" y="99791"/>
                  </a:cubicBezTo>
                  <a:lnTo>
                    <a:pt x="1217463" y="471945"/>
                  </a:lnTo>
                  <a:cubicBezTo>
                    <a:pt x="1217463" y="527058"/>
                    <a:pt x="1172785" y="571736"/>
                    <a:pt x="1117672" y="571736"/>
                  </a:cubicBezTo>
                  <a:lnTo>
                    <a:pt x="99791" y="571736"/>
                  </a:lnTo>
                  <a:cubicBezTo>
                    <a:pt x="44678" y="571736"/>
                    <a:pt x="0" y="527058"/>
                    <a:pt x="0" y="471945"/>
                  </a:cubicBezTo>
                  <a:lnTo>
                    <a:pt x="0" y="99791"/>
                  </a:lnTo>
                  <a:cubicBezTo>
                    <a:pt x="0" y="44678"/>
                    <a:pt x="44678" y="0"/>
                    <a:pt x="99791" y="0"/>
                  </a:cubicBezTo>
                  <a:close/>
                </a:path>
              </a:pathLst>
            </a:custGeom>
            <a:solidFill>
              <a:srgbClr val="E6E6E6"/>
            </a:solidFill>
            <a:ln w="38100" cap="rnd">
              <a:solidFill>
                <a:srgbClr val="425962"/>
              </a:solidFill>
              <a:prstDash val="solid"/>
              <a:round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1217463" cy="619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6975339" y="5599917"/>
            <a:ext cx="3113254" cy="1208952"/>
            <a:chOff x="0" y="0"/>
            <a:chExt cx="1526741" cy="59287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526741" cy="592870"/>
            </a:xfrm>
            <a:custGeom>
              <a:avLst/>
              <a:gdLst/>
              <a:ahLst/>
              <a:cxnLst/>
              <a:rect r="r" b="b" t="t" l="l"/>
              <a:pathLst>
                <a:path h="592870" w="1526741">
                  <a:moveTo>
                    <a:pt x="79576" y="0"/>
                  </a:moveTo>
                  <a:lnTo>
                    <a:pt x="1447165" y="0"/>
                  </a:lnTo>
                  <a:cubicBezTo>
                    <a:pt x="1491113" y="0"/>
                    <a:pt x="1526741" y="35628"/>
                    <a:pt x="1526741" y="79576"/>
                  </a:cubicBezTo>
                  <a:lnTo>
                    <a:pt x="1526741" y="513294"/>
                  </a:lnTo>
                  <a:cubicBezTo>
                    <a:pt x="1526741" y="557243"/>
                    <a:pt x="1491113" y="592870"/>
                    <a:pt x="1447165" y="592870"/>
                  </a:cubicBezTo>
                  <a:lnTo>
                    <a:pt x="79576" y="592870"/>
                  </a:lnTo>
                  <a:cubicBezTo>
                    <a:pt x="35628" y="592870"/>
                    <a:pt x="0" y="557243"/>
                    <a:pt x="0" y="513294"/>
                  </a:cubicBezTo>
                  <a:lnTo>
                    <a:pt x="0" y="79576"/>
                  </a:lnTo>
                  <a:cubicBezTo>
                    <a:pt x="0" y="35628"/>
                    <a:pt x="35628" y="0"/>
                    <a:pt x="79576" y="0"/>
                  </a:cubicBezTo>
                  <a:close/>
                </a:path>
              </a:pathLst>
            </a:custGeom>
            <a:solidFill>
              <a:srgbClr val="E6E6E6"/>
            </a:solidFill>
            <a:ln w="38100" cap="rnd">
              <a:solidFill>
                <a:srgbClr val="425962"/>
              </a:solidFill>
              <a:prstDash val="solid"/>
              <a:round/>
            </a:ln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1526741" cy="640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173492" y="5590392"/>
            <a:ext cx="3193656" cy="1218477"/>
            <a:chOff x="0" y="0"/>
            <a:chExt cx="1566170" cy="59754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566170" cy="597541"/>
            </a:xfrm>
            <a:custGeom>
              <a:avLst/>
              <a:gdLst/>
              <a:ahLst/>
              <a:cxnLst/>
              <a:rect r="r" b="b" t="t" l="l"/>
              <a:pathLst>
                <a:path h="597541" w="1566170">
                  <a:moveTo>
                    <a:pt x="77573" y="0"/>
                  </a:moveTo>
                  <a:lnTo>
                    <a:pt x="1488597" y="0"/>
                  </a:lnTo>
                  <a:cubicBezTo>
                    <a:pt x="1509171" y="0"/>
                    <a:pt x="1528902" y="8173"/>
                    <a:pt x="1543449" y="22721"/>
                  </a:cubicBezTo>
                  <a:cubicBezTo>
                    <a:pt x="1557997" y="37268"/>
                    <a:pt x="1566170" y="56999"/>
                    <a:pt x="1566170" y="77573"/>
                  </a:cubicBezTo>
                  <a:lnTo>
                    <a:pt x="1566170" y="519968"/>
                  </a:lnTo>
                  <a:cubicBezTo>
                    <a:pt x="1566170" y="540542"/>
                    <a:pt x="1557997" y="560273"/>
                    <a:pt x="1543449" y="574821"/>
                  </a:cubicBezTo>
                  <a:cubicBezTo>
                    <a:pt x="1528902" y="589368"/>
                    <a:pt x="1509171" y="597541"/>
                    <a:pt x="1488597" y="597541"/>
                  </a:cubicBezTo>
                  <a:lnTo>
                    <a:pt x="77573" y="597541"/>
                  </a:lnTo>
                  <a:cubicBezTo>
                    <a:pt x="56999" y="597541"/>
                    <a:pt x="37268" y="589368"/>
                    <a:pt x="22721" y="574821"/>
                  </a:cubicBezTo>
                  <a:cubicBezTo>
                    <a:pt x="8173" y="560273"/>
                    <a:pt x="0" y="540542"/>
                    <a:pt x="0" y="519968"/>
                  </a:cubicBezTo>
                  <a:lnTo>
                    <a:pt x="0" y="77573"/>
                  </a:lnTo>
                  <a:cubicBezTo>
                    <a:pt x="0" y="56999"/>
                    <a:pt x="8173" y="37268"/>
                    <a:pt x="22721" y="22721"/>
                  </a:cubicBezTo>
                  <a:cubicBezTo>
                    <a:pt x="37268" y="8173"/>
                    <a:pt x="56999" y="0"/>
                    <a:pt x="77573" y="0"/>
                  </a:cubicBezTo>
                  <a:close/>
                </a:path>
              </a:pathLst>
            </a:custGeom>
            <a:solidFill>
              <a:srgbClr val="E6E6E6"/>
            </a:solidFill>
            <a:ln w="38100" cap="rnd">
              <a:solidFill>
                <a:srgbClr val="425962"/>
              </a:solidFill>
              <a:prstDash val="solid"/>
              <a:round/>
            </a:ln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1566170" cy="645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3512985" y="5575256"/>
            <a:ext cx="4071031" cy="1233613"/>
            <a:chOff x="0" y="0"/>
            <a:chExt cx="1996435" cy="60496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996435" cy="604964"/>
            </a:xfrm>
            <a:custGeom>
              <a:avLst/>
              <a:gdLst/>
              <a:ahLst/>
              <a:cxnLst/>
              <a:rect r="r" b="b" t="t" l="l"/>
              <a:pathLst>
                <a:path h="604964" w="1996435">
                  <a:moveTo>
                    <a:pt x="60855" y="0"/>
                  </a:moveTo>
                  <a:lnTo>
                    <a:pt x="1935580" y="0"/>
                  </a:lnTo>
                  <a:cubicBezTo>
                    <a:pt x="1951720" y="0"/>
                    <a:pt x="1967199" y="6411"/>
                    <a:pt x="1978611" y="17824"/>
                  </a:cubicBezTo>
                  <a:cubicBezTo>
                    <a:pt x="1990024" y="29236"/>
                    <a:pt x="1996435" y="44715"/>
                    <a:pt x="1996435" y="60855"/>
                  </a:cubicBezTo>
                  <a:lnTo>
                    <a:pt x="1996435" y="544110"/>
                  </a:lnTo>
                  <a:cubicBezTo>
                    <a:pt x="1996435" y="577719"/>
                    <a:pt x="1969189" y="604964"/>
                    <a:pt x="1935580" y="604964"/>
                  </a:cubicBezTo>
                  <a:lnTo>
                    <a:pt x="60855" y="604964"/>
                  </a:lnTo>
                  <a:cubicBezTo>
                    <a:pt x="44715" y="604964"/>
                    <a:pt x="29236" y="598553"/>
                    <a:pt x="17824" y="587140"/>
                  </a:cubicBezTo>
                  <a:cubicBezTo>
                    <a:pt x="6411" y="575728"/>
                    <a:pt x="0" y="560249"/>
                    <a:pt x="0" y="544110"/>
                  </a:cubicBezTo>
                  <a:lnTo>
                    <a:pt x="0" y="60855"/>
                  </a:lnTo>
                  <a:cubicBezTo>
                    <a:pt x="0" y="44715"/>
                    <a:pt x="6411" y="29236"/>
                    <a:pt x="17824" y="17824"/>
                  </a:cubicBezTo>
                  <a:cubicBezTo>
                    <a:pt x="29236" y="6411"/>
                    <a:pt x="44715" y="0"/>
                    <a:pt x="60855" y="0"/>
                  </a:cubicBezTo>
                  <a:close/>
                </a:path>
              </a:pathLst>
            </a:custGeom>
            <a:solidFill>
              <a:srgbClr val="E6E6E6"/>
            </a:solidFill>
            <a:ln w="38100" cap="rnd">
              <a:solidFill>
                <a:srgbClr val="425962"/>
              </a:solidFill>
              <a:prstDash val="solid"/>
              <a:round/>
            </a:ln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1996435" cy="652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3424298" y="7744626"/>
            <a:ext cx="4560610" cy="1767232"/>
            <a:chOff x="0" y="0"/>
            <a:chExt cx="2236525" cy="866651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236525" cy="866651"/>
            </a:xfrm>
            <a:custGeom>
              <a:avLst/>
              <a:gdLst/>
              <a:ahLst/>
              <a:cxnLst/>
              <a:rect r="r" b="b" t="t" l="l"/>
              <a:pathLst>
                <a:path h="866651" w="2236525">
                  <a:moveTo>
                    <a:pt x="54322" y="0"/>
                  </a:moveTo>
                  <a:lnTo>
                    <a:pt x="2182202" y="0"/>
                  </a:lnTo>
                  <a:cubicBezTo>
                    <a:pt x="2212204" y="0"/>
                    <a:pt x="2236525" y="24321"/>
                    <a:pt x="2236525" y="54322"/>
                  </a:cubicBezTo>
                  <a:lnTo>
                    <a:pt x="2236525" y="812329"/>
                  </a:lnTo>
                  <a:cubicBezTo>
                    <a:pt x="2236525" y="826736"/>
                    <a:pt x="2230801" y="840553"/>
                    <a:pt x="2220614" y="850741"/>
                  </a:cubicBezTo>
                  <a:cubicBezTo>
                    <a:pt x="2210427" y="860928"/>
                    <a:pt x="2196610" y="866651"/>
                    <a:pt x="2182202" y="866651"/>
                  </a:cubicBezTo>
                  <a:lnTo>
                    <a:pt x="54322" y="866651"/>
                  </a:lnTo>
                  <a:cubicBezTo>
                    <a:pt x="39915" y="866651"/>
                    <a:pt x="26098" y="860928"/>
                    <a:pt x="15911" y="850741"/>
                  </a:cubicBezTo>
                  <a:cubicBezTo>
                    <a:pt x="5723" y="840553"/>
                    <a:pt x="0" y="826736"/>
                    <a:pt x="0" y="812329"/>
                  </a:cubicBezTo>
                  <a:lnTo>
                    <a:pt x="0" y="54322"/>
                  </a:lnTo>
                  <a:cubicBezTo>
                    <a:pt x="0" y="39915"/>
                    <a:pt x="5723" y="26098"/>
                    <a:pt x="15911" y="15911"/>
                  </a:cubicBezTo>
                  <a:cubicBezTo>
                    <a:pt x="26098" y="5723"/>
                    <a:pt x="39915" y="0"/>
                    <a:pt x="54322" y="0"/>
                  </a:cubicBezTo>
                  <a:close/>
                </a:path>
              </a:pathLst>
            </a:custGeom>
            <a:solidFill>
              <a:srgbClr val="C8D1D9"/>
            </a:solidFill>
            <a:ln w="38100" cap="rnd">
              <a:solidFill>
                <a:srgbClr val="425962"/>
              </a:solidFill>
              <a:prstDash val="solid"/>
              <a:round/>
            </a:ln>
          </p:spPr>
        </p:sp>
        <p:sp>
          <p:nvSpPr>
            <p:cNvPr name="TextBox 89" id="89"/>
            <p:cNvSpPr txBox="true"/>
            <p:nvPr/>
          </p:nvSpPr>
          <p:spPr>
            <a:xfrm>
              <a:off x="0" y="-47625"/>
              <a:ext cx="2236525" cy="914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6971929" y="8157332"/>
            <a:ext cx="2630845" cy="1208952"/>
            <a:chOff x="0" y="0"/>
            <a:chExt cx="1290167" cy="59287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290167" cy="592870"/>
            </a:xfrm>
            <a:custGeom>
              <a:avLst/>
              <a:gdLst/>
              <a:ahLst/>
              <a:cxnLst/>
              <a:rect r="r" b="b" t="t" l="l"/>
              <a:pathLst>
                <a:path h="592870" w="1290167">
                  <a:moveTo>
                    <a:pt x="94168" y="0"/>
                  </a:moveTo>
                  <a:lnTo>
                    <a:pt x="1195999" y="0"/>
                  </a:lnTo>
                  <a:cubicBezTo>
                    <a:pt x="1220974" y="0"/>
                    <a:pt x="1244926" y="9921"/>
                    <a:pt x="1262586" y="27581"/>
                  </a:cubicBezTo>
                  <a:cubicBezTo>
                    <a:pt x="1280246" y="45241"/>
                    <a:pt x="1290167" y="69193"/>
                    <a:pt x="1290167" y="94168"/>
                  </a:cubicBezTo>
                  <a:lnTo>
                    <a:pt x="1290167" y="498702"/>
                  </a:lnTo>
                  <a:cubicBezTo>
                    <a:pt x="1290167" y="523677"/>
                    <a:pt x="1280246" y="547629"/>
                    <a:pt x="1262586" y="565289"/>
                  </a:cubicBezTo>
                  <a:cubicBezTo>
                    <a:pt x="1244926" y="582949"/>
                    <a:pt x="1220974" y="592870"/>
                    <a:pt x="1195999" y="592870"/>
                  </a:cubicBezTo>
                  <a:lnTo>
                    <a:pt x="94168" y="592870"/>
                  </a:lnTo>
                  <a:cubicBezTo>
                    <a:pt x="69193" y="592870"/>
                    <a:pt x="45241" y="582949"/>
                    <a:pt x="27581" y="565289"/>
                  </a:cubicBezTo>
                  <a:cubicBezTo>
                    <a:pt x="9921" y="547629"/>
                    <a:pt x="0" y="523677"/>
                    <a:pt x="0" y="498702"/>
                  </a:cubicBezTo>
                  <a:lnTo>
                    <a:pt x="0" y="94168"/>
                  </a:lnTo>
                  <a:cubicBezTo>
                    <a:pt x="0" y="69193"/>
                    <a:pt x="9921" y="45241"/>
                    <a:pt x="27581" y="27581"/>
                  </a:cubicBezTo>
                  <a:cubicBezTo>
                    <a:pt x="45241" y="9921"/>
                    <a:pt x="69193" y="0"/>
                    <a:pt x="94168" y="0"/>
                  </a:cubicBezTo>
                  <a:close/>
                </a:path>
              </a:pathLst>
            </a:custGeom>
            <a:solidFill>
              <a:srgbClr val="E6E6E6"/>
            </a:solidFill>
            <a:ln w="38100" cap="rnd">
              <a:solidFill>
                <a:srgbClr val="425962"/>
              </a:solidFill>
              <a:prstDash val="solid"/>
              <a:round/>
            </a:ln>
          </p:spPr>
        </p:sp>
        <p:sp>
          <p:nvSpPr>
            <p:cNvPr name="TextBox 92" id="92"/>
            <p:cNvSpPr txBox="true"/>
            <p:nvPr/>
          </p:nvSpPr>
          <p:spPr>
            <a:xfrm>
              <a:off x="0" y="-47625"/>
              <a:ext cx="1290167" cy="640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9673326" y="8157332"/>
            <a:ext cx="1585625" cy="1208952"/>
            <a:chOff x="0" y="0"/>
            <a:chExt cx="777591" cy="59287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77591" cy="592870"/>
            </a:xfrm>
            <a:custGeom>
              <a:avLst/>
              <a:gdLst/>
              <a:ahLst/>
              <a:cxnLst/>
              <a:rect r="r" b="b" t="t" l="l"/>
              <a:pathLst>
                <a:path h="592870" w="777591">
                  <a:moveTo>
                    <a:pt x="156242" y="0"/>
                  </a:moveTo>
                  <a:lnTo>
                    <a:pt x="621349" y="0"/>
                  </a:lnTo>
                  <a:cubicBezTo>
                    <a:pt x="662787" y="0"/>
                    <a:pt x="702528" y="16461"/>
                    <a:pt x="731829" y="45762"/>
                  </a:cubicBezTo>
                  <a:cubicBezTo>
                    <a:pt x="761130" y="75063"/>
                    <a:pt x="777591" y="114804"/>
                    <a:pt x="777591" y="156242"/>
                  </a:cubicBezTo>
                  <a:lnTo>
                    <a:pt x="777591" y="436628"/>
                  </a:lnTo>
                  <a:cubicBezTo>
                    <a:pt x="777591" y="522918"/>
                    <a:pt x="707639" y="592870"/>
                    <a:pt x="621349" y="592870"/>
                  </a:cubicBezTo>
                  <a:lnTo>
                    <a:pt x="156242" y="592870"/>
                  </a:lnTo>
                  <a:cubicBezTo>
                    <a:pt x="114804" y="592870"/>
                    <a:pt x="75063" y="576409"/>
                    <a:pt x="45762" y="547108"/>
                  </a:cubicBezTo>
                  <a:cubicBezTo>
                    <a:pt x="16461" y="517807"/>
                    <a:pt x="0" y="478066"/>
                    <a:pt x="0" y="436628"/>
                  </a:cubicBezTo>
                  <a:lnTo>
                    <a:pt x="0" y="156242"/>
                  </a:lnTo>
                  <a:cubicBezTo>
                    <a:pt x="0" y="114804"/>
                    <a:pt x="16461" y="75063"/>
                    <a:pt x="45762" y="45762"/>
                  </a:cubicBezTo>
                  <a:cubicBezTo>
                    <a:pt x="75063" y="16461"/>
                    <a:pt x="114804" y="0"/>
                    <a:pt x="156242" y="0"/>
                  </a:cubicBezTo>
                  <a:close/>
                </a:path>
              </a:pathLst>
            </a:custGeom>
            <a:solidFill>
              <a:srgbClr val="E6E6E6"/>
            </a:solidFill>
            <a:ln w="38100" cap="rnd">
              <a:solidFill>
                <a:srgbClr val="425962"/>
              </a:solidFill>
              <a:prstDash val="solid"/>
              <a:round/>
            </a:ln>
          </p:spPr>
        </p:sp>
        <p:sp>
          <p:nvSpPr>
            <p:cNvPr name="TextBox 95" id="95"/>
            <p:cNvSpPr txBox="true"/>
            <p:nvPr/>
          </p:nvSpPr>
          <p:spPr>
            <a:xfrm>
              <a:off x="0" y="-47625"/>
              <a:ext cx="777591" cy="640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1313424" y="8157332"/>
            <a:ext cx="1941162" cy="1208952"/>
            <a:chOff x="0" y="0"/>
            <a:chExt cx="951947" cy="59287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951947" cy="592870"/>
            </a:xfrm>
            <a:custGeom>
              <a:avLst/>
              <a:gdLst/>
              <a:ahLst/>
              <a:cxnLst/>
              <a:rect r="r" b="b" t="t" l="l"/>
              <a:pathLst>
                <a:path h="592870" w="951947">
                  <a:moveTo>
                    <a:pt x="127625" y="0"/>
                  </a:moveTo>
                  <a:lnTo>
                    <a:pt x="824321" y="0"/>
                  </a:lnTo>
                  <a:cubicBezTo>
                    <a:pt x="858170" y="0"/>
                    <a:pt x="890632" y="13446"/>
                    <a:pt x="914566" y="37381"/>
                  </a:cubicBezTo>
                  <a:cubicBezTo>
                    <a:pt x="938500" y="61315"/>
                    <a:pt x="951947" y="93777"/>
                    <a:pt x="951947" y="127625"/>
                  </a:cubicBezTo>
                  <a:lnTo>
                    <a:pt x="951947" y="465245"/>
                  </a:lnTo>
                  <a:cubicBezTo>
                    <a:pt x="951947" y="499093"/>
                    <a:pt x="938500" y="531555"/>
                    <a:pt x="914566" y="555490"/>
                  </a:cubicBezTo>
                  <a:cubicBezTo>
                    <a:pt x="890632" y="579424"/>
                    <a:pt x="858170" y="592870"/>
                    <a:pt x="824321" y="592870"/>
                  </a:cubicBezTo>
                  <a:lnTo>
                    <a:pt x="127625" y="592870"/>
                  </a:lnTo>
                  <a:cubicBezTo>
                    <a:pt x="93777" y="592870"/>
                    <a:pt x="61315" y="579424"/>
                    <a:pt x="37381" y="555490"/>
                  </a:cubicBezTo>
                  <a:cubicBezTo>
                    <a:pt x="13446" y="531555"/>
                    <a:pt x="0" y="499093"/>
                    <a:pt x="0" y="465245"/>
                  </a:cubicBezTo>
                  <a:lnTo>
                    <a:pt x="0" y="127625"/>
                  </a:lnTo>
                  <a:cubicBezTo>
                    <a:pt x="0" y="93777"/>
                    <a:pt x="13446" y="61315"/>
                    <a:pt x="37381" y="37381"/>
                  </a:cubicBezTo>
                  <a:cubicBezTo>
                    <a:pt x="61315" y="13446"/>
                    <a:pt x="93777" y="0"/>
                    <a:pt x="127625" y="0"/>
                  </a:cubicBezTo>
                  <a:close/>
                </a:path>
              </a:pathLst>
            </a:custGeom>
            <a:solidFill>
              <a:srgbClr val="E6E6E6"/>
            </a:solidFill>
            <a:ln w="38100" cap="rnd">
              <a:solidFill>
                <a:srgbClr val="425962"/>
              </a:solidFill>
              <a:prstDash val="solid"/>
              <a:round/>
            </a:ln>
          </p:spPr>
        </p:sp>
        <p:sp>
          <p:nvSpPr>
            <p:cNvPr name="TextBox 98" id="98"/>
            <p:cNvSpPr txBox="true"/>
            <p:nvPr/>
          </p:nvSpPr>
          <p:spPr>
            <a:xfrm>
              <a:off x="0" y="-47625"/>
              <a:ext cx="951947" cy="640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3535636" y="8166857"/>
            <a:ext cx="2160853" cy="1208952"/>
            <a:chOff x="0" y="0"/>
            <a:chExt cx="1059683" cy="59287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59683" cy="592870"/>
            </a:xfrm>
            <a:custGeom>
              <a:avLst/>
              <a:gdLst/>
              <a:ahLst/>
              <a:cxnLst/>
              <a:rect r="r" b="b" t="t" l="l"/>
              <a:pathLst>
                <a:path h="592870" w="1059683">
                  <a:moveTo>
                    <a:pt x="114650" y="0"/>
                  </a:moveTo>
                  <a:lnTo>
                    <a:pt x="945033" y="0"/>
                  </a:lnTo>
                  <a:cubicBezTo>
                    <a:pt x="975440" y="0"/>
                    <a:pt x="1004602" y="12079"/>
                    <a:pt x="1026103" y="33580"/>
                  </a:cubicBezTo>
                  <a:cubicBezTo>
                    <a:pt x="1047604" y="55081"/>
                    <a:pt x="1059683" y="84243"/>
                    <a:pt x="1059683" y="114650"/>
                  </a:cubicBezTo>
                  <a:lnTo>
                    <a:pt x="1059683" y="478220"/>
                  </a:lnTo>
                  <a:cubicBezTo>
                    <a:pt x="1059683" y="508628"/>
                    <a:pt x="1047604" y="537789"/>
                    <a:pt x="1026103" y="559290"/>
                  </a:cubicBezTo>
                  <a:cubicBezTo>
                    <a:pt x="1004602" y="580791"/>
                    <a:pt x="975440" y="592870"/>
                    <a:pt x="945033" y="592870"/>
                  </a:cubicBezTo>
                  <a:lnTo>
                    <a:pt x="114650" y="592870"/>
                  </a:lnTo>
                  <a:cubicBezTo>
                    <a:pt x="84243" y="592870"/>
                    <a:pt x="55081" y="580791"/>
                    <a:pt x="33580" y="559290"/>
                  </a:cubicBezTo>
                  <a:cubicBezTo>
                    <a:pt x="12079" y="537789"/>
                    <a:pt x="0" y="508628"/>
                    <a:pt x="0" y="478220"/>
                  </a:cubicBezTo>
                  <a:lnTo>
                    <a:pt x="0" y="114650"/>
                  </a:lnTo>
                  <a:cubicBezTo>
                    <a:pt x="0" y="84243"/>
                    <a:pt x="12079" y="55081"/>
                    <a:pt x="33580" y="33580"/>
                  </a:cubicBezTo>
                  <a:cubicBezTo>
                    <a:pt x="55081" y="12079"/>
                    <a:pt x="84243" y="0"/>
                    <a:pt x="114650" y="0"/>
                  </a:cubicBezTo>
                  <a:close/>
                </a:path>
              </a:pathLst>
            </a:custGeom>
            <a:solidFill>
              <a:srgbClr val="E6E6E6"/>
            </a:solidFill>
            <a:ln w="38100" cap="rnd">
              <a:solidFill>
                <a:srgbClr val="425962"/>
              </a:solidFill>
              <a:prstDash val="solid"/>
              <a:round/>
            </a:ln>
          </p:spPr>
        </p:sp>
        <p:sp>
          <p:nvSpPr>
            <p:cNvPr name="TextBox 101" id="101"/>
            <p:cNvSpPr txBox="true"/>
            <p:nvPr/>
          </p:nvSpPr>
          <p:spPr>
            <a:xfrm>
              <a:off x="0" y="-47625"/>
              <a:ext cx="1059683" cy="640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5753639" y="8185907"/>
            <a:ext cx="2160853" cy="1208952"/>
            <a:chOff x="0" y="0"/>
            <a:chExt cx="1059683" cy="59287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059683" cy="592870"/>
            </a:xfrm>
            <a:custGeom>
              <a:avLst/>
              <a:gdLst/>
              <a:ahLst/>
              <a:cxnLst/>
              <a:rect r="r" b="b" t="t" l="l"/>
              <a:pathLst>
                <a:path h="592870" w="1059683">
                  <a:moveTo>
                    <a:pt x="114650" y="0"/>
                  </a:moveTo>
                  <a:lnTo>
                    <a:pt x="945033" y="0"/>
                  </a:lnTo>
                  <a:cubicBezTo>
                    <a:pt x="975440" y="0"/>
                    <a:pt x="1004602" y="12079"/>
                    <a:pt x="1026103" y="33580"/>
                  </a:cubicBezTo>
                  <a:cubicBezTo>
                    <a:pt x="1047604" y="55081"/>
                    <a:pt x="1059683" y="84243"/>
                    <a:pt x="1059683" y="114650"/>
                  </a:cubicBezTo>
                  <a:lnTo>
                    <a:pt x="1059683" y="478220"/>
                  </a:lnTo>
                  <a:cubicBezTo>
                    <a:pt x="1059683" y="508628"/>
                    <a:pt x="1047604" y="537789"/>
                    <a:pt x="1026103" y="559290"/>
                  </a:cubicBezTo>
                  <a:cubicBezTo>
                    <a:pt x="1004602" y="580791"/>
                    <a:pt x="975440" y="592870"/>
                    <a:pt x="945033" y="592870"/>
                  </a:cubicBezTo>
                  <a:lnTo>
                    <a:pt x="114650" y="592870"/>
                  </a:lnTo>
                  <a:cubicBezTo>
                    <a:pt x="84243" y="592870"/>
                    <a:pt x="55081" y="580791"/>
                    <a:pt x="33580" y="559290"/>
                  </a:cubicBezTo>
                  <a:cubicBezTo>
                    <a:pt x="12079" y="537789"/>
                    <a:pt x="0" y="508628"/>
                    <a:pt x="0" y="478220"/>
                  </a:cubicBezTo>
                  <a:lnTo>
                    <a:pt x="0" y="114650"/>
                  </a:lnTo>
                  <a:cubicBezTo>
                    <a:pt x="0" y="84243"/>
                    <a:pt x="12079" y="55081"/>
                    <a:pt x="33580" y="33580"/>
                  </a:cubicBezTo>
                  <a:cubicBezTo>
                    <a:pt x="55081" y="12079"/>
                    <a:pt x="84243" y="0"/>
                    <a:pt x="114650" y="0"/>
                  </a:cubicBezTo>
                  <a:close/>
                </a:path>
              </a:pathLst>
            </a:custGeom>
            <a:solidFill>
              <a:srgbClr val="E6E6E6"/>
            </a:solidFill>
            <a:ln w="38100" cap="rnd">
              <a:solidFill>
                <a:srgbClr val="425962"/>
              </a:solidFill>
              <a:prstDash val="solid"/>
              <a:round/>
            </a:ln>
          </p:spPr>
        </p:sp>
        <p:sp>
          <p:nvSpPr>
            <p:cNvPr name="TextBox 104" id="104"/>
            <p:cNvSpPr txBox="true"/>
            <p:nvPr/>
          </p:nvSpPr>
          <p:spPr>
            <a:xfrm>
              <a:off x="0" y="-47625"/>
              <a:ext cx="1059683" cy="640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05" id="105"/>
          <p:cNvSpPr/>
          <p:nvPr/>
        </p:nvSpPr>
        <p:spPr>
          <a:xfrm>
            <a:off x="17984908" y="2967680"/>
            <a:ext cx="0" cy="4589591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06" id="106"/>
          <p:cNvSpPr/>
          <p:nvPr/>
        </p:nvSpPr>
        <p:spPr>
          <a:xfrm flipV="true">
            <a:off x="17513868" y="2931809"/>
            <a:ext cx="470980" cy="1491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07" id="107"/>
          <p:cNvSpPr/>
          <p:nvPr/>
        </p:nvSpPr>
        <p:spPr>
          <a:xfrm flipH="true">
            <a:off x="17957775" y="7557271"/>
            <a:ext cx="27073" cy="168304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pic>
        <p:nvPicPr>
          <p:cNvPr name="Picture 108" id="10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712768" y="4953834"/>
            <a:ext cx="544161" cy="567701"/>
          </a:xfrm>
          <a:prstGeom prst="rect">
            <a:avLst/>
          </a:prstGeom>
        </p:spPr>
      </p:pic>
      <p:sp>
        <p:nvSpPr>
          <p:cNvPr name="TextBox 109" id="109"/>
          <p:cNvSpPr txBox="true"/>
          <p:nvPr/>
        </p:nvSpPr>
        <p:spPr>
          <a:xfrm rot="0">
            <a:off x="282701" y="1518535"/>
            <a:ext cx="3140200" cy="355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75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TECH STACK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389793" y="1994044"/>
            <a:ext cx="1463008" cy="27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1"/>
              </a:lnSpc>
            </a:pPr>
            <a:r>
              <a:rPr lang="en-US" b="true" sz="195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FRONTEND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7306851" y="2468248"/>
            <a:ext cx="1749309" cy="356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ESP32 DevKit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9876929" y="2431132"/>
            <a:ext cx="1654059" cy="356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ESP32 - CAM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7066366" y="2786400"/>
            <a:ext cx="2265709" cy="58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4"/>
              </a:lnSpc>
            </a:pPr>
            <a:r>
              <a:rPr lang="en-US" sz="166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RC522 reader . OLED . buzzer . button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9673326" y="2786400"/>
            <a:ext cx="2265709" cy="58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4"/>
              </a:lnSpc>
            </a:pPr>
            <a:r>
              <a:rPr lang="en-US" sz="166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serves JPEG over LAN WiFi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7066366" y="3763893"/>
            <a:ext cx="2505143" cy="281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4"/>
              </a:lnSpc>
            </a:pPr>
            <a:r>
              <a:rPr lang="en-US" sz="166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USB cable . Web Serial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9673326" y="3763893"/>
            <a:ext cx="2129290" cy="281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4"/>
              </a:lnSpc>
            </a:pPr>
            <a:r>
              <a:rPr lang="en-US" sz="166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 get / capture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8015596" y="4270285"/>
            <a:ext cx="2891996" cy="37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8"/>
              </a:lnSpc>
              <a:spcBef>
                <a:spcPct val="0"/>
              </a:spcBef>
            </a:pPr>
            <a:r>
              <a:rPr lang="en-US" b="true" sz="2127" spc="1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KIOSK TERMINAL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7716690" y="4644891"/>
            <a:ext cx="3609826" cy="356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must run on http://localhost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13138020" y="2377469"/>
            <a:ext cx="1110175" cy="34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Web App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15598714" y="2377469"/>
            <a:ext cx="1422218" cy="34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Mobile App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12547063" y="2730173"/>
            <a:ext cx="2278025" cy="762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4"/>
              </a:lnSpc>
            </a:pPr>
            <a:r>
              <a:rPr lang="en-US" sz="146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React 19 + Vite + TypeScript . Admin, Trainer, Employer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15176969" y="2719924"/>
            <a:ext cx="2265709" cy="762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4"/>
              </a:lnSpc>
            </a:pPr>
            <a:r>
              <a:rPr lang="en-US" sz="146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Capacitor → native Android . wraps the same web build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8015596" y="5200650"/>
            <a:ext cx="8321065" cy="37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8"/>
              </a:lnSpc>
              <a:spcBef>
                <a:spcPct val="0"/>
              </a:spcBef>
            </a:pPr>
            <a:r>
              <a:rPr lang="en-US" b="true" sz="2127" spc="1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EXPRESS API . ONE BACKEND FOR EVERY CLIENT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7405106" y="5603831"/>
            <a:ext cx="2121545" cy="34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Auth middleware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10605523" y="5565731"/>
            <a:ext cx="2173552" cy="34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34 route modules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14291073" y="5542767"/>
            <a:ext cx="2368733" cy="34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Services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7399111" y="5962573"/>
            <a:ext cx="2265709" cy="667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4"/>
              </a:lnSpc>
            </a:pP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verify Supabase JWT + requireRole (...)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10376498" y="5924473"/>
            <a:ext cx="2761523" cy="68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sz="18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programmes . lessons . attendance . jobs . kiosk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13562805" y="5832878"/>
            <a:ext cx="3974054" cy="945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6"/>
              </a:lnSpc>
            </a:pPr>
            <a:r>
              <a:rPr lang="en-US" sz="17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certificate PDF + QR . chatbot RAG . face verify . analytics . skill-gap . job matching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7306851" y="7094619"/>
            <a:ext cx="2505143" cy="281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4"/>
              </a:lnSpc>
            </a:pPr>
            <a:r>
              <a:rPr lang="en-US" sz="166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SQL +  pgvector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9521603" y="7094619"/>
            <a:ext cx="2129290" cy="281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4"/>
              </a:lnSpc>
            </a:pPr>
            <a:r>
              <a:rPr lang="en-US" sz="166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verify  token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11237858" y="7066508"/>
            <a:ext cx="2129290" cy="281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4"/>
              </a:lnSpc>
            </a:pPr>
            <a:r>
              <a:rPr lang="en-US" sz="166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signed  URL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13138020" y="7123194"/>
            <a:ext cx="2129290" cy="281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4"/>
              </a:lnSpc>
            </a:pPr>
            <a:r>
              <a:rPr lang="en-US" sz="166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context  + query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16029310" y="6989844"/>
            <a:ext cx="1201172" cy="56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4"/>
              </a:lnSpc>
            </a:pPr>
            <a:r>
              <a:rPr lang="en-US" sz="166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presigned  URL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12730193" y="4103474"/>
            <a:ext cx="2129290" cy="3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4"/>
              </a:lnSpc>
            </a:pPr>
            <a:r>
              <a:rPr lang="en-US" sz="206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  .  JWT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15211908" y="3982782"/>
            <a:ext cx="1146538" cy="700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4"/>
              </a:lnSpc>
            </a:pPr>
            <a:r>
              <a:rPr lang="en-US" sz="206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  JSON 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16398024" y="3982782"/>
            <a:ext cx="873968" cy="700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4"/>
              </a:lnSpc>
            </a:pPr>
            <a:r>
              <a:rPr lang="en-US" sz="206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Bearer    JWT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8552306" y="7744626"/>
            <a:ext cx="2891996" cy="37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8"/>
              </a:lnSpc>
              <a:spcBef>
                <a:spcPct val="0"/>
              </a:spcBef>
            </a:pPr>
            <a:r>
              <a:rPr lang="en-US" b="true" sz="2127" spc="1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SUPABASE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14258605" y="7754151"/>
            <a:ext cx="2891996" cy="37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8"/>
              </a:lnSpc>
              <a:spcBef>
                <a:spcPct val="0"/>
              </a:spcBef>
            </a:pPr>
            <a:r>
              <a:rPr lang="en-US" b="true" sz="2127" spc="1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EXTERNAL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7054012" y="8214482"/>
            <a:ext cx="2434580" cy="34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Postgres + pgvector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7138448" y="8566272"/>
            <a:ext cx="2265709" cy="69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4"/>
              </a:lnSpc>
            </a:pPr>
            <a:r>
              <a:rPr lang="en-US" sz="19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 tables , RLS policies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10135368" y="8236463"/>
            <a:ext cx="661541" cy="372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Auth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9803599" y="8678373"/>
            <a:ext cx="1252649" cy="350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4"/>
              </a:lnSpc>
            </a:pPr>
            <a:r>
              <a:rPr lang="en-US" sz="19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JWT issuer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11768175" y="8181667"/>
            <a:ext cx="1052794" cy="372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Storage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11692299" y="8535346"/>
            <a:ext cx="1252649" cy="69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4"/>
              </a:lnSpc>
            </a:pPr>
            <a:r>
              <a:rPr lang="en-US" sz="19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(PDFs , images)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13864067" y="8200495"/>
            <a:ext cx="1503991" cy="372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Gemini API</a:t>
            </a:r>
          </a:p>
        </p:txBody>
      </p:sp>
      <p:sp>
        <p:nvSpPr>
          <p:cNvPr name="TextBox 147" id="147"/>
          <p:cNvSpPr txBox="true"/>
          <p:nvPr/>
        </p:nvSpPr>
        <p:spPr>
          <a:xfrm rot="0">
            <a:off x="13829530" y="8691793"/>
            <a:ext cx="1573065" cy="350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4"/>
              </a:lnSpc>
            </a:pPr>
            <a:r>
              <a:rPr lang="en-US" sz="19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3.1-flash-lite</a:t>
            </a:r>
          </a:p>
        </p:txBody>
      </p:sp>
      <p:sp>
        <p:nvSpPr>
          <p:cNvPr name="TextBox 148" id="148"/>
          <p:cNvSpPr txBox="true"/>
          <p:nvPr/>
        </p:nvSpPr>
        <p:spPr>
          <a:xfrm rot="0">
            <a:off x="15917135" y="8245988"/>
            <a:ext cx="1797678" cy="372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Backblaze B2</a:t>
            </a:r>
          </a:p>
        </p:txBody>
      </p:sp>
      <p:sp>
        <p:nvSpPr>
          <p:cNvPr name="TextBox 149" id="149"/>
          <p:cNvSpPr txBox="true"/>
          <p:nvPr/>
        </p:nvSpPr>
        <p:spPr>
          <a:xfrm rot="0">
            <a:off x="16047534" y="8715710"/>
            <a:ext cx="1573065" cy="350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4"/>
              </a:lnSpc>
            </a:pPr>
            <a:r>
              <a:rPr lang="en-US" sz="19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(lesson video)</a:t>
            </a:r>
          </a:p>
        </p:txBody>
      </p:sp>
      <p:sp>
        <p:nvSpPr>
          <p:cNvPr name="TextBox 150" id="150"/>
          <p:cNvSpPr txBox="true"/>
          <p:nvPr/>
        </p:nvSpPr>
        <p:spPr>
          <a:xfrm rot="-5400000">
            <a:off x="15021025" y="4866640"/>
            <a:ext cx="6253921" cy="269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59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 client reaches            the database directly</a:t>
            </a:r>
          </a:p>
        </p:txBody>
      </p:sp>
      <p:sp>
        <p:nvSpPr>
          <p:cNvPr name="TextBox 151" id="151"/>
          <p:cNvSpPr txBox="true"/>
          <p:nvPr/>
        </p:nvSpPr>
        <p:spPr>
          <a:xfrm rot="0">
            <a:off x="9139238" y="4957158"/>
            <a:ext cx="9525" cy="325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8"/>
              </a:lnSpc>
              <a:spcBef>
                <a:spcPct val="0"/>
              </a:spcBef>
            </a:pPr>
          </a:p>
        </p:txBody>
      </p:sp>
      <p:sp>
        <p:nvSpPr>
          <p:cNvPr name="TextBox 152" id="152"/>
          <p:cNvSpPr txBox="true"/>
          <p:nvPr/>
        </p:nvSpPr>
        <p:spPr>
          <a:xfrm rot="0">
            <a:off x="240389" y="2284286"/>
            <a:ext cx="6243234" cy="955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9594" indent="-129797" lvl="1">
              <a:lnSpc>
                <a:spcPts val="1683"/>
              </a:lnSpc>
              <a:buFont typeface="Arial"/>
              <a:buChar char="•"/>
            </a:pPr>
            <a:r>
              <a:rPr lang="en-US" b="true" sz="12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Web </a:t>
            </a:r>
            <a:r>
              <a:rPr lang="en-US" b="true" sz="12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App: </a:t>
            </a:r>
            <a:r>
              <a:rPr lang="en-US" sz="1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React 19 + Vite + TypeScript (Admin, Trainer, Employer views)</a:t>
            </a:r>
          </a:p>
          <a:p>
            <a:pPr algn="l" marL="259594" indent="-129797" lvl="1">
              <a:lnSpc>
                <a:spcPts val="1683"/>
              </a:lnSpc>
              <a:buFont typeface="Arial"/>
              <a:buChar char="•"/>
            </a:pPr>
            <a:r>
              <a:rPr lang="en-US" b="true" sz="12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Mobile App: </a:t>
            </a:r>
            <a:r>
              <a:rPr lang="en-US" sz="1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Capacitor-wrapped native Android build of the same web app</a:t>
            </a:r>
          </a:p>
          <a:p>
            <a:pPr algn="l" marL="259594" indent="-129797" lvl="1">
              <a:lnSpc>
                <a:spcPts val="1683"/>
              </a:lnSpc>
              <a:buFont typeface="Arial"/>
              <a:buChar char="•"/>
            </a:pPr>
            <a:r>
              <a:rPr lang="en-US" b="true" sz="12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Kiosk Terminal:</a:t>
            </a:r>
            <a:r>
              <a:rPr lang="en-US" sz="1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local UI running on http://localhost, driven by the ESP32 hardware</a:t>
            </a:r>
          </a:p>
          <a:p>
            <a:pPr algn="l">
              <a:lnSpc>
                <a:spcPts val="983"/>
              </a:lnSpc>
            </a:pPr>
          </a:p>
        </p:txBody>
      </p:sp>
      <p:sp>
        <p:nvSpPr>
          <p:cNvPr name="TextBox 153" id="153"/>
          <p:cNvSpPr txBox="true"/>
          <p:nvPr/>
        </p:nvSpPr>
        <p:spPr>
          <a:xfrm rot="0">
            <a:off x="297196" y="3399911"/>
            <a:ext cx="1463008" cy="27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1"/>
              </a:lnSpc>
            </a:pPr>
            <a:r>
              <a:rPr lang="en-US" b="true" sz="195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BACKEND</a:t>
            </a:r>
          </a:p>
        </p:txBody>
      </p:sp>
      <p:sp>
        <p:nvSpPr>
          <p:cNvPr name="TextBox 154" id="154"/>
          <p:cNvSpPr txBox="true"/>
          <p:nvPr/>
        </p:nvSpPr>
        <p:spPr>
          <a:xfrm rot="0">
            <a:off x="243384" y="3661579"/>
            <a:ext cx="6243234" cy="116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9594" indent="-129797" lvl="1">
              <a:lnSpc>
                <a:spcPts val="1683"/>
              </a:lnSpc>
              <a:buFont typeface="Arial"/>
              <a:buChar char="•"/>
            </a:pPr>
            <a:r>
              <a:rPr lang="en-US" b="true" sz="12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Express </a:t>
            </a:r>
            <a:r>
              <a:rPr lang="en-US" b="true" sz="12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API:</a:t>
            </a:r>
            <a:r>
              <a:rPr lang="en-US" sz="1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one backend serving every client</a:t>
            </a:r>
          </a:p>
          <a:p>
            <a:pPr algn="l" marL="259594" indent="-129797" lvl="1">
              <a:lnSpc>
                <a:spcPts val="1683"/>
              </a:lnSpc>
              <a:buFont typeface="Arial"/>
              <a:buChar char="•"/>
            </a:pPr>
            <a:r>
              <a:rPr lang="en-US" b="true" sz="12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Auth middleware: </a:t>
            </a:r>
            <a:r>
              <a:rPr lang="en-US" sz="1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verifies Supabase JWT + role-based access (requireRole)</a:t>
            </a:r>
          </a:p>
          <a:p>
            <a:pPr algn="l" marL="259594" indent="-129797" lvl="1">
              <a:lnSpc>
                <a:spcPts val="1683"/>
              </a:lnSpc>
              <a:buFont typeface="Arial"/>
              <a:buChar char="•"/>
            </a:pPr>
            <a:r>
              <a:rPr lang="en-US" b="true" sz="12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34 route modules: </a:t>
            </a:r>
            <a:r>
              <a:rPr lang="en-US" sz="1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programmes, lessons, attendance, jobs, kiosk</a:t>
            </a:r>
          </a:p>
          <a:p>
            <a:pPr algn="l" marL="259594" indent="-129797" lvl="1">
              <a:lnSpc>
                <a:spcPts val="1683"/>
              </a:lnSpc>
              <a:buFont typeface="Arial"/>
              <a:buChar char="•"/>
            </a:pPr>
            <a:r>
              <a:rPr lang="en-US" b="true" sz="12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Core services: </a:t>
            </a:r>
            <a:r>
              <a:rPr lang="en-US" sz="1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certificate PDF + QR generation, RAG chatbot, face verification, analytics, skill-gap &amp; job matching</a:t>
            </a:r>
          </a:p>
          <a:p>
            <a:pPr algn="l">
              <a:lnSpc>
                <a:spcPts val="983"/>
              </a:lnSpc>
            </a:pPr>
          </a:p>
        </p:txBody>
      </p:sp>
      <p:sp>
        <p:nvSpPr>
          <p:cNvPr name="TextBox 155" id="155"/>
          <p:cNvSpPr txBox="true"/>
          <p:nvPr/>
        </p:nvSpPr>
        <p:spPr>
          <a:xfrm rot="0">
            <a:off x="112194" y="4991975"/>
            <a:ext cx="4259874" cy="27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1"/>
              </a:lnSpc>
            </a:pPr>
            <a:r>
              <a:rPr lang="en-US" b="true" sz="195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HARDWARE(KIOSK DEVICES)</a:t>
            </a:r>
          </a:p>
        </p:txBody>
      </p:sp>
      <p:sp>
        <p:nvSpPr>
          <p:cNvPr name="TextBox 156" id="156"/>
          <p:cNvSpPr txBox="true"/>
          <p:nvPr/>
        </p:nvSpPr>
        <p:spPr>
          <a:xfrm rot="0">
            <a:off x="243384" y="5253642"/>
            <a:ext cx="6243234" cy="116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9594" indent="-129797" lvl="1">
              <a:lnSpc>
                <a:spcPts val="1683"/>
              </a:lnSpc>
              <a:buFont typeface="Arial"/>
              <a:buChar char="•"/>
            </a:pPr>
            <a:r>
              <a:rPr lang="en-US" b="true" sz="12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</a:t>
            </a:r>
            <a:r>
              <a:rPr lang="en-US" b="true" sz="12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P32 DevKit: </a:t>
            </a:r>
            <a:r>
              <a:rPr lang="en-US" sz="1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RC522 RFID reader, OLED display, buzzer, push button</a:t>
            </a:r>
          </a:p>
          <a:p>
            <a:pPr algn="l" marL="259594" indent="-129797" lvl="1">
              <a:lnSpc>
                <a:spcPts val="1683"/>
              </a:lnSpc>
              <a:buFont typeface="Arial"/>
              <a:buChar char="•"/>
            </a:pPr>
            <a:r>
              <a:rPr lang="en-US" b="true" sz="12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ESP32-C</a:t>
            </a:r>
            <a:r>
              <a:rPr lang="en-US" b="true" sz="12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AM — </a:t>
            </a:r>
            <a:r>
              <a:rPr lang="en-US" sz="1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captures &amp; serves JPEG frames over LAN WiFi for face verification</a:t>
            </a:r>
          </a:p>
          <a:p>
            <a:pPr algn="l" marL="259594" indent="-129797" lvl="1">
              <a:lnSpc>
                <a:spcPts val="1683"/>
              </a:lnSpc>
              <a:buFont typeface="Arial"/>
              <a:buChar char="•"/>
            </a:pPr>
            <a:r>
              <a:rPr lang="en-US" b="true" sz="12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Connects to the Kiosk Terminal </a:t>
            </a:r>
            <a:r>
              <a:rPr lang="en-US" sz="1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via USB (Web Serial) + local HTTP</a:t>
            </a:r>
          </a:p>
          <a:p>
            <a:pPr algn="l">
              <a:lnSpc>
                <a:spcPts val="1683"/>
              </a:lnSpc>
            </a:pPr>
          </a:p>
          <a:p>
            <a:pPr algn="l">
              <a:lnSpc>
                <a:spcPts val="983"/>
              </a:lnSpc>
            </a:pPr>
          </a:p>
        </p:txBody>
      </p:sp>
      <p:sp>
        <p:nvSpPr>
          <p:cNvPr name="TextBox 157" id="157"/>
          <p:cNvSpPr txBox="true"/>
          <p:nvPr/>
        </p:nvSpPr>
        <p:spPr>
          <a:xfrm rot="0">
            <a:off x="240389" y="6464853"/>
            <a:ext cx="3364714" cy="27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1"/>
              </a:lnSpc>
            </a:pPr>
            <a:r>
              <a:rPr lang="en-US" b="true" sz="195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 &amp; INTEGRATIONS</a:t>
            </a:r>
          </a:p>
        </p:txBody>
      </p:sp>
      <p:sp>
        <p:nvSpPr>
          <p:cNvPr name="TextBox 158" id="158"/>
          <p:cNvSpPr txBox="true"/>
          <p:nvPr/>
        </p:nvSpPr>
        <p:spPr>
          <a:xfrm rot="0">
            <a:off x="246380" y="6726520"/>
            <a:ext cx="6243234" cy="83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9082" indent="-129541" lvl="1">
              <a:lnSpc>
                <a:spcPts val="1680"/>
              </a:lnSpc>
              <a:buFont typeface="Arial"/>
              <a:buChar char="•"/>
            </a:pPr>
            <a:r>
              <a:rPr lang="en-US" b="true" sz="1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Supabase Postgres + pgvector: </a:t>
            </a: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23 tables with row-level security (RLS)</a:t>
            </a:r>
          </a:p>
          <a:p>
            <a:pPr algn="l" marL="259082" indent="-129541" lvl="1">
              <a:lnSpc>
                <a:spcPts val="1680"/>
              </a:lnSpc>
              <a:buFont typeface="Arial"/>
              <a:buChar char="•"/>
            </a:pPr>
            <a:r>
              <a:rPr lang="en-US" b="true" sz="1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Supabase Auth </a:t>
            </a: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(JWT issuer)</a:t>
            </a:r>
            <a:r>
              <a:rPr lang="en-US" b="true" sz="1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+ Supabase Storage </a:t>
            </a: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(PDFs, images)</a:t>
            </a:r>
          </a:p>
          <a:p>
            <a:pPr algn="l" marL="259082" indent="-129541" lvl="1">
              <a:lnSpc>
                <a:spcPts val="1680"/>
              </a:lnSpc>
              <a:buFont typeface="Arial"/>
              <a:buChar char="•"/>
            </a:pPr>
            <a:r>
              <a:rPr lang="en-US" b="true" sz="1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Groq</a:t>
            </a:r>
            <a:r>
              <a:rPr lang="en-US" b="true" sz="1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: </a:t>
            </a: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powers the RAG chatbot</a:t>
            </a:r>
          </a:p>
          <a:p>
            <a:pPr algn="l" marL="259082" indent="-129541" lvl="1">
              <a:lnSpc>
                <a:spcPts val="1680"/>
              </a:lnSpc>
              <a:buFont typeface="Arial"/>
              <a:buChar char="•"/>
            </a:pPr>
            <a:r>
              <a:rPr lang="en-US" b="true" sz="1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Backblaze B2: </a:t>
            </a: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stores lesson video content, served via presigned URLs</a:t>
            </a:r>
          </a:p>
        </p:txBody>
      </p:sp>
      <p:grpSp>
        <p:nvGrpSpPr>
          <p:cNvPr name="Group 159" id="159"/>
          <p:cNvGrpSpPr/>
          <p:nvPr/>
        </p:nvGrpSpPr>
        <p:grpSpPr>
          <a:xfrm rot="0">
            <a:off x="189915" y="7900755"/>
            <a:ext cx="6430054" cy="1611103"/>
            <a:chOff x="0" y="0"/>
            <a:chExt cx="2426634" cy="608013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2426634" cy="608013"/>
            </a:xfrm>
            <a:custGeom>
              <a:avLst/>
              <a:gdLst/>
              <a:ahLst/>
              <a:cxnLst/>
              <a:rect r="r" b="b" t="t" l="l"/>
              <a:pathLst>
                <a:path h="608013" w="2426634">
                  <a:moveTo>
                    <a:pt x="22876" y="0"/>
                  </a:moveTo>
                  <a:lnTo>
                    <a:pt x="2403757" y="0"/>
                  </a:lnTo>
                  <a:cubicBezTo>
                    <a:pt x="2409824" y="0"/>
                    <a:pt x="2415643" y="2410"/>
                    <a:pt x="2419933" y="6700"/>
                  </a:cubicBezTo>
                  <a:cubicBezTo>
                    <a:pt x="2424224" y="10990"/>
                    <a:pt x="2426634" y="16809"/>
                    <a:pt x="2426634" y="22876"/>
                  </a:cubicBezTo>
                  <a:lnTo>
                    <a:pt x="2426634" y="585137"/>
                  </a:lnTo>
                  <a:cubicBezTo>
                    <a:pt x="2426634" y="597771"/>
                    <a:pt x="2416392" y="608013"/>
                    <a:pt x="2403757" y="608013"/>
                  </a:cubicBezTo>
                  <a:lnTo>
                    <a:pt x="22876" y="608013"/>
                  </a:lnTo>
                  <a:cubicBezTo>
                    <a:pt x="10242" y="608013"/>
                    <a:pt x="0" y="597771"/>
                    <a:pt x="0" y="585137"/>
                  </a:cubicBezTo>
                  <a:lnTo>
                    <a:pt x="0" y="22876"/>
                  </a:lnTo>
                  <a:cubicBezTo>
                    <a:pt x="0" y="10242"/>
                    <a:pt x="10242" y="0"/>
                    <a:pt x="22876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1" id="161"/>
            <p:cNvSpPr txBox="true"/>
            <p:nvPr/>
          </p:nvSpPr>
          <p:spPr>
            <a:xfrm>
              <a:off x="0" y="-38100"/>
              <a:ext cx="2426634" cy="646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9"/>
                </a:lnSpc>
              </a:pPr>
            </a:p>
          </p:txBody>
        </p:sp>
      </p:grpSp>
      <p:sp>
        <p:nvSpPr>
          <p:cNvPr name="Freeform 162" id="162"/>
          <p:cNvSpPr/>
          <p:nvPr/>
        </p:nvSpPr>
        <p:spPr>
          <a:xfrm flipH="false" flipV="false" rot="0">
            <a:off x="245005" y="7980524"/>
            <a:ext cx="569211" cy="526521"/>
          </a:xfrm>
          <a:custGeom>
            <a:avLst/>
            <a:gdLst/>
            <a:ahLst/>
            <a:cxnLst/>
            <a:rect r="r" b="b" t="t" l="l"/>
            <a:pathLst>
              <a:path h="526521" w="569211">
                <a:moveTo>
                  <a:pt x="0" y="0"/>
                </a:moveTo>
                <a:lnTo>
                  <a:pt x="569211" y="0"/>
                </a:lnTo>
                <a:lnTo>
                  <a:pt x="569211" y="526520"/>
                </a:lnTo>
                <a:lnTo>
                  <a:pt x="0" y="5265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3" id="163"/>
          <p:cNvSpPr/>
          <p:nvPr/>
        </p:nvSpPr>
        <p:spPr>
          <a:xfrm flipH="false" flipV="false" rot="0">
            <a:off x="887776" y="7973876"/>
            <a:ext cx="540757" cy="540757"/>
          </a:xfrm>
          <a:custGeom>
            <a:avLst/>
            <a:gdLst/>
            <a:ahLst/>
            <a:cxnLst/>
            <a:rect r="r" b="b" t="t" l="l"/>
            <a:pathLst>
              <a:path h="540757" w="540757">
                <a:moveTo>
                  <a:pt x="0" y="0"/>
                </a:moveTo>
                <a:lnTo>
                  <a:pt x="540757" y="0"/>
                </a:lnTo>
                <a:lnTo>
                  <a:pt x="540757" y="540757"/>
                </a:lnTo>
                <a:lnTo>
                  <a:pt x="0" y="5407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4" id="164"/>
          <p:cNvSpPr/>
          <p:nvPr/>
        </p:nvSpPr>
        <p:spPr>
          <a:xfrm flipH="false" flipV="false" rot="0">
            <a:off x="1501654" y="7973876"/>
            <a:ext cx="532035" cy="532035"/>
          </a:xfrm>
          <a:custGeom>
            <a:avLst/>
            <a:gdLst/>
            <a:ahLst/>
            <a:cxnLst/>
            <a:rect r="r" b="b" t="t" l="l"/>
            <a:pathLst>
              <a:path h="532035" w="532035">
                <a:moveTo>
                  <a:pt x="0" y="0"/>
                </a:moveTo>
                <a:lnTo>
                  <a:pt x="532035" y="0"/>
                </a:lnTo>
                <a:lnTo>
                  <a:pt x="532035" y="532035"/>
                </a:lnTo>
                <a:lnTo>
                  <a:pt x="0" y="5320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65" id="165"/>
          <p:cNvSpPr/>
          <p:nvPr/>
        </p:nvSpPr>
        <p:spPr>
          <a:xfrm flipH="false" flipV="false" rot="0">
            <a:off x="2077615" y="7952712"/>
            <a:ext cx="534110" cy="534110"/>
          </a:xfrm>
          <a:custGeom>
            <a:avLst/>
            <a:gdLst/>
            <a:ahLst/>
            <a:cxnLst/>
            <a:rect r="r" b="b" t="t" l="l"/>
            <a:pathLst>
              <a:path h="534110" w="534110">
                <a:moveTo>
                  <a:pt x="0" y="0"/>
                </a:moveTo>
                <a:lnTo>
                  <a:pt x="534110" y="0"/>
                </a:lnTo>
                <a:lnTo>
                  <a:pt x="534110" y="534110"/>
                </a:lnTo>
                <a:lnTo>
                  <a:pt x="0" y="53411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66" id="166"/>
          <p:cNvSpPr/>
          <p:nvPr/>
        </p:nvSpPr>
        <p:spPr>
          <a:xfrm flipH="false" flipV="false" rot="0">
            <a:off x="2757823" y="7969759"/>
            <a:ext cx="525524" cy="577499"/>
          </a:xfrm>
          <a:custGeom>
            <a:avLst/>
            <a:gdLst/>
            <a:ahLst/>
            <a:cxnLst/>
            <a:rect r="r" b="b" t="t" l="l"/>
            <a:pathLst>
              <a:path h="577499" w="525524">
                <a:moveTo>
                  <a:pt x="0" y="0"/>
                </a:moveTo>
                <a:lnTo>
                  <a:pt x="525523" y="0"/>
                </a:lnTo>
                <a:lnTo>
                  <a:pt x="525523" y="577498"/>
                </a:lnTo>
                <a:lnTo>
                  <a:pt x="0" y="57749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7" id="167"/>
          <p:cNvSpPr/>
          <p:nvPr/>
        </p:nvSpPr>
        <p:spPr>
          <a:xfrm flipH="false" flipV="false" rot="0">
            <a:off x="3343158" y="8007035"/>
            <a:ext cx="540757" cy="540757"/>
          </a:xfrm>
          <a:custGeom>
            <a:avLst/>
            <a:gdLst/>
            <a:ahLst/>
            <a:cxnLst/>
            <a:rect r="r" b="b" t="t" l="l"/>
            <a:pathLst>
              <a:path h="540757" w="540757">
                <a:moveTo>
                  <a:pt x="0" y="0"/>
                </a:moveTo>
                <a:lnTo>
                  <a:pt x="540757" y="0"/>
                </a:lnTo>
                <a:lnTo>
                  <a:pt x="540757" y="540757"/>
                </a:lnTo>
                <a:lnTo>
                  <a:pt x="0" y="54075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8" id="168"/>
          <p:cNvSpPr/>
          <p:nvPr/>
        </p:nvSpPr>
        <p:spPr>
          <a:xfrm flipH="false" flipV="false" rot="0">
            <a:off x="3939660" y="8013683"/>
            <a:ext cx="622366" cy="641815"/>
          </a:xfrm>
          <a:custGeom>
            <a:avLst/>
            <a:gdLst/>
            <a:ahLst/>
            <a:cxnLst/>
            <a:rect r="r" b="b" t="t" l="l"/>
            <a:pathLst>
              <a:path h="641815" w="622366">
                <a:moveTo>
                  <a:pt x="0" y="0"/>
                </a:moveTo>
                <a:lnTo>
                  <a:pt x="622367" y="0"/>
                </a:lnTo>
                <a:lnTo>
                  <a:pt x="622367" y="641815"/>
                </a:lnTo>
                <a:lnTo>
                  <a:pt x="0" y="64181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69" id="169"/>
          <p:cNvSpPr/>
          <p:nvPr/>
        </p:nvSpPr>
        <p:spPr>
          <a:xfrm flipH="false" flipV="false" rot="0">
            <a:off x="205739" y="8631735"/>
            <a:ext cx="743827" cy="743827"/>
          </a:xfrm>
          <a:custGeom>
            <a:avLst/>
            <a:gdLst/>
            <a:ahLst/>
            <a:cxnLst/>
            <a:rect r="r" b="b" t="t" l="l"/>
            <a:pathLst>
              <a:path h="743827" w="743827">
                <a:moveTo>
                  <a:pt x="0" y="0"/>
                </a:moveTo>
                <a:lnTo>
                  <a:pt x="743826" y="0"/>
                </a:lnTo>
                <a:lnTo>
                  <a:pt x="743826" y="743827"/>
                </a:lnTo>
                <a:lnTo>
                  <a:pt x="0" y="74382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70" id="170"/>
          <p:cNvSpPr/>
          <p:nvPr/>
        </p:nvSpPr>
        <p:spPr>
          <a:xfrm flipH="false" flipV="false" rot="0">
            <a:off x="814216" y="8677085"/>
            <a:ext cx="649522" cy="649522"/>
          </a:xfrm>
          <a:custGeom>
            <a:avLst/>
            <a:gdLst/>
            <a:ahLst/>
            <a:cxnLst/>
            <a:rect r="r" b="b" t="t" l="l"/>
            <a:pathLst>
              <a:path h="649522" w="649522">
                <a:moveTo>
                  <a:pt x="0" y="0"/>
                </a:moveTo>
                <a:lnTo>
                  <a:pt x="649522" y="0"/>
                </a:lnTo>
                <a:lnTo>
                  <a:pt x="649522" y="649522"/>
                </a:lnTo>
                <a:lnTo>
                  <a:pt x="0" y="64952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71" id="171"/>
          <p:cNvSpPr/>
          <p:nvPr/>
        </p:nvSpPr>
        <p:spPr>
          <a:xfrm flipH="false" flipV="false" rot="0">
            <a:off x="1428533" y="8680690"/>
            <a:ext cx="758508" cy="645917"/>
          </a:xfrm>
          <a:custGeom>
            <a:avLst/>
            <a:gdLst/>
            <a:ahLst/>
            <a:cxnLst/>
            <a:rect r="r" b="b" t="t" l="l"/>
            <a:pathLst>
              <a:path h="645917" w="758508">
                <a:moveTo>
                  <a:pt x="0" y="0"/>
                </a:moveTo>
                <a:lnTo>
                  <a:pt x="758508" y="0"/>
                </a:lnTo>
                <a:lnTo>
                  <a:pt x="758508" y="645917"/>
                </a:lnTo>
                <a:lnTo>
                  <a:pt x="0" y="64591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172" id="172"/>
          <p:cNvSpPr/>
          <p:nvPr/>
        </p:nvSpPr>
        <p:spPr>
          <a:xfrm flipH="false" flipV="false" rot="0">
            <a:off x="2298899" y="8737698"/>
            <a:ext cx="531900" cy="531900"/>
          </a:xfrm>
          <a:custGeom>
            <a:avLst/>
            <a:gdLst/>
            <a:ahLst/>
            <a:cxnLst/>
            <a:rect r="r" b="b" t="t" l="l"/>
            <a:pathLst>
              <a:path h="531900" w="531900">
                <a:moveTo>
                  <a:pt x="0" y="0"/>
                </a:moveTo>
                <a:lnTo>
                  <a:pt x="531901" y="0"/>
                </a:lnTo>
                <a:lnTo>
                  <a:pt x="531901" y="531900"/>
                </a:lnTo>
                <a:lnTo>
                  <a:pt x="0" y="5319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173" id="173"/>
          <p:cNvSpPr/>
          <p:nvPr/>
        </p:nvSpPr>
        <p:spPr>
          <a:xfrm flipH="false" flipV="false" rot="0">
            <a:off x="2886332" y="8262107"/>
            <a:ext cx="1485736" cy="1485736"/>
          </a:xfrm>
          <a:custGeom>
            <a:avLst/>
            <a:gdLst/>
            <a:ahLst/>
            <a:cxnLst/>
            <a:rect r="r" b="b" t="t" l="l"/>
            <a:pathLst>
              <a:path h="1485736" w="1485736">
                <a:moveTo>
                  <a:pt x="0" y="0"/>
                </a:moveTo>
                <a:lnTo>
                  <a:pt x="1485736" y="0"/>
                </a:lnTo>
                <a:lnTo>
                  <a:pt x="1485736" y="1485736"/>
                </a:lnTo>
                <a:lnTo>
                  <a:pt x="0" y="148573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174" id="174"/>
          <p:cNvSpPr/>
          <p:nvPr/>
        </p:nvSpPr>
        <p:spPr>
          <a:xfrm flipH="false" flipV="false" rot="0">
            <a:off x="4619177" y="7960504"/>
            <a:ext cx="662327" cy="662327"/>
          </a:xfrm>
          <a:custGeom>
            <a:avLst/>
            <a:gdLst/>
            <a:ahLst/>
            <a:cxnLst/>
            <a:rect r="r" b="b" t="t" l="l"/>
            <a:pathLst>
              <a:path h="662327" w="662327">
                <a:moveTo>
                  <a:pt x="0" y="0"/>
                </a:moveTo>
                <a:lnTo>
                  <a:pt x="662327" y="0"/>
                </a:lnTo>
                <a:lnTo>
                  <a:pt x="662327" y="662327"/>
                </a:lnTo>
                <a:lnTo>
                  <a:pt x="0" y="662327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175" id="175"/>
          <p:cNvSpPr/>
          <p:nvPr/>
        </p:nvSpPr>
        <p:spPr>
          <a:xfrm flipH="false" flipV="false" rot="0">
            <a:off x="5051313" y="8645670"/>
            <a:ext cx="792728" cy="792728"/>
          </a:xfrm>
          <a:custGeom>
            <a:avLst/>
            <a:gdLst/>
            <a:ahLst/>
            <a:cxnLst/>
            <a:rect r="r" b="b" t="t" l="l"/>
            <a:pathLst>
              <a:path h="792728" w="792728">
                <a:moveTo>
                  <a:pt x="0" y="0"/>
                </a:moveTo>
                <a:lnTo>
                  <a:pt x="792727" y="0"/>
                </a:lnTo>
                <a:lnTo>
                  <a:pt x="792727" y="792728"/>
                </a:lnTo>
                <a:lnTo>
                  <a:pt x="0" y="792728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176" id="176"/>
          <p:cNvSpPr/>
          <p:nvPr/>
        </p:nvSpPr>
        <p:spPr>
          <a:xfrm flipH="false" flipV="false" rot="0">
            <a:off x="4426371" y="8756027"/>
            <a:ext cx="610256" cy="610256"/>
          </a:xfrm>
          <a:custGeom>
            <a:avLst/>
            <a:gdLst/>
            <a:ahLst/>
            <a:cxnLst/>
            <a:rect r="r" b="b" t="t" l="l"/>
            <a:pathLst>
              <a:path h="610256" w="610256">
                <a:moveTo>
                  <a:pt x="0" y="0"/>
                </a:moveTo>
                <a:lnTo>
                  <a:pt x="610256" y="0"/>
                </a:lnTo>
                <a:lnTo>
                  <a:pt x="610256" y="610257"/>
                </a:lnTo>
                <a:lnTo>
                  <a:pt x="0" y="610257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177" id="177"/>
          <p:cNvSpPr/>
          <p:nvPr/>
        </p:nvSpPr>
        <p:spPr>
          <a:xfrm flipH="false" flipV="false" rot="0">
            <a:off x="5844040" y="8680690"/>
            <a:ext cx="686891" cy="686891"/>
          </a:xfrm>
          <a:custGeom>
            <a:avLst/>
            <a:gdLst/>
            <a:ahLst/>
            <a:cxnLst/>
            <a:rect r="r" b="b" t="t" l="l"/>
            <a:pathLst>
              <a:path h="686891" w="686891">
                <a:moveTo>
                  <a:pt x="0" y="0"/>
                </a:moveTo>
                <a:lnTo>
                  <a:pt x="686891" y="0"/>
                </a:lnTo>
                <a:lnTo>
                  <a:pt x="686891" y="686890"/>
                </a:lnTo>
                <a:lnTo>
                  <a:pt x="0" y="68689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178" id="178"/>
          <p:cNvSpPr/>
          <p:nvPr/>
        </p:nvSpPr>
        <p:spPr>
          <a:xfrm flipH="false" flipV="false" rot="0">
            <a:off x="5341315" y="8057245"/>
            <a:ext cx="1227121" cy="448666"/>
          </a:xfrm>
          <a:custGeom>
            <a:avLst/>
            <a:gdLst/>
            <a:ahLst/>
            <a:cxnLst/>
            <a:rect r="r" b="b" t="t" l="l"/>
            <a:pathLst>
              <a:path h="448666" w="1227121">
                <a:moveTo>
                  <a:pt x="0" y="0"/>
                </a:moveTo>
                <a:lnTo>
                  <a:pt x="1227122" y="0"/>
                </a:lnTo>
                <a:lnTo>
                  <a:pt x="1227122" y="448666"/>
                </a:lnTo>
                <a:lnTo>
                  <a:pt x="0" y="448666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grpSp>
        <p:nvGrpSpPr>
          <p:cNvPr name="Group 179" id="179"/>
          <p:cNvGrpSpPr/>
          <p:nvPr/>
        </p:nvGrpSpPr>
        <p:grpSpPr>
          <a:xfrm rot="0">
            <a:off x="912253" y="-118748"/>
            <a:ext cx="16426778" cy="1711123"/>
            <a:chOff x="0" y="0"/>
            <a:chExt cx="21945600" cy="228600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104775"/>
              <a:ext cx="21945600" cy="2390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0F2B54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TECHNICAL APPROACH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2253" y="-118748"/>
            <a:ext cx="16426778" cy="1711123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21945600" cy="2390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0F2B54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FEASIBILITY AND VIABILITY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640884" y="2010"/>
            <a:ext cx="3368126" cy="1590365"/>
            <a:chOff x="0" y="0"/>
            <a:chExt cx="4499699" cy="21246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3600645" y="9900740"/>
            <a:ext cx="2079033" cy="95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54"/>
              </a:lnSpc>
            </a:pPr>
            <a:r>
              <a:rPr lang="en-US" sz="62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programme feedback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2063" y="9959660"/>
            <a:ext cx="4748384" cy="19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19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@SIH Idea Submission • KaushalSetu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412735" y="9861776"/>
            <a:ext cx="93653" cy="189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429"/>
              </a:lnSpc>
            </a:pPr>
            <a:r>
              <a:rPr lang="en-US" sz="119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152451" y="9693164"/>
            <a:ext cx="4043230" cy="423543"/>
            <a:chOff x="0" y="0"/>
            <a:chExt cx="5689600" cy="5960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689600" cy="596006"/>
            </a:xfrm>
            <a:custGeom>
              <a:avLst/>
              <a:gdLst/>
              <a:ahLst/>
              <a:cxnLst/>
              <a:rect r="r" b="b" t="t" l="l"/>
              <a:pathLst>
                <a:path h="596006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596006"/>
                  </a:lnTo>
                  <a:lnTo>
                    <a:pt x="0" y="5960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746" r="0" b="-1472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5689600" cy="596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99"/>
                </a:lnSpc>
              </a:pPr>
              <a:r>
                <a:rPr lang="en-US" sz="19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4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81798" y="159643"/>
            <a:ext cx="2170336" cy="1326409"/>
          </a:xfrm>
          <a:custGeom>
            <a:avLst/>
            <a:gdLst/>
            <a:ahLst/>
            <a:cxnLst/>
            <a:rect r="r" b="b" t="t" l="l"/>
            <a:pathLst>
              <a:path h="1326409" w="2170336">
                <a:moveTo>
                  <a:pt x="0" y="0"/>
                </a:moveTo>
                <a:lnTo>
                  <a:pt x="2170336" y="0"/>
                </a:lnTo>
                <a:lnTo>
                  <a:pt x="2170336" y="1326408"/>
                </a:lnTo>
                <a:lnTo>
                  <a:pt x="0" y="13264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561570" y="1565209"/>
            <a:ext cx="4869962" cy="2849483"/>
            <a:chOff x="0" y="0"/>
            <a:chExt cx="1231317" cy="7204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31317" cy="720461"/>
            </a:xfrm>
            <a:custGeom>
              <a:avLst/>
              <a:gdLst/>
              <a:ahLst/>
              <a:cxnLst/>
              <a:rect r="r" b="b" t="t" l="l"/>
              <a:pathLst>
                <a:path h="720461" w="1231317">
                  <a:moveTo>
                    <a:pt x="22256" y="0"/>
                  </a:moveTo>
                  <a:lnTo>
                    <a:pt x="1209061" y="0"/>
                  </a:lnTo>
                  <a:cubicBezTo>
                    <a:pt x="1221352" y="0"/>
                    <a:pt x="1231317" y="9964"/>
                    <a:pt x="1231317" y="22256"/>
                  </a:cubicBezTo>
                  <a:lnTo>
                    <a:pt x="1231317" y="698204"/>
                  </a:lnTo>
                  <a:cubicBezTo>
                    <a:pt x="1231317" y="710496"/>
                    <a:pt x="1221352" y="720461"/>
                    <a:pt x="1209061" y="720461"/>
                  </a:cubicBezTo>
                  <a:lnTo>
                    <a:pt x="22256" y="720461"/>
                  </a:lnTo>
                  <a:cubicBezTo>
                    <a:pt x="9964" y="720461"/>
                    <a:pt x="0" y="710496"/>
                    <a:pt x="0" y="698204"/>
                  </a:cubicBezTo>
                  <a:lnTo>
                    <a:pt x="0" y="22256"/>
                  </a:lnTo>
                  <a:cubicBezTo>
                    <a:pt x="0" y="9964"/>
                    <a:pt x="9964" y="0"/>
                    <a:pt x="22256" y="0"/>
                  </a:cubicBezTo>
                  <a:close/>
                </a:path>
              </a:pathLst>
            </a:custGeom>
            <a:solidFill>
              <a:srgbClr val="D9F4CD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231317" cy="768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79519" y="1565209"/>
            <a:ext cx="5220065" cy="2849483"/>
            <a:chOff x="0" y="0"/>
            <a:chExt cx="1319837" cy="72046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19836" cy="720461"/>
            </a:xfrm>
            <a:custGeom>
              <a:avLst/>
              <a:gdLst/>
              <a:ahLst/>
              <a:cxnLst/>
              <a:rect r="r" b="b" t="t" l="l"/>
              <a:pathLst>
                <a:path h="720461" w="1319836">
                  <a:moveTo>
                    <a:pt x="20764" y="0"/>
                  </a:moveTo>
                  <a:lnTo>
                    <a:pt x="1299073" y="0"/>
                  </a:lnTo>
                  <a:cubicBezTo>
                    <a:pt x="1304580" y="0"/>
                    <a:pt x="1309861" y="2188"/>
                    <a:pt x="1313755" y="6081"/>
                  </a:cubicBezTo>
                  <a:cubicBezTo>
                    <a:pt x="1317649" y="9975"/>
                    <a:pt x="1319836" y="15257"/>
                    <a:pt x="1319836" y="20764"/>
                  </a:cubicBezTo>
                  <a:lnTo>
                    <a:pt x="1319836" y="699697"/>
                  </a:lnTo>
                  <a:cubicBezTo>
                    <a:pt x="1319836" y="705204"/>
                    <a:pt x="1317649" y="710485"/>
                    <a:pt x="1313755" y="714379"/>
                  </a:cubicBezTo>
                  <a:cubicBezTo>
                    <a:pt x="1309861" y="718273"/>
                    <a:pt x="1304580" y="720461"/>
                    <a:pt x="1299073" y="720461"/>
                  </a:cubicBezTo>
                  <a:lnTo>
                    <a:pt x="20764" y="720461"/>
                  </a:lnTo>
                  <a:cubicBezTo>
                    <a:pt x="15257" y="720461"/>
                    <a:pt x="9975" y="718273"/>
                    <a:pt x="6081" y="714379"/>
                  </a:cubicBezTo>
                  <a:cubicBezTo>
                    <a:pt x="2188" y="710485"/>
                    <a:pt x="0" y="705204"/>
                    <a:pt x="0" y="699697"/>
                  </a:cubicBezTo>
                  <a:lnTo>
                    <a:pt x="0" y="20764"/>
                  </a:lnTo>
                  <a:cubicBezTo>
                    <a:pt x="0" y="15257"/>
                    <a:pt x="2188" y="9975"/>
                    <a:pt x="6081" y="6081"/>
                  </a:cubicBezTo>
                  <a:cubicBezTo>
                    <a:pt x="9975" y="2188"/>
                    <a:pt x="15257" y="0"/>
                    <a:pt x="20764" y="0"/>
                  </a:cubicBezTo>
                  <a:close/>
                </a:path>
              </a:pathLst>
            </a:custGeom>
            <a:solidFill>
              <a:srgbClr val="F5E1C8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319837" cy="768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930273" y="1550692"/>
            <a:ext cx="4869962" cy="2849483"/>
            <a:chOff x="0" y="0"/>
            <a:chExt cx="1231317" cy="72046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31317" cy="720461"/>
            </a:xfrm>
            <a:custGeom>
              <a:avLst/>
              <a:gdLst/>
              <a:ahLst/>
              <a:cxnLst/>
              <a:rect r="r" b="b" t="t" l="l"/>
              <a:pathLst>
                <a:path h="720461" w="1231317">
                  <a:moveTo>
                    <a:pt x="22256" y="0"/>
                  </a:moveTo>
                  <a:lnTo>
                    <a:pt x="1209061" y="0"/>
                  </a:lnTo>
                  <a:cubicBezTo>
                    <a:pt x="1221352" y="0"/>
                    <a:pt x="1231317" y="9964"/>
                    <a:pt x="1231317" y="22256"/>
                  </a:cubicBezTo>
                  <a:lnTo>
                    <a:pt x="1231317" y="698204"/>
                  </a:lnTo>
                  <a:cubicBezTo>
                    <a:pt x="1231317" y="710496"/>
                    <a:pt x="1221352" y="720461"/>
                    <a:pt x="1209061" y="720461"/>
                  </a:cubicBezTo>
                  <a:lnTo>
                    <a:pt x="22256" y="720461"/>
                  </a:lnTo>
                  <a:cubicBezTo>
                    <a:pt x="9964" y="720461"/>
                    <a:pt x="0" y="710496"/>
                    <a:pt x="0" y="698204"/>
                  </a:cubicBezTo>
                  <a:lnTo>
                    <a:pt x="0" y="22256"/>
                  </a:lnTo>
                  <a:cubicBezTo>
                    <a:pt x="0" y="9964"/>
                    <a:pt x="9964" y="0"/>
                    <a:pt x="22256" y="0"/>
                  </a:cubicBezTo>
                  <a:close/>
                </a:path>
              </a:pathLst>
            </a:custGeom>
            <a:solidFill>
              <a:srgbClr val="C2DC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231317" cy="768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30734" y="4909992"/>
            <a:ext cx="10258912" cy="4607034"/>
            <a:chOff x="0" y="0"/>
            <a:chExt cx="2593854" cy="116483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93854" cy="1164838"/>
            </a:xfrm>
            <a:custGeom>
              <a:avLst/>
              <a:gdLst/>
              <a:ahLst/>
              <a:cxnLst/>
              <a:rect r="r" b="b" t="t" l="l"/>
              <a:pathLst>
                <a:path h="1164838" w="2593854">
                  <a:moveTo>
                    <a:pt x="10565" y="0"/>
                  </a:moveTo>
                  <a:lnTo>
                    <a:pt x="2583289" y="0"/>
                  </a:lnTo>
                  <a:cubicBezTo>
                    <a:pt x="2589124" y="0"/>
                    <a:pt x="2593854" y="4730"/>
                    <a:pt x="2593854" y="10565"/>
                  </a:cubicBezTo>
                  <a:lnTo>
                    <a:pt x="2593854" y="1154273"/>
                  </a:lnTo>
                  <a:cubicBezTo>
                    <a:pt x="2593854" y="1160108"/>
                    <a:pt x="2589124" y="1164838"/>
                    <a:pt x="2583289" y="1164838"/>
                  </a:cubicBezTo>
                  <a:lnTo>
                    <a:pt x="10565" y="1164838"/>
                  </a:lnTo>
                  <a:cubicBezTo>
                    <a:pt x="4730" y="1164838"/>
                    <a:pt x="0" y="1160108"/>
                    <a:pt x="0" y="1154273"/>
                  </a:cubicBezTo>
                  <a:lnTo>
                    <a:pt x="0" y="10565"/>
                  </a:lnTo>
                  <a:cubicBezTo>
                    <a:pt x="0" y="4730"/>
                    <a:pt x="4730" y="0"/>
                    <a:pt x="10565" y="0"/>
                  </a:cubicBezTo>
                  <a:close/>
                </a:path>
              </a:pathLst>
            </a:custGeom>
            <a:solidFill>
              <a:srgbClr val="FFBD5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593854" cy="12124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aphicFrame>
        <p:nvGraphicFramePr>
          <p:cNvPr name="Table 26" id="26"/>
          <p:cNvGraphicFramePr>
            <a:graphicFrameLocks noGrp="true"/>
          </p:cNvGraphicFramePr>
          <p:nvPr/>
        </p:nvGraphicFramePr>
        <p:xfrm>
          <a:off x="11055197" y="5379592"/>
          <a:ext cx="7116762" cy="4189412"/>
        </p:xfrm>
        <a:graphic>
          <a:graphicData uri="http://schemas.openxmlformats.org/drawingml/2006/table">
            <a:tbl>
              <a:tblPr/>
              <a:tblGrid>
                <a:gridCol w="2047106"/>
                <a:gridCol w="1511276"/>
                <a:gridCol w="1779191"/>
                <a:gridCol w="1779191"/>
              </a:tblGrid>
              <a:tr h="8200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Capability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3A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Our Solution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3A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Manual Attendance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3A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Standard Biometric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3AB"/>
                    </a:solidFill>
                  </a:tcPr>
                </a:tc>
              </a:tr>
              <a:tr h="6738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Prevents proxy attendance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</a:tr>
              <a:tr h="6738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Real-time digital records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</a:tr>
              <a:tr h="6738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Works Offline</a:t>
                      </a:r>
                      <a:endParaRPr lang="en-US" sz="1100"/>
                    </a:p>
                    <a:p>
                      <a:pPr algn="l">
                        <a:lnSpc>
                          <a:spcPts val="2160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</a:tr>
              <a:tr h="6738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Verified Skill Passport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</a:tr>
              <a:tr h="6738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Low Infrastructure Cost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</a:tr>
            </a:tbl>
          </a:graphicData>
        </a:graphic>
      </p:graphicFrame>
      <p:grpSp>
        <p:nvGrpSpPr>
          <p:cNvPr name="Group 27" id="27"/>
          <p:cNvGrpSpPr/>
          <p:nvPr/>
        </p:nvGrpSpPr>
        <p:grpSpPr>
          <a:xfrm rot="0">
            <a:off x="10973268" y="4691995"/>
            <a:ext cx="7272548" cy="659022"/>
            <a:chOff x="0" y="0"/>
            <a:chExt cx="2141483" cy="1940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41483" cy="194056"/>
            </a:xfrm>
            <a:custGeom>
              <a:avLst/>
              <a:gdLst/>
              <a:ahLst/>
              <a:cxnLst/>
              <a:rect r="r" b="b" t="t" l="l"/>
              <a:pathLst>
                <a:path h="194056" w="2141483">
                  <a:moveTo>
                    <a:pt x="14904" y="0"/>
                  </a:moveTo>
                  <a:lnTo>
                    <a:pt x="2126579" y="0"/>
                  </a:lnTo>
                  <a:cubicBezTo>
                    <a:pt x="2130532" y="0"/>
                    <a:pt x="2134323" y="1570"/>
                    <a:pt x="2137118" y="4365"/>
                  </a:cubicBezTo>
                  <a:cubicBezTo>
                    <a:pt x="2139913" y="7160"/>
                    <a:pt x="2141483" y="10951"/>
                    <a:pt x="2141483" y="14904"/>
                  </a:cubicBezTo>
                  <a:lnTo>
                    <a:pt x="2141483" y="179153"/>
                  </a:lnTo>
                  <a:cubicBezTo>
                    <a:pt x="2141483" y="183105"/>
                    <a:pt x="2139913" y="186896"/>
                    <a:pt x="2137118" y="189691"/>
                  </a:cubicBezTo>
                  <a:cubicBezTo>
                    <a:pt x="2134323" y="192486"/>
                    <a:pt x="2130532" y="194056"/>
                    <a:pt x="2126579" y="194056"/>
                  </a:cubicBezTo>
                  <a:lnTo>
                    <a:pt x="14904" y="194056"/>
                  </a:lnTo>
                  <a:cubicBezTo>
                    <a:pt x="10951" y="194056"/>
                    <a:pt x="7160" y="192486"/>
                    <a:pt x="4365" y="189691"/>
                  </a:cubicBezTo>
                  <a:cubicBezTo>
                    <a:pt x="1570" y="186896"/>
                    <a:pt x="0" y="183105"/>
                    <a:pt x="0" y="179153"/>
                  </a:cubicBezTo>
                  <a:lnTo>
                    <a:pt x="0" y="14904"/>
                  </a:lnTo>
                  <a:cubicBezTo>
                    <a:pt x="0" y="10951"/>
                    <a:pt x="1570" y="7160"/>
                    <a:pt x="4365" y="4365"/>
                  </a:cubicBezTo>
                  <a:cubicBezTo>
                    <a:pt x="7160" y="1570"/>
                    <a:pt x="10951" y="0"/>
                    <a:pt x="14904" y="0"/>
                  </a:cubicBezTo>
                  <a:close/>
                </a:path>
              </a:pathLst>
            </a:custGeom>
            <a:solidFill>
              <a:srgbClr val="DBCDFA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2141483" cy="241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639444" y="5081442"/>
            <a:ext cx="9875325" cy="1451183"/>
          </a:xfrm>
          <a:custGeom>
            <a:avLst/>
            <a:gdLst/>
            <a:ahLst/>
            <a:cxnLst/>
            <a:rect r="r" b="b" t="t" l="l"/>
            <a:pathLst>
              <a:path h="1451183" w="9875325">
                <a:moveTo>
                  <a:pt x="0" y="0"/>
                </a:moveTo>
                <a:lnTo>
                  <a:pt x="9875325" y="0"/>
                </a:lnTo>
                <a:lnTo>
                  <a:pt x="9875325" y="1451183"/>
                </a:lnTo>
                <a:lnTo>
                  <a:pt x="0" y="14511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81" t="-206210" r="0" b="-378245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683526" y="6646586"/>
            <a:ext cx="4996152" cy="2760839"/>
          </a:xfrm>
          <a:custGeom>
            <a:avLst/>
            <a:gdLst/>
            <a:ahLst/>
            <a:cxnLst/>
            <a:rect r="r" b="b" t="t" l="l"/>
            <a:pathLst>
              <a:path h="2760839" w="4996152">
                <a:moveTo>
                  <a:pt x="0" y="0"/>
                </a:moveTo>
                <a:lnTo>
                  <a:pt x="4996152" y="0"/>
                </a:lnTo>
                <a:lnTo>
                  <a:pt x="4996152" y="2760839"/>
                </a:lnTo>
                <a:lnTo>
                  <a:pt x="0" y="27608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12404" r="-94099" b="-138847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Freeform 32" id="32"/>
          <p:cNvSpPr/>
          <p:nvPr/>
        </p:nvSpPr>
        <p:spPr>
          <a:xfrm flipH="false" flipV="false" rot="0">
            <a:off x="5815628" y="6646586"/>
            <a:ext cx="4699141" cy="2760839"/>
          </a:xfrm>
          <a:custGeom>
            <a:avLst/>
            <a:gdLst/>
            <a:ahLst/>
            <a:cxnLst/>
            <a:rect r="r" b="b" t="t" l="l"/>
            <a:pathLst>
              <a:path h="2760839" w="4699141">
                <a:moveTo>
                  <a:pt x="0" y="0"/>
                </a:moveTo>
                <a:lnTo>
                  <a:pt x="4699141" y="0"/>
                </a:lnTo>
                <a:lnTo>
                  <a:pt x="4699141" y="2760839"/>
                </a:lnTo>
                <a:lnTo>
                  <a:pt x="0" y="27608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87384" r="-69224" b="-100648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grpSp>
        <p:nvGrpSpPr>
          <p:cNvPr name="Group 33" id="33"/>
          <p:cNvGrpSpPr/>
          <p:nvPr/>
        </p:nvGrpSpPr>
        <p:grpSpPr>
          <a:xfrm rot="0">
            <a:off x="683526" y="1677135"/>
            <a:ext cx="880613" cy="814553"/>
            <a:chOff x="0" y="0"/>
            <a:chExt cx="231931" cy="21453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31931" cy="214532"/>
            </a:xfrm>
            <a:custGeom>
              <a:avLst/>
              <a:gdLst/>
              <a:ahLst/>
              <a:cxnLst/>
              <a:rect r="r" b="b" t="t" l="l"/>
              <a:pathLst>
                <a:path h="214532" w="231931">
                  <a:moveTo>
                    <a:pt x="79124" y="0"/>
                  </a:moveTo>
                  <a:lnTo>
                    <a:pt x="152807" y="0"/>
                  </a:lnTo>
                  <a:cubicBezTo>
                    <a:pt x="196506" y="0"/>
                    <a:pt x="231931" y="35425"/>
                    <a:pt x="231931" y="79124"/>
                  </a:cubicBezTo>
                  <a:lnTo>
                    <a:pt x="231931" y="135409"/>
                  </a:lnTo>
                  <a:cubicBezTo>
                    <a:pt x="231931" y="179108"/>
                    <a:pt x="196506" y="214532"/>
                    <a:pt x="152807" y="214532"/>
                  </a:cubicBezTo>
                  <a:lnTo>
                    <a:pt x="79124" y="214532"/>
                  </a:lnTo>
                  <a:cubicBezTo>
                    <a:pt x="35425" y="214532"/>
                    <a:pt x="0" y="179108"/>
                    <a:pt x="0" y="135409"/>
                  </a:cubicBezTo>
                  <a:lnTo>
                    <a:pt x="0" y="79124"/>
                  </a:lnTo>
                  <a:cubicBezTo>
                    <a:pt x="0" y="35425"/>
                    <a:pt x="35425" y="0"/>
                    <a:pt x="79124" y="0"/>
                  </a:cubicBezTo>
                  <a:close/>
                </a:path>
              </a:pathLst>
            </a:custGeom>
            <a:solidFill>
              <a:srgbClr val="222624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231931" cy="243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756421" y="1748661"/>
            <a:ext cx="763636" cy="706363"/>
          </a:xfrm>
          <a:custGeom>
            <a:avLst/>
            <a:gdLst/>
            <a:ahLst/>
            <a:cxnLst/>
            <a:rect r="r" b="b" t="t" l="l"/>
            <a:pathLst>
              <a:path h="706363" w="763636">
                <a:moveTo>
                  <a:pt x="0" y="0"/>
                </a:moveTo>
                <a:lnTo>
                  <a:pt x="763636" y="0"/>
                </a:lnTo>
                <a:lnTo>
                  <a:pt x="763636" y="706363"/>
                </a:lnTo>
                <a:lnTo>
                  <a:pt x="0" y="7063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6784859" y="1713799"/>
            <a:ext cx="880613" cy="741226"/>
            <a:chOff x="0" y="0"/>
            <a:chExt cx="231931" cy="1952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31931" cy="195220"/>
            </a:xfrm>
            <a:custGeom>
              <a:avLst/>
              <a:gdLst/>
              <a:ahLst/>
              <a:cxnLst/>
              <a:rect r="r" b="b" t="t" l="l"/>
              <a:pathLst>
                <a:path h="195220" w="231931">
                  <a:moveTo>
                    <a:pt x="79124" y="0"/>
                  </a:moveTo>
                  <a:lnTo>
                    <a:pt x="152807" y="0"/>
                  </a:lnTo>
                  <a:cubicBezTo>
                    <a:pt x="196506" y="0"/>
                    <a:pt x="231931" y="35425"/>
                    <a:pt x="231931" y="79124"/>
                  </a:cubicBezTo>
                  <a:lnTo>
                    <a:pt x="231931" y="116096"/>
                  </a:lnTo>
                  <a:cubicBezTo>
                    <a:pt x="231931" y="159795"/>
                    <a:pt x="196506" y="195220"/>
                    <a:pt x="152807" y="195220"/>
                  </a:cubicBezTo>
                  <a:lnTo>
                    <a:pt x="79124" y="195220"/>
                  </a:lnTo>
                  <a:cubicBezTo>
                    <a:pt x="35425" y="195220"/>
                    <a:pt x="0" y="159795"/>
                    <a:pt x="0" y="116096"/>
                  </a:cubicBezTo>
                  <a:lnTo>
                    <a:pt x="0" y="79124"/>
                  </a:lnTo>
                  <a:cubicBezTo>
                    <a:pt x="0" y="35425"/>
                    <a:pt x="35425" y="0"/>
                    <a:pt x="79124" y="0"/>
                  </a:cubicBezTo>
                  <a:close/>
                </a:path>
              </a:pathLst>
            </a:custGeom>
            <a:solidFill>
              <a:srgbClr val="222624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231931" cy="2237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6926578" y="1793647"/>
            <a:ext cx="597174" cy="597174"/>
          </a:xfrm>
          <a:custGeom>
            <a:avLst/>
            <a:gdLst/>
            <a:ahLst/>
            <a:cxnLst/>
            <a:rect r="r" b="b" t="t" l="l"/>
            <a:pathLst>
              <a:path h="597174" w="597174">
                <a:moveTo>
                  <a:pt x="0" y="0"/>
                </a:moveTo>
                <a:lnTo>
                  <a:pt x="597174" y="0"/>
                </a:lnTo>
                <a:lnTo>
                  <a:pt x="597174" y="597173"/>
                </a:lnTo>
                <a:lnTo>
                  <a:pt x="0" y="59717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3053751" y="1703902"/>
            <a:ext cx="880613" cy="741226"/>
            <a:chOff x="0" y="0"/>
            <a:chExt cx="231931" cy="1952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31931" cy="195220"/>
            </a:xfrm>
            <a:custGeom>
              <a:avLst/>
              <a:gdLst/>
              <a:ahLst/>
              <a:cxnLst/>
              <a:rect r="r" b="b" t="t" l="l"/>
              <a:pathLst>
                <a:path h="195220" w="231931">
                  <a:moveTo>
                    <a:pt x="79124" y="0"/>
                  </a:moveTo>
                  <a:lnTo>
                    <a:pt x="152807" y="0"/>
                  </a:lnTo>
                  <a:cubicBezTo>
                    <a:pt x="196506" y="0"/>
                    <a:pt x="231931" y="35425"/>
                    <a:pt x="231931" y="79124"/>
                  </a:cubicBezTo>
                  <a:lnTo>
                    <a:pt x="231931" y="116096"/>
                  </a:lnTo>
                  <a:cubicBezTo>
                    <a:pt x="231931" y="159795"/>
                    <a:pt x="196506" y="195220"/>
                    <a:pt x="152807" y="195220"/>
                  </a:cubicBezTo>
                  <a:lnTo>
                    <a:pt x="79124" y="195220"/>
                  </a:lnTo>
                  <a:cubicBezTo>
                    <a:pt x="35425" y="195220"/>
                    <a:pt x="0" y="159795"/>
                    <a:pt x="0" y="116096"/>
                  </a:cubicBezTo>
                  <a:lnTo>
                    <a:pt x="0" y="79124"/>
                  </a:lnTo>
                  <a:cubicBezTo>
                    <a:pt x="0" y="35425"/>
                    <a:pt x="35425" y="0"/>
                    <a:pt x="79124" y="0"/>
                  </a:cubicBezTo>
                  <a:close/>
                </a:path>
              </a:pathLst>
            </a:custGeom>
            <a:solidFill>
              <a:srgbClr val="222624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231931" cy="2237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13152451" y="1652213"/>
            <a:ext cx="683212" cy="738608"/>
          </a:xfrm>
          <a:custGeom>
            <a:avLst/>
            <a:gdLst/>
            <a:ahLst/>
            <a:cxnLst/>
            <a:rect r="r" b="b" t="t" l="l"/>
            <a:pathLst>
              <a:path h="738608" w="683212">
                <a:moveTo>
                  <a:pt x="0" y="0"/>
                </a:moveTo>
                <a:lnTo>
                  <a:pt x="683213" y="0"/>
                </a:lnTo>
                <a:lnTo>
                  <a:pt x="683213" y="738607"/>
                </a:lnTo>
                <a:lnTo>
                  <a:pt x="0" y="7386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5" id="45"/>
          <p:cNvSpPr/>
          <p:nvPr/>
        </p:nvSpPr>
        <p:spPr>
          <a:xfrm flipV="true">
            <a:off x="5431532" y="2989951"/>
            <a:ext cx="1147987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6" id="46"/>
          <p:cNvSpPr/>
          <p:nvPr/>
        </p:nvSpPr>
        <p:spPr>
          <a:xfrm>
            <a:off x="11799584" y="2989951"/>
            <a:ext cx="1154972" cy="15295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7" id="47"/>
          <p:cNvSpPr/>
          <p:nvPr/>
        </p:nvSpPr>
        <p:spPr>
          <a:xfrm>
            <a:off x="1973823" y="2119459"/>
            <a:ext cx="2201203" cy="142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>
            <a:off x="8335747" y="2214617"/>
            <a:ext cx="2201203" cy="142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9" id="49"/>
          <p:cNvSpPr/>
          <p:nvPr/>
        </p:nvSpPr>
        <p:spPr>
          <a:xfrm>
            <a:off x="14340733" y="2248479"/>
            <a:ext cx="2201203" cy="142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>
            <a:off x="4050119" y="4644370"/>
            <a:ext cx="1408954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1" id="51"/>
          <p:cNvSpPr/>
          <p:nvPr/>
        </p:nvSpPr>
        <p:spPr>
          <a:xfrm flipH="false" flipV="false" rot="0">
            <a:off x="13494058" y="8970865"/>
            <a:ext cx="501781" cy="501781"/>
          </a:xfrm>
          <a:custGeom>
            <a:avLst/>
            <a:gdLst/>
            <a:ahLst/>
            <a:cxnLst/>
            <a:rect r="r" b="b" t="t" l="l"/>
            <a:pathLst>
              <a:path h="501781" w="501781">
                <a:moveTo>
                  <a:pt x="0" y="0"/>
                </a:moveTo>
                <a:lnTo>
                  <a:pt x="501781" y="0"/>
                </a:lnTo>
                <a:lnTo>
                  <a:pt x="501781" y="501781"/>
                </a:lnTo>
                <a:lnTo>
                  <a:pt x="0" y="5017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3494058" y="8289744"/>
            <a:ext cx="501781" cy="501781"/>
          </a:xfrm>
          <a:custGeom>
            <a:avLst/>
            <a:gdLst/>
            <a:ahLst/>
            <a:cxnLst/>
            <a:rect r="r" b="b" t="t" l="l"/>
            <a:pathLst>
              <a:path h="501781" w="501781">
                <a:moveTo>
                  <a:pt x="0" y="0"/>
                </a:moveTo>
                <a:lnTo>
                  <a:pt x="501781" y="0"/>
                </a:lnTo>
                <a:lnTo>
                  <a:pt x="501781" y="501781"/>
                </a:lnTo>
                <a:lnTo>
                  <a:pt x="0" y="5017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3494058" y="7619474"/>
            <a:ext cx="501781" cy="501781"/>
          </a:xfrm>
          <a:custGeom>
            <a:avLst/>
            <a:gdLst/>
            <a:ahLst/>
            <a:cxnLst/>
            <a:rect r="r" b="b" t="t" l="l"/>
            <a:pathLst>
              <a:path h="501781" w="501781">
                <a:moveTo>
                  <a:pt x="0" y="0"/>
                </a:moveTo>
                <a:lnTo>
                  <a:pt x="501781" y="0"/>
                </a:lnTo>
                <a:lnTo>
                  <a:pt x="501781" y="501781"/>
                </a:lnTo>
                <a:lnTo>
                  <a:pt x="0" y="5017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3494058" y="6944736"/>
            <a:ext cx="501781" cy="501781"/>
          </a:xfrm>
          <a:custGeom>
            <a:avLst/>
            <a:gdLst/>
            <a:ahLst/>
            <a:cxnLst/>
            <a:rect r="r" b="b" t="t" l="l"/>
            <a:pathLst>
              <a:path h="501781" w="501781">
                <a:moveTo>
                  <a:pt x="0" y="0"/>
                </a:moveTo>
                <a:lnTo>
                  <a:pt x="501781" y="0"/>
                </a:lnTo>
                <a:lnTo>
                  <a:pt x="501781" y="501782"/>
                </a:lnTo>
                <a:lnTo>
                  <a:pt x="0" y="5017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3494058" y="6266004"/>
            <a:ext cx="501781" cy="501781"/>
          </a:xfrm>
          <a:custGeom>
            <a:avLst/>
            <a:gdLst/>
            <a:ahLst/>
            <a:cxnLst/>
            <a:rect r="r" b="b" t="t" l="l"/>
            <a:pathLst>
              <a:path h="501781" w="501781">
                <a:moveTo>
                  <a:pt x="0" y="0"/>
                </a:moveTo>
                <a:lnTo>
                  <a:pt x="501781" y="0"/>
                </a:lnTo>
                <a:lnTo>
                  <a:pt x="501781" y="501781"/>
                </a:lnTo>
                <a:lnTo>
                  <a:pt x="0" y="5017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5205448" y="7619474"/>
            <a:ext cx="501781" cy="501781"/>
          </a:xfrm>
          <a:custGeom>
            <a:avLst/>
            <a:gdLst/>
            <a:ahLst/>
            <a:cxnLst/>
            <a:rect r="r" b="b" t="t" l="l"/>
            <a:pathLst>
              <a:path h="501781" w="501781">
                <a:moveTo>
                  <a:pt x="0" y="0"/>
                </a:moveTo>
                <a:lnTo>
                  <a:pt x="501781" y="0"/>
                </a:lnTo>
                <a:lnTo>
                  <a:pt x="501781" y="501781"/>
                </a:lnTo>
                <a:lnTo>
                  <a:pt x="0" y="5017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5205448" y="9015245"/>
            <a:ext cx="501781" cy="501781"/>
          </a:xfrm>
          <a:custGeom>
            <a:avLst/>
            <a:gdLst/>
            <a:ahLst/>
            <a:cxnLst/>
            <a:rect r="r" b="b" t="t" l="l"/>
            <a:pathLst>
              <a:path h="501781" w="501781">
                <a:moveTo>
                  <a:pt x="0" y="0"/>
                </a:moveTo>
                <a:lnTo>
                  <a:pt x="501781" y="0"/>
                </a:lnTo>
                <a:lnTo>
                  <a:pt x="501781" y="501781"/>
                </a:lnTo>
                <a:lnTo>
                  <a:pt x="0" y="5017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6910953" y="6281735"/>
            <a:ext cx="501781" cy="501781"/>
          </a:xfrm>
          <a:custGeom>
            <a:avLst/>
            <a:gdLst/>
            <a:ahLst/>
            <a:cxnLst/>
            <a:rect r="r" b="b" t="t" l="l"/>
            <a:pathLst>
              <a:path h="501781" w="501781">
                <a:moveTo>
                  <a:pt x="0" y="0"/>
                </a:moveTo>
                <a:lnTo>
                  <a:pt x="501782" y="0"/>
                </a:lnTo>
                <a:lnTo>
                  <a:pt x="501782" y="501781"/>
                </a:lnTo>
                <a:lnTo>
                  <a:pt x="0" y="5017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6910953" y="6972517"/>
            <a:ext cx="501781" cy="501781"/>
          </a:xfrm>
          <a:custGeom>
            <a:avLst/>
            <a:gdLst/>
            <a:ahLst/>
            <a:cxnLst/>
            <a:rect r="r" b="b" t="t" l="l"/>
            <a:pathLst>
              <a:path h="501781" w="501781">
                <a:moveTo>
                  <a:pt x="0" y="0"/>
                </a:moveTo>
                <a:lnTo>
                  <a:pt x="501782" y="0"/>
                </a:lnTo>
                <a:lnTo>
                  <a:pt x="501782" y="501781"/>
                </a:lnTo>
                <a:lnTo>
                  <a:pt x="0" y="5017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15205448" y="6252515"/>
            <a:ext cx="501968" cy="501967"/>
          </a:xfrm>
          <a:custGeom>
            <a:avLst/>
            <a:gdLst/>
            <a:ahLst/>
            <a:cxnLst/>
            <a:rect r="r" b="b" t="t" l="l"/>
            <a:pathLst>
              <a:path h="501967" w="501968">
                <a:moveTo>
                  <a:pt x="0" y="0"/>
                </a:moveTo>
                <a:lnTo>
                  <a:pt x="501967" y="0"/>
                </a:lnTo>
                <a:lnTo>
                  <a:pt x="501967" y="501968"/>
                </a:lnTo>
                <a:lnTo>
                  <a:pt x="0" y="50196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1" id="61"/>
          <p:cNvSpPr txBox="true"/>
          <p:nvPr/>
        </p:nvSpPr>
        <p:spPr>
          <a:xfrm rot="0">
            <a:off x="2240750" y="1560003"/>
            <a:ext cx="1615615" cy="522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2"/>
              </a:lnSpc>
              <a:spcBef>
                <a:spcPct val="0"/>
              </a:spcBef>
            </a:pPr>
            <a:r>
              <a:rPr lang="en-US" b="true" sz="304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</a:t>
            </a:r>
            <a:r>
              <a:rPr lang="en-US" b="true" sz="304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easibility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8213443" y="1672593"/>
            <a:ext cx="2301326" cy="522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2"/>
              </a:lnSpc>
              <a:spcBef>
                <a:spcPct val="0"/>
              </a:spcBef>
            </a:pPr>
            <a:r>
              <a:rPr lang="en-US" b="true" sz="304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</a:t>
            </a:r>
            <a:r>
              <a:rPr lang="en-US" b="true" sz="304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allenges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4305675" y="1668354"/>
            <a:ext cx="2301326" cy="522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2"/>
              </a:lnSpc>
              <a:spcBef>
                <a:spcPct val="0"/>
              </a:spcBef>
            </a:pPr>
            <a:r>
              <a:rPr lang="en-US" b="true" sz="304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  <a:r>
              <a:rPr lang="en-US" b="true" sz="304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olution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639444" y="3183245"/>
            <a:ext cx="4869962" cy="34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0259" indent="-210129" lvl="1">
              <a:lnSpc>
                <a:spcPts val="2335"/>
              </a:lnSpc>
              <a:buFont typeface="Arial"/>
              <a:buChar char="•"/>
            </a:pPr>
            <a:r>
              <a:rPr lang="en-US" b="true" sz="194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RFID + OLED + button working </a:t>
            </a:r>
            <a:r>
              <a:rPr lang="en-US" sz="194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(hardware)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639444" y="2468903"/>
            <a:ext cx="4611006" cy="638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0259" indent="-210129" lvl="1">
              <a:lnSpc>
                <a:spcPts val="2335"/>
              </a:lnSpc>
              <a:buFont typeface="Arial"/>
              <a:buChar char="•"/>
            </a:pPr>
            <a:r>
              <a:rPr lang="en-US" b="true" sz="194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Browser-based middleware &amp; offline-first LMS built </a:t>
            </a:r>
            <a:r>
              <a:rPr lang="en-US" sz="194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(software)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639444" y="3634063"/>
            <a:ext cx="4611006" cy="638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0259" indent="-210129" lvl="1">
              <a:lnSpc>
                <a:spcPts val="2335"/>
              </a:lnSpc>
              <a:buFont typeface="Arial"/>
              <a:buChar char="•"/>
            </a:pPr>
            <a:r>
              <a:rPr lang="en-US" b="true" sz="194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Battery-powered kiosk, no USB </a:t>
            </a:r>
          </a:p>
          <a:p>
            <a:pPr algn="l">
              <a:lnSpc>
                <a:spcPts val="2335"/>
              </a:lnSpc>
            </a:pPr>
            <a:r>
              <a:rPr lang="en-US" b="true" sz="194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    dependency </a:t>
            </a:r>
            <a:r>
              <a:rPr lang="en-US" sz="194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(hardware)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7084476" y="2597899"/>
            <a:ext cx="2932328" cy="342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1850" indent="-220925" lvl="1">
              <a:lnSpc>
                <a:spcPts val="2455"/>
              </a:lnSpc>
              <a:buFont typeface="Arial"/>
              <a:buChar char="•"/>
            </a:pPr>
            <a:r>
              <a:rPr lang="en-US" b="true" sz="204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Rural connectivity gaps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7084476" y="3062629"/>
            <a:ext cx="3605169" cy="647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1848" indent="-220924" lvl="1">
              <a:lnSpc>
                <a:spcPts val="2455"/>
              </a:lnSpc>
              <a:buFont typeface="Arial"/>
              <a:buChar char="•"/>
            </a:pPr>
            <a:r>
              <a:rPr lang="en-US" b="true" sz="204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Legacy system integration across institutions </a:t>
            </a:r>
            <a:r>
              <a:rPr lang="en-US" sz="204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(software)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084476" y="3786463"/>
            <a:ext cx="4594986" cy="342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1848" indent="-220924" lvl="1">
              <a:lnSpc>
                <a:spcPts val="2455"/>
              </a:lnSpc>
              <a:buFont typeface="Arial"/>
              <a:buChar char="•"/>
            </a:pPr>
            <a:r>
              <a:rPr lang="en-US" b="true" sz="204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Biometric data privacy </a:t>
            </a:r>
            <a:r>
              <a:rPr lang="en-US" sz="204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(software/data)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053751" y="2588374"/>
            <a:ext cx="4496346" cy="34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0259" indent="-210129" lvl="1">
              <a:lnSpc>
                <a:spcPts val="2335"/>
              </a:lnSpc>
              <a:buFont typeface="Arial"/>
              <a:buChar char="•"/>
            </a:pPr>
            <a:r>
              <a:rPr lang="en-US" b="true" sz="194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Offline-first sync architecture </a:t>
            </a:r>
            <a:r>
              <a:rPr lang="en-US" sz="194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(software)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3053751" y="3597526"/>
            <a:ext cx="4056638" cy="638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0259" indent="-210129" lvl="1">
              <a:lnSpc>
                <a:spcPts val="2335"/>
              </a:lnSpc>
              <a:buFont typeface="Arial"/>
              <a:buChar char="•"/>
            </a:pPr>
            <a:r>
              <a:rPr lang="en-US" b="true" sz="194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Battery + boost converter for stable power </a:t>
            </a:r>
            <a:r>
              <a:rPr lang="en-US" sz="194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(hardware)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3053751" y="2987959"/>
            <a:ext cx="4229704" cy="638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0259" indent="-210129" lvl="1">
              <a:lnSpc>
                <a:spcPts val="2335"/>
              </a:lnSpc>
              <a:buFont typeface="Arial"/>
              <a:buChar char="•"/>
            </a:pPr>
            <a:r>
              <a:rPr lang="en-US" b="true" sz="194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Encrypted storage, on-device face matching </a:t>
            </a:r>
            <a:r>
              <a:rPr lang="en-US" sz="194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(software)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930273" y="4674742"/>
            <a:ext cx="336661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6"/>
              </a:lnSpc>
              <a:spcBef>
                <a:spcPct val="0"/>
              </a:spcBef>
            </a:pPr>
            <a:r>
              <a:rPr lang="en-US" b="true" sz="358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Comparison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0" y="4405167"/>
            <a:ext cx="4134883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9"/>
              </a:lnSpc>
              <a:spcBef>
                <a:spcPct val="0"/>
              </a:spcBef>
            </a:pPr>
            <a:r>
              <a:rPr lang="en-US" b="true" sz="30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COMPETITIVE EDGE</a:t>
            </a:r>
          </a:p>
        </p:txBody>
      </p:sp>
      <p:sp>
        <p:nvSpPr>
          <p:cNvPr name="Freeform 75" id="75"/>
          <p:cNvSpPr/>
          <p:nvPr/>
        </p:nvSpPr>
        <p:spPr>
          <a:xfrm flipH="false" flipV="false" rot="0">
            <a:off x="15205448" y="6935994"/>
            <a:ext cx="501968" cy="501967"/>
          </a:xfrm>
          <a:custGeom>
            <a:avLst/>
            <a:gdLst/>
            <a:ahLst/>
            <a:cxnLst/>
            <a:rect r="r" b="b" t="t" l="l"/>
            <a:pathLst>
              <a:path h="501967" w="501968">
                <a:moveTo>
                  <a:pt x="0" y="0"/>
                </a:moveTo>
                <a:lnTo>
                  <a:pt x="501967" y="0"/>
                </a:lnTo>
                <a:lnTo>
                  <a:pt x="501967" y="501968"/>
                </a:lnTo>
                <a:lnTo>
                  <a:pt x="0" y="50196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15205448" y="8317266"/>
            <a:ext cx="501968" cy="501967"/>
          </a:xfrm>
          <a:custGeom>
            <a:avLst/>
            <a:gdLst/>
            <a:ahLst/>
            <a:cxnLst/>
            <a:rect r="r" b="b" t="t" l="l"/>
            <a:pathLst>
              <a:path h="501967" w="501968">
                <a:moveTo>
                  <a:pt x="0" y="0"/>
                </a:moveTo>
                <a:lnTo>
                  <a:pt x="501967" y="0"/>
                </a:lnTo>
                <a:lnTo>
                  <a:pt x="501967" y="501968"/>
                </a:lnTo>
                <a:lnTo>
                  <a:pt x="0" y="50196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16910767" y="7619474"/>
            <a:ext cx="501968" cy="501967"/>
          </a:xfrm>
          <a:custGeom>
            <a:avLst/>
            <a:gdLst/>
            <a:ahLst/>
            <a:cxnLst/>
            <a:rect r="r" b="b" t="t" l="l"/>
            <a:pathLst>
              <a:path h="501967" w="501968">
                <a:moveTo>
                  <a:pt x="0" y="0"/>
                </a:moveTo>
                <a:lnTo>
                  <a:pt x="501968" y="0"/>
                </a:lnTo>
                <a:lnTo>
                  <a:pt x="501968" y="501967"/>
                </a:lnTo>
                <a:lnTo>
                  <a:pt x="0" y="50196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16944698" y="8279462"/>
            <a:ext cx="501968" cy="501967"/>
          </a:xfrm>
          <a:custGeom>
            <a:avLst/>
            <a:gdLst/>
            <a:ahLst/>
            <a:cxnLst/>
            <a:rect r="r" b="b" t="t" l="l"/>
            <a:pathLst>
              <a:path h="501967" w="501968">
                <a:moveTo>
                  <a:pt x="0" y="0"/>
                </a:moveTo>
                <a:lnTo>
                  <a:pt x="501968" y="0"/>
                </a:lnTo>
                <a:lnTo>
                  <a:pt x="501968" y="501967"/>
                </a:lnTo>
                <a:lnTo>
                  <a:pt x="0" y="50196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16944698" y="9015059"/>
            <a:ext cx="501968" cy="501967"/>
          </a:xfrm>
          <a:custGeom>
            <a:avLst/>
            <a:gdLst/>
            <a:ahLst/>
            <a:cxnLst/>
            <a:rect r="r" b="b" t="t" l="l"/>
            <a:pathLst>
              <a:path h="501967" w="501968">
                <a:moveTo>
                  <a:pt x="0" y="0"/>
                </a:moveTo>
                <a:lnTo>
                  <a:pt x="501968" y="0"/>
                </a:lnTo>
                <a:lnTo>
                  <a:pt x="501968" y="501967"/>
                </a:lnTo>
                <a:lnTo>
                  <a:pt x="0" y="50196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0" id="80"/>
          <p:cNvSpPr txBox="true"/>
          <p:nvPr/>
        </p:nvSpPr>
        <p:spPr>
          <a:xfrm rot="0">
            <a:off x="775474" y="5458571"/>
            <a:ext cx="6925419" cy="308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2944" indent="-186472" lvl="1">
              <a:lnSpc>
                <a:spcPts val="2418"/>
              </a:lnSpc>
              <a:buFont typeface="Arial"/>
              <a:buChar char="•"/>
            </a:pPr>
            <a:r>
              <a:rPr lang="en-US" sz="17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~₹2,000 ESTIMATED HARDWARE COST PER KIOSK (HARDWARE)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281798" y="5119542"/>
            <a:ext cx="3762779" cy="358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8"/>
              </a:lnSpc>
              <a:spcBef>
                <a:spcPct val="0"/>
              </a:spcBef>
            </a:pPr>
            <a:r>
              <a:rPr lang="en-US" b="true" sz="2027" spc="1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COST</a:t>
            </a:r>
            <a:r>
              <a:rPr lang="en-US" b="true" sz="2027" spc="1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&amp; SCALABILITY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756421" y="5776646"/>
            <a:ext cx="7262366" cy="308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2944" indent="-186472" lvl="1">
              <a:lnSpc>
                <a:spcPts val="2418"/>
              </a:lnSpc>
              <a:buFont typeface="Arial"/>
              <a:buChar char="•"/>
            </a:pPr>
            <a:r>
              <a:rPr lang="en-US" sz="17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SINGLE-PCB DESIGN CUTS C</a:t>
            </a:r>
            <a:r>
              <a:rPr lang="en-US" sz="17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OST FURTHER AT SCALE (HARDWARE)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756421" y="6066145"/>
            <a:ext cx="9213949" cy="308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2944" indent="-186472" lvl="1">
              <a:lnSpc>
                <a:spcPts val="2418"/>
              </a:lnSpc>
              <a:buFont typeface="Arial"/>
              <a:buChar char="•"/>
            </a:pPr>
            <a:r>
              <a:rPr lang="en-US" sz="17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UNIFIED ERP/LMS PLATF</a:t>
            </a:r>
            <a:r>
              <a:rPr lang="en-US" sz="17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ORM SCALES ACROSS EVERY NCCT INSTITUTION (SOFTWARE)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847060" y="6737122"/>
            <a:ext cx="3009305" cy="358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8"/>
              </a:lnSpc>
              <a:spcBef>
                <a:spcPct val="0"/>
              </a:spcBef>
            </a:pPr>
            <a:r>
              <a:rPr lang="en-US" b="true" sz="2027" spc="1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TECHNICAL FEASIBILITY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700443" y="7228551"/>
            <a:ext cx="4876664" cy="568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1355" indent="-175677" lvl="1">
              <a:lnSpc>
                <a:spcPts val="2278"/>
              </a:lnSpc>
              <a:buFont typeface="Arial"/>
              <a:buChar char="•"/>
            </a:pPr>
            <a:r>
              <a:rPr lang="en-US" sz="16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RC522 RFID: 13.56 MHZ,</a:t>
            </a:r>
            <a:r>
              <a:rPr lang="en-US" sz="16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0-60MM READ RANGE — CONFIRMED WORKING (HARDWARE)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700443" y="7882540"/>
            <a:ext cx="5157078" cy="568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1355" indent="-175677" lvl="1">
              <a:lnSpc>
                <a:spcPts val="2278"/>
              </a:lnSpc>
              <a:buFont typeface="Arial"/>
              <a:buChar char="•"/>
            </a:pPr>
            <a:r>
              <a:rPr lang="en-US" sz="16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</a:t>
            </a:r>
            <a:r>
              <a:rPr lang="en-US" sz="16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ANDARD WEB STACK FOR ERP/LMS (SOFTWARE)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734549" y="8622254"/>
            <a:ext cx="4524004" cy="568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1355" indent="-175677" lvl="1">
              <a:lnSpc>
                <a:spcPts val="2278"/>
              </a:lnSpc>
              <a:buFont typeface="Arial"/>
              <a:buChar char="•"/>
            </a:pPr>
            <a:r>
              <a:rPr lang="en-US" sz="16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SINGLE PCB C</a:t>
            </a:r>
            <a:r>
              <a:rPr lang="en-US" sz="16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ONSOLIDATES BOTH ESP32 MODULES (HARDWARE)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5956911" y="6737122"/>
            <a:ext cx="2256532" cy="358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8"/>
              </a:lnSpc>
              <a:spcBef>
                <a:spcPct val="0"/>
              </a:spcBef>
            </a:pPr>
            <a:r>
              <a:rPr lang="en-US" b="true" sz="2027" spc="1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USER</a:t>
            </a:r>
            <a:r>
              <a:rPr lang="en-US" b="true" sz="2027" spc="1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EXPERIENCE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5857521" y="7133301"/>
            <a:ext cx="4657248" cy="568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1355" indent="-175677" lvl="1">
              <a:lnSpc>
                <a:spcPts val="2278"/>
              </a:lnSpc>
              <a:buFont typeface="Arial"/>
              <a:buChar char="•"/>
            </a:pPr>
            <a:r>
              <a:rPr lang="en-US" sz="16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ON-DEVICE FEEDBACK: ENGLISH-</a:t>
            </a:r>
            <a:r>
              <a:rPr lang="en-US" sz="16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ONLY OLED + BUZZER, ICON-BASED (HARDWARE)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5857521" y="7758715"/>
            <a:ext cx="4514424" cy="568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1355" indent="-175677" lvl="1">
              <a:lnSpc>
                <a:spcPts val="2278"/>
              </a:lnSpc>
              <a:buFont typeface="Arial"/>
              <a:buChar char="•"/>
            </a:pPr>
            <a:r>
              <a:rPr lang="en-US" sz="16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MULTILING</a:t>
            </a:r>
            <a:r>
              <a:rPr lang="en-US" sz="16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UAL SUPPORT HANDLED AT THE LMS/WEB LAYER (SOFTWARE)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5857521" y="8469854"/>
            <a:ext cx="4334719" cy="568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1355" indent="-175677" lvl="1">
              <a:lnSpc>
                <a:spcPts val="2278"/>
              </a:lnSpc>
              <a:buFont typeface="Arial"/>
              <a:buChar char="•"/>
            </a:pPr>
            <a:r>
              <a:rPr lang="en-US" sz="16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SIMPLE</a:t>
            </a:r>
            <a:r>
              <a:rPr lang="en-US" sz="16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TAP-AND-SCAN FLOW, MINIMAL TRAINING NEEDED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-175679" y="9652695"/>
            <a:ext cx="18463679" cy="754856"/>
            <a:chOff x="0" y="0"/>
            <a:chExt cx="24618239" cy="100647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4618238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618238">
                  <a:moveTo>
                    <a:pt x="0" y="0"/>
                  </a:moveTo>
                  <a:lnTo>
                    <a:pt x="24618238" y="0"/>
                  </a:lnTo>
                  <a:lnTo>
                    <a:pt x="24618238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3088522" y="9663074"/>
            <a:ext cx="4267200" cy="653472"/>
            <a:chOff x="0" y="0"/>
            <a:chExt cx="5689600" cy="871296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689600" cy="871296"/>
            </a:xfrm>
            <a:custGeom>
              <a:avLst/>
              <a:gdLst/>
              <a:ahLst/>
              <a:cxnLst/>
              <a:rect r="r" b="b" t="t" l="l"/>
              <a:pathLst>
                <a:path h="871296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871296"/>
                  </a:lnTo>
                  <a:lnTo>
                    <a:pt x="0" y="8712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32" r="0" b="-69144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0"/>
              <a:ext cx="5689600" cy="8712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99"/>
                </a:lnSpc>
              </a:pPr>
              <a:r>
                <a:rPr lang="en-US" sz="19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6453" y="-11874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918901" y="-104285"/>
            <a:ext cx="3374774" cy="1593504"/>
            <a:chOff x="0" y="0"/>
            <a:chExt cx="4499699" cy="21246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3608099" y="9920516"/>
            <a:ext cx="2083137" cy="9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56"/>
              </a:lnSpc>
            </a:pPr>
            <a:r>
              <a:rPr lang="en-US" sz="63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programme feedback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3559" y="9979571"/>
            <a:ext cx="4757757" cy="190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@SIH Idea Submission • KaushalSetu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536858" y="9979571"/>
            <a:ext cx="94317" cy="190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-175679" y="9652695"/>
            <a:ext cx="18463679" cy="754856"/>
            <a:chOff x="0" y="0"/>
            <a:chExt cx="24618239" cy="10064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618238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618238">
                  <a:moveTo>
                    <a:pt x="0" y="0"/>
                  </a:moveTo>
                  <a:lnTo>
                    <a:pt x="24618238" y="0"/>
                  </a:lnTo>
                  <a:lnTo>
                    <a:pt x="24618238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088522" y="9663074"/>
            <a:ext cx="4267200" cy="653472"/>
            <a:chOff x="0" y="0"/>
            <a:chExt cx="5689600" cy="8712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89600" cy="871296"/>
            </a:xfrm>
            <a:custGeom>
              <a:avLst/>
              <a:gdLst/>
              <a:ahLst/>
              <a:cxnLst/>
              <a:rect r="r" b="b" t="t" l="l"/>
              <a:pathLst>
                <a:path h="871296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871296"/>
                  </a:lnTo>
                  <a:lnTo>
                    <a:pt x="0" y="8712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32" r="0" b="-6914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5689600" cy="8712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99"/>
                </a:lnSpc>
              </a:pPr>
              <a:r>
                <a:rPr lang="en-US" sz="19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5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82701" y="160192"/>
            <a:ext cx="2174620" cy="1329027"/>
          </a:xfrm>
          <a:custGeom>
            <a:avLst/>
            <a:gdLst/>
            <a:ahLst/>
            <a:cxnLst/>
            <a:rect r="r" b="b" t="t" l="l"/>
            <a:pathLst>
              <a:path h="1329027" w="2174620">
                <a:moveTo>
                  <a:pt x="0" y="0"/>
                </a:moveTo>
                <a:lnTo>
                  <a:pt x="2174620" y="0"/>
                </a:lnTo>
                <a:lnTo>
                  <a:pt x="2174620" y="1329027"/>
                </a:lnTo>
                <a:lnTo>
                  <a:pt x="0" y="13290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282701" y="1595752"/>
            <a:ext cx="3447584" cy="1997215"/>
            <a:chOff x="0" y="0"/>
            <a:chExt cx="871684" cy="5049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71684" cy="504974"/>
            </a:xfrm>
            <a:custGeom>
              <a:avLst/>
              <a:gdLst/>
              <a:ahLst/>
              <a:cxnLst/>
              <a:rect r="r" b="b" t="t" l="l"/>
              <a:pathLst>
                <a:path h="504974" w="871684">
                  <a:moveTo>
                    <a:pt x="31439" y="0"/>
                  </a:moveTo>
                  <a:lnTo>
                    <a:pt x="840246" y="0"/>
                  </a:lnTo>
                  <a:cubicBezTo>
                    <a:pt x="857609" y="0"/>
                    <a:pt x="871684" y="14075"/>
                    <a:pt x="871684" y="31439"/>
                  </a:cubicBezTo>
                  <a:lnTo>
                    <a:pt x="871684" y="473536"/>
                  </a:lnTo>
                  <a:cubicBezTo>
                    <a:pt x="871684" y="490899"/>
                    <a:pt x="857609" y="504974"/>
                    <a:pt x="840246" y="504974"/>
                  </a:cubicBezTo>
                  <a:lnTo>
                    <a:pt x="31439" y="504974"/>
                  </a:lnTo>
                  <a:cubicBezTo>
                    <a:pt x="23100" y="504974"/>
                    <a:pt x="15104" y="501662"/>
                    <a:pt x="9208" y="495766"/>
                  </a:cubicBezTo>
                  <a:cubicBezTo>
                    <a:pt x="3312" y="489870"/>
                    <a:pt x="0" y="481874"/>
                    <a:pt x="0" y="473536"/>
                  </a:cubicBezTo>
                  <a:lnTo>
                    <a:pt x="0" y="31439"/>
                  </a:lnTo>
                  <a:cubicBezTo>
                    <a:pt x="0" y="14075"/>
                    <a:pt x="14075" y="0"/>
                    <a:pt x="31439" y="0"/>
                  </a:cubicBezTo>
                  <a:close/>
                </a:path>
              </a:pathLst>
            </a:custGeom>
            <a:solidFill>
              <a:srgbClr val="C2DCFF"/>
            </a:solidFill>
            <a:ln w="38100" cap="sq">
              <a:solidFill>
                <a:srgbClr val="425962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71684" cy="552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7521" y="7563682"/>
            <a:ext cx="3552764" cy="1954592"/>
            <a:chOff x="0" y="0"/>
            <a:chExt cx="832584" cy="4580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32584" cy="458055"/>
            </a:xfrm>
            <a:custGeom>
              <a:avLst/>
              <a:gdLst/>
              <a:ahLst/>
              <a:cxnLst/>
              <a:rect r="r" b="b" t="t" l="l"/>
              <a:pathLst>
                <a:path h="458055" w="832584">
                  <a:moveTo>
                    <a:pt x="30508" y="0"/>
                  </a:moveTo>
                  <a:lnTo>
                    <a:pt x="802076" y="0"/>
                  </a:lnTo>
                  <a:cubicBezTo>
                    <a:pt x="818925" y="0"/>
                    <a:pt x="832584" y="13659"/>
                    <a:pt x="832584" y="30508"/>
                  </a:cubicBezTo>
                  <a:lnTo>
                    <a:pt x="832584" y="427547"/>
                  </a:lnTo>
                  <a:cubicBezTo>
                    <a:pt x="832584" y="435638"/>
                    <a:pt x="829370" y="443398"/>
                    <a:pt x="823648" y="449120"/>
                  </a:cubicBezTo>
                  <a:cubicBezTo>
                    <a:pt x="817927" y="454841"/>
                    <a:pt x="810167" y="458055"/>
                    <a:pt x="802076" y="458055"/>
                  </a:cubicBezTo>
                  <a:lnTo>
                    <a:pt x="30508" y="458055"/>
                  </a:lnTo>
                  <a:cubicBezTo>
                    <a:pt x="22417" y="458055"/>
                    <a:pt x="14657" y="454841"/>
                    <a:pt x="8936" y="449120"/>
                  </a:cubicBezTo>
                  <a:cubicBezTo>
                    <a:pt x="3214" y="443398"/>
                    <a:pt x="0" y="435638"/>
                    <a:pt x="0" y="427547"/>
                  </a:cubicBezTo>
                  <a:lnTo>
                    <a:pt x="0" y="30508"/>
                  </a:lnTo>
                  <a:cubicBezTo>
                    <a:pt x="0" y="22417"/>
                    <a:pt x="3214" y="14657"/>
                    <a:pt x="8936" y="8936"/>
                  </a:cubicBezTo>
                  <a:cubicBezTo>
                    <a:pt x="14657" y="3214"/>
                    <a:pt x="22417" y="0"/>
                    <a:pt x="30508" y="0"/>
                  </a:cubicBezTo>
                  <a:close/>
                </a:path>
              </a:pathLst>
            </a:custGeom>
            <a:solidFill>
              <a:srgbClr val="DBCDFA"/>
            </a:solidFill>
            <a:ln w="38100" cap="sq">
              <a:solidFill>
                <a:srgbClr val="5B43AB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832584" cy="505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38122">
            <a:off x="2578684" y="4368681"/>
            <a:ext cx="2362136" cy="2362136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4D6D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566453" y="1694608"/>
            <a:ext cx="733822" cy="388926"/>
          </a:xfrm>
          <a:custGeom>
            <a:avLst/>
            <a:gdLst/>
            <a:ahLst/>
            <a:cxnLst/>
            <a:rect r="r" b="b" t="t" l="l"/>
            <a:pathLst>
              <a:path h="388926" w="733822">
                <a:moveTo>
                  <a:pt x="0" y="0"/>
                </a:moveTo>
                <a:lnTo>
                  <a:pt x="733822" y="0"/>
                </a:lnTo>
                <a:lnTo>
                  <a:pt x="733822" y="388925"/>
                </a:lnTo>
                <a:lnTo>
                  <a:pt x="0" y="3889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312547" y="7641753"/>
            <a:ext cx="554606" cy="524103"/>
          </a:xfrm>
          <a:custGeom>
            <a:avLst/>
            <a:gdLst/>
            <a:ahLst/>
            <a:cxnLst/>
            <a:rect r="r" b="b" t="t" l="l"/>
            <a:pathLst>
              <a:path h="524103" w="554606">
                <a:moveTo>
                  <a:pt x="0" y="0"/>
                </a:moveTo>
                <a:lnTo>
                  <a:pt x="554607" y="0"/>
                </a:lnTo>
                <a:lnTo>
                  <a:pt x="554607" y="524103"/>
                </a:lnTo>
                <a:lnTo>
                  <a:pt x="0" y="5241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3289581" y="4540469"/>
            <a:ext cx="982577" cy="982577"/>
          </a:xfrm>
          <a:custGeom>
            <a:avLst/>
            <a:gdLst/>
            <a:ahLst/>
            <a:cxnLst/>
            <a:rect r="r" b="b" t="t" l="l"/>
            <a:pathLst>
              <a:path h="982577" w="982577">
                <a:moveTo>
                  <a:pt x="0" y="0"/>
                </a:moveTo>
                <a:lnTo>
                  <a:pt x="982577" y="0"/>
                </a:lnTo>
                <a:lnTo>
                  <a:pt x="982577" y="982576"/>
                </a:lnTo>
                <a:lnTo>
                  <a:pt x="0" y="9825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3770311" y="1595752"/>
            <a:ext cx="3752937" cy="1997905"/>
            <a:chOff x="0" y="0"/>
            <a:chExt cx="948889" cy="50514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48889" cy="505149"/>
            </a:xfrm>
            <a:custGeom>
              <a:avLst/>
              <a:gdLst/>
              <a:ahLst/>
              <a:cxnLst/>
              <a:rect r="r" b="b" t="t" l="l"/>
              <a:pathLst>
                <a:path h="505149" w="948889">
                  <a:moveTo>
                    <a:pt x="28881" y="0"/>
                  </a:moveTo>
                  <a:lnTo>
                    <a:pt x="920009" y="0"/>
                  </a:lnTo>
                  <a:cubicBezTo>
                    <a:pt x="935959" y="0"/>
                    <a:pt x="948889" y="12930"/>
                    <a:pt x="948889" y="28881"/>
                  </a:cubicBezTo>
                  <a:lnTo>
                    <a:pt x="948889" y="476268"/>
                  </a:lnTo>
                  <a:cubicBezTo>
                    <a:pt x="948889" y="492218"/>
                    <a:pt x="935959" y="505149"/>
                    <a:pt x="920009" y="505149"/>
                  </a:cubicBezTo>
                  <a:lnTo>
                    <a:pt x="28881" y="505149"/>
                  </a:lnTo>
                  <a:cubicBezTo>
                    <a:pt x="12930" y="505149"/>
                    <a:pt x="0" y="492218"/>
                    <a:pt x="0" y="476268"/>
                  </a:cubicBezTo>
                  <a:lnTo>
                    <a:pt x="0" y="28881"/>
                  </a:lnTo>
                  <a:cubicBezTo>
                    <a:pt x="0" y="12930"/>
                    <a:pt x="12930" y="0"/>
                    <a:pt x="28881" y="0"/>
                  </a:cubicBezTo>
                  <a:close/>
                </a:path>
              </a:pathLst>
            </a:custGeom>
            <a:solidFill>
              <a:srgbClr val="D9F4CD"/>
            </a:solidFill>
            <a:ln w="38100" cap="sq">
              <a:solidFill>
                <a:srgbClr val="138E44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948889" cy="552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3964800" y="1710103"/>
            <a:ext cx="517862" cy="517862"/>
          </a:xfrm>
          <a:custGeom>
            <a:avLst/>
            <a:gdLst/>
            <a:ahLst/>
            <a:cxnLst/>
            <a:rect r="r" b="b" t="t" l="l"/>
            <a:pathLst>
              <a:path h="517862" w="517862">
                <a:moveTo>
                  <a:pt x="0" y="0"/>
                </a:moveTo>
                <a:lnTo>
                  <a:pt x="517862" y="0"/>
                </a:lnTo>
                <a:lnTo>
                  <a:pt x="517862" y="517862"/>
                </a:lnTo>
                <a:lnTo>
                  <a:pt x="0" y="5178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3751890" y="7582042"/>
            <a:ext cx="3771357" cy="1936232"/>
            <a:chOff x="0" y="0"/>
            <a:chExt cx="953547" cy="48955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53547" cy="489555"/>
            </a:xfrm>
            <a:custGeom>
              <a:avLst/>
              <a:gdLst/>
              <a:ahLst/>
              <a:cxnLst/>
              <a:rect r="r" b="b" t="t" l="l"/>
              <a:pathLst>
                <a:path h="489555" w="953547">
                  <a:moveTo>
                    <a:pt x="28739" y="0"/>
                  </a:moveTo>
                  <a:lnTo>
                    <a:pt x="924807" y="0"/>
                  </a:lnTo>
                  <a:cubicBezTo>
                    <a:pt x="940680" y="0"/>
                    <a:pt x="953547" y="12867"/>
                    <a:pt x="953547" y="28739"/>
                  </a:cubicBezTo>
                  <a:lnTo>
                    <a:pt x="953547" y="460816"/>
                  </a:lnTo>
                  <a:cubicBezTo>
                    <a:pt x="953547" y="476688"/>
                    <a:pt x="940680" y="489555"/>
                    <a:pt x="924807" y="489555"/>
                  </a:cubicBezTo>
                  <a:lnTo>
                    <a:pt x="28739" y="489555"/>
                  </a:lnTo>
                  <a:cubicBezTo>
                    <a:pt x="12867" y="489555"/>
                    <a:pt x="0" y="476688"/>
                    <a:pt x="0" y="460816"/>
                  </a:cubicBezTo>
                  <a:lnTo>
                    <a:pt x="0" y="28739"/>
                  </a:lnTo>
                  <a:cubicBezTo>
                    <a:pt x="0" y="12867"/>
                    <a:pt x="12867" y="0"/>
                    <a:pt x="28739" y="0"/>
                  </a:cubicBezTo>
                  <a:close/>
                </a:path>
              </a:pathLst>
            </a:custGeom>
            <a:solidFill>
              <a:srgbClr val="F5E1C8"/>
            </a:solidFill>
            <a:ln w="38100" cap="sq">
              <a:solidFill>
                <a:srgbClr val="C06A58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53547" cy="5371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3960811" y="7708258"/>
            <a:ext cx="3542332" cy="282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8"/>
              </a:lnSpc>
              <a:spcBef>
                <a:spcPct val="0"/>
              </a:spcBef>
            </a:pPr>
            <a:r>
              <a:rPr lang="en-US" b="true" sz="1627" spc="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LOCAL EMPLOYMENT RETENTION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3770311" y="7680929"/>
            <a:ext cx="275824" cy="375271"/>
          </a:xfrm>
          <a:custGeom>
            <a:avLst/>
            <a:gdLst/>
            <a:ahLst/>
            <a:cxnLst/>
            <a:rect r="r" b="b" t="t" l="l"/>
            <a:pathLst>
              <a:path h="375271" w="275824">
                <a:moveTo>
                  <a:pt x="0" y="0"/>
                </a:moveTo>
                <a:lnTo>
                  <a:pt x="275824" y="0"/>
                </a:lnTo>
                <a:lnTo>
                  <a:pt x="275824" y="375271"/>
                </a:lnTo>
                <a:lnTo>
                  <a:pt x="0" y="37527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867154" y="7695497"/>
            <a:ext cx="271343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9"/>
              </a:lnSpc>
              <a:spcBef>
                <a:spcPct val="0"/>
              </a:spcBef>
            </a:pPr>
            <a:r>
              <a:rPr lang="en-US" b="true" sz="18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Inclusive Participation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586777" y="5550101"/>
            <a:ext cx="2388185" cy="851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1"/>
              </a:lnSpc>
            </a:pPr>
            <a:r>
              <a:rPr lang="en-US" b="true" sz="1644" spc="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ONE ECOSYSTEM</a:t>
            </a:r>
          </a:p>
          <a:p>
            <a:pPr algn="ctr">
              <a:lnSpc>
                <a:spcPts val="2301"/>
              </a:lnSpc>
              <a:spcBef>
                <a:spcPct val="0"/>
              </a:spcBef>
            </a:pPr>
            <a:r>
              <a:rPr lang="en-US" b="true" sz="1644" spc="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TRAINING TO EMPLOYMENT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010307" y="2313690"/>
            <a:ext cx="3146079" cy="1222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18"/>
              </a:lnSpc>
              <a:spcBef>
                <a:spcPct val="0"/>
              </a:spcBef>
            </a:pPr>
            <a:r>
              <a:rPr lang="en-US" sz="17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NCCT AND INSTITUTI</a:t>
            </a:r>
            <a:r>
              <a:rPr lang="en-US" sz="17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ONS GET LIVE, GRANULAR OUTCOME DATA INSTEAD OF PERIODIC MANUAL REPORTING.</a:t>
            </a:r>
          </a:p>
        </p:txBody>
      </p:sp>
      <p:grpSp>
        <p:nvGrpSpPr>
          <p:cNvPr name="Group 40" id="40"/>
          <p:cNvGrpSpPr/>
          <p:nvPr/>
        </p:nvGrpSpPr>
        <p:grpSpPr>
          <a:xfrm rot="7672681">
            <a:off x="1993332" y="6478371"/>
            <a:ext cx="1263779" cy="953199"/>
            <a:chOff x="0" y="0"/>
            <a:chExt cx="647700" cy="48852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47700" cy="488524"/>
            </a:xfrm>
            <a:custGeom>
              <a:avLst/>
              <a:gdLst/>
              <a:ahLst/>
              <a:cxnLst/>
              <a:rect r="r" b="b" t="t" l="l"/>
              <a:pathLst>
                <a:path h="488524" w="647700">
                  <a:moveTo>
                    <a:pt x="239386" y="166127"/>
                  </a:moveTo>
                  <a:lnTo>
                    <a:pt x="647700" y="166127"/>
                  </a:lnTo>
                  <a:lnTo>
                    <a:pt x="647700" y="322367"/>
                  </a:lnTo>
                  <a:lnTo>
                    <a:pt x="239373" y="322367"/>
                  </a:lnTo>
                  <a:lnTo>
                    <a:pt x="302255" y="488524"/>
                  </a:lnTo>
                  <a:lnTo>
                    <a:pt x="0" y="244262"/>
                  </a:lnTo>
                  <a:lnTo>
                    <a:pt x="302255" y="0"/>
                  </a:lnTo>
                  <a:lnTo>
                    <a:pt x="239386" y="166127"/>
                  </a:lnTo>
                  <a:close/>
                </a:path>
              </a:pathLst>
            </a:custGeom>
            <a:solidFill>
              <a:srgbClr val="5B43AB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120650" y="117475"/>
              <a:ext cx="527050" cy="205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-7953101">
            <a:off x="1945234" y="3688692"/>
            <a:ext cx="1283087" cy="967762"/>
            <a:chOff x="0" y="0"/>
            <a:chExt cx="647700" cy="48852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47700" cy="488524"/>
            </a:xfrm>
            <a:custGeom>
              <a:avLst/>
              <a:gdLst/>
              <a:ahLst/>
              <a:cxnLst/>
              <a:rect r="r" b="b" t="t" l="l"/>
              <a:pathLst>
                <a:path h="488524" w="647700">
                  <a:moveTo>
                    <a:pt x="239386" y="166127"/>
                  </a:moveTo>
                  <a:lnTo>
                    <a:pt x="647700" y="166127"/>
                  </a:lnTo>
                  <a:lnTo>
                    <a:pt x="647700" y="322367"/>
                  </a:lnTo>
                  <a:lnTo>
                    <a:pt x="239373" y="322367"/>
                  </a:lnTo>
                  <a:lnTo>
                    <a:pt x="302255" y="488524"/>
                  </a:lnTo>
                  <a:lnTo>
                    <a:pt x="0" y="244262"/>
                  </a:lnTo>
                  <a:lnTo>
                    <a:pt x="302255" y="0"/>
                  </a:lnTo>
                  <a:lnTo>
                    <a:pt x="239386" y="166127"/>
                  </a:lnTo>
                  <a:close/>
                </a:path>
              </a:pathLst>
            </a:custGeom>
            <a:solidFill>
              <a:srgbClr val="007ACC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120650" y="117475"/>
              <a:ext cx="527050" cy="205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732798" y="1676170"/>
            <a:ext cx="3454903" cy="5213556"/>
            <a:chOff x="0" y="0"/>
            <a:chExt cx="949628" cy="143319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49628" cy="1433195"/>
            </a:xfrm>
            <a:custGeom>
              <a:avLst/>
              <a:gdLst/>
              <a:ahLst/>
              <a:cxnLst/>
              <a:rect r="r" b="b" t="t" l="l"/>
              <a:pathLst>
                <a:path h="1433195" w="949628">
                  <a:moveTo>
                    <a:pt x="949628" y="168064"/>
                  </a:moveTo>
                  <a:lnTo>
                    <a:pt x="949628" y="1265131"/>
                  </a:lnTo>
                  <a:cubicBezTo>
                    <a:pt x="949628" y="1309705"/>
                    <a:pt x="931921" y="1352452"/>
                    <a:pt x="900403" y="1383970"/>
                  </a:cubicBezTo>
                  <a:cubicBezTo>
                    <a:pt x="868885" y="1415488"/>
                    <a:pt x="826137" y="1433195"/>
                    <a:pt x="781564" y="1433195"/>
                  </a:cubicBezTo>
                  <a:lnTo>
                    <a:pt x="168064" y="1433195"/>
                  </a:lnTo>
                  <a:cubicBezTo>
                    <a:pt x="123490" y="1433195"/>
                    <a:pt x="80743" y="1415488"/>
                    <a:pt x="49225" y="1383970"/>
                  </a:cubicBezTo>
                  <a:cubicBezTo>
                    <a:pt x="17707" y="1352452"/>
                    <a:pt x="0" y="1309705"/>
                    <a:pt x="0" y="1265131"/>
                  </a:cubicBezTo>
                  <a:lnTo>
                    <a:pt x="0" y="168064"/>
                  </a:lnTo>
                  <a:cubicBezTo>
                    <a:pt x="0" y="123490"/>
                    <a:pt x="17707" y="80743"/>
                    <a:pt x="49225" y="49225"/>
                  </a:cubicBezTo>
                  <a:cubicBezTo>
                    <a:pt x="80743" y="17707"/>
                    <a:pt x="123490" y="0"/>
                    <a:pt x="168064" y="0"/>
                  </a:cubicBezTo>
                  <a:lnTo>
                    <a:pt x="781564" y="0"/>
                  </a:lnTo>
                  <a:cubicBezTo>
                    <a:pt x="826137" y="0"/>
                    <a:pt x="868885" y="17707"/>
                    <a:pt x="900403" y="49225"/>
                  </a:cubicBezTo>
                  <a:cubicBezTo>
                    <a:pt x="931921" y="80743"/>
                    <a:pt x="949628" y="123490"/>
                    <a:pt x="949628" y="168064"/>
                  </a:cubicBezTo>
                  <a:close/>
                </a:path>
              </a:pathLst>
            </a:custGeom>
            <a:solidFill>
              <a:srgbClr val="C2DC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949628" cy="1480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-2962493">
            <a:off x="4354506" y="3718368"/>
            <a:ext cx="1355623" cy="967762"/>
            <a:chOff x="0" y="0"/>
            <a:chExt cx="684316" cy="48852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84316" cy="488524"/>
            </a:xfrm>
            <a:custGeom>
              <a:avLst/>
              <a:gdLst/>
              <a:ahLst/>
              <a:cxnLst/>
              <a:rect r="r" b="b" t="t" l="l"/>
              <a:pathLst>
                <a:path h="488524" w="684316">
                  <a:moveTo>
                    <a:pt x="239386" y="166127"/>
                  </a:moveTo>
                  <a:lnTo>
                    <a:pt x="684316" y="166127"/>
                  </a:lnTo>
                  <a:lnTo>
                    <a:pt x="684316" y="322367"/>
                  </a:lnTo>
                  <a:lnTo>
                    <a:pt x="239373" y="322367"/>
                  </a:lnTo>
                  <a:lnTo>
                    <a:pt x="302255" y="488524"/>
                  </a:lnTo>
                  <a:lnTo>
                    <a:pt x="0" y="244262"/>
                  </a:lnTo>
                  <a:lnTo>
                    <a:pt x="302255" y="0"/>
                  </a:lnTo>
                  <a:lnTo>
                    <a:pt x="239386" y="166127"/>
                  </a:lnTo>
                  <a:close/>
                </a:path>
              </a:pathLst>
            </a:custGeom>
            <a:solidFill>
              <a:srgbClr val="138E44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120650" y="117475"/>
              <a:ext cx="563666" cy="205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3018559">
            <a:off x="4341316" y="6443845"/>
            <a:ext cx="1481457" cy="967762"/>
            <a:chOff x="0" y="0"/>
            <a:chExt cx="747837" cy="48852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47837" cy="488524"/>
            </a:xfrm>
            <a:custGeom>
              <a:avLst/>
              <a:gdLst/>
              <a:ahLst/>
              <a:cxnLst/>
              <a:rect r="r" b="b" t="t" l="l"/>
              <a:pathLst>
                <a:path h="488524" w="747837">
                  <a:moveTo>
                    <a:pt x="239386" y="166127"/>
                  </a:moveTo>
                  <a:lnTo>
                    <a:pt x="747837" y="166127"/>
                  </a:lnTo>
                  <a:lnTo>
                    <a:pt x="747837" y="322367"/>
                  </a:lnTo>
                  <a:lnTo>
                    <a:pt x="239373" y="322367"/>
                  </a:lnTo>
                  <a:lnTo>
                    <a:pt x="302255" y="488524"/>
                  </a:lnTo>
                  <a:lnTo>
                    <a:pt x="0" y="244262"/>
                  </a:lnTo>
                  <a:lnTo>
                    <a:pt x="302255" y="0"/>
                  </a:lnTo>
                  <a:lnTo>
                    <a:pt x="239386" y="166127"/>
                  </a:lnTo>
                  <a:close/>
                </a:path>
              </a:pathLst>
            </a:custGeom>
            <a:solidFill>
              <a:srgbClr val="C98A2C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120650" y="117475"/>
              <a:ext cx="627187" cy="205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4795004" y="1676170"/>
            <a:ext cx="3454903" cy="5213556"/>
            <a:chOff x="0" y="0"/>
            <a:chExt cx="949628" cy="143319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49628" cy="1433195"/>
            </a:xfrm>
            <a:custGeom>
              <a:avLst/>
              <a:gdLst/>
              <a:ahLst/>
              <a:cxnLst/>
              <a:rect r="r" b="b" t="t" l="l"/>
              <a:pathLst>
                <a:path h="1433195" w="949628">
                  <a:moveTo>
                    <a:pt x="949628" y="168064"/>
                  </a:moveTo>
                  <a:lnTo>
                    <a:pt x="949628" y="1265131"/>
                  </a:lnTo>
                  <a:cubicBezTo>
                    <a:pt x="949628" y="1309705"/>
                    <a:pt x="931921" y="1352452"/>
                    <a:pt x="900403" y="1383970"/>
                  </a:cubicBezTo>
                  <a:cubicBezTo>
                    <a:pt x="868885" y="1415488"/>
                    <a:pt x="826137" y="1433195"/>
                    <a:pt x="781564" y="1433195"/>
                  </a:cubicBezTo>
                  <a:lnTo>
                    <a:pt x="168064" y="1433195"/>
                  </a:lnTo>
                  <a:cubicBezTo>
                    <a:pt x="123490" y="1433195"/>
                    <a:pt x="80743" y="1415488"/>
                    <a:pt x="49225" y="1383970"/>
                  </a:cubicBezTo>
                  <a:cubicBezTo>
                    <a:pt x="17707" y="1352452"/>
                    <a:pt x="0" y="1309705"/>
                    <a:pt x="0" y="1265131"/>
                  </a:cubicBezTo>
                  <a:lnTo>
                    <a:pt x="0" y="168064"/>
                  </a:lnTo>
                  <a:cubicBezTo>
                    <a:pt x="0" y="123490"/>
                    <a:pt x="17707" y="80743"/>
                    <a:pt x="49225" y="49225"/>
                  </a:cubicBezTo>
                  <a:cubicBezTo>
                    <a:pt x="80743" y="17707"/>
                    <a:pt x="123490" y="0"/>
                    <a:pt x="168064" y="0"/>
                  </a:cubicBezTo>
                  <a:lnTo>
                    <a:pt x="781564" y="0"/>
                  </a:lnTo>
                  <a:cubicBezTo>
                    <a:pt x="826137" y="0"/>
                    <a:pt x="868885" y="17707"/>
                    <a:pt x="900403" y="49225"/>
                  </a:cubicBezTo>
                  <a:cubicBezTo>
                    <a:pt x="931921" y="80743"/>
                    <a:pt x="949628" y="123490"/>
                    <a:pt x="949628" y="168064"/>
                  </a:cubicBezTo>
                  <a:close/>
                </a:path>
              </a:pathLst>
            </a:custGeom>
            <a:solidFill>
              <a:srgbClr val="D9F4C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949628" cy="1480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263901" y="1676170"/>
            <a:ext cx="3454903" cy="5213556"/>
            <a:chOff x="0" y="0"/>
            <a:chExt cx="949628" cy="143319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49628" cy="1433195"/>
            </a:xfrm>
            <a:custGeom>
              <a:avLst/>
              <a:gdLst/>
              <a:ahLst/>
              <a:cxnLst/>
              <a:rect r="r" b="b" t="t" l="l"/>
              <a:pathLst>
                <a:path h="1433195" w="949628">
                  <a:moveTo>
                    <a:pt x="949628" y="168064"/>
                  </a:moveTo>
                  <a:lnTo>
                    <a:pt x="949628" y="1265131"/>
                  </a:lnTo>
                  <a:cubicBezTo>
                    <a:pt x="949628" y="1309705"/>
                    <a:pt x="931921" y="1352452"/>
                    <a:pt x="900403" y="1383970"/>
                  </a:cubicBezTo>
                  <a:cubicBezTo>
                    <a:pt x="868885" y="1415488"/>
                    <a:pt x="826137" y="1433195"/>
                    <a:pt x="781564" y="1433195"/>
                  </a:cubicBezTo>
                  <a:lnTo>
                    <a:pt x="168064" y="1433195"/>
                  </a:lnTo>
                  <a:cubicBezTo>
                    <a:pt x="123490" y="1433195"/>
                    <a:pt x="80743" y="1415488"/>
                    <a:pt x="49225" y="1383970"/>
                  </a:cubicBezTo>
                  <a:cubicBezTo>
                    <a:pt x="17707" y="1352452"/>
                    <a:pt x="0" y="1309705"/>
                    <a:pt x="0" y="1265131"/>
                  </a:cubicBezTo>
                  <a:lnTo>
                    <a:pt x="0" y="168064"/>
                  </a:lnTo>
                  <a:cubicBezTo>
                    <a:pt x="0" y="123490"/>
                    <a:pt x="17707" y="80743"/>
                    <a:pt x="49225" y="49225"/>
                  </a:cubicBezTo>
                  <a:cubicBezTo>
                    <a:pt x="80743" y="17707"/>
                    <a:pt x="123490" y="0"/>
                    <a:pt x="168064" y="0"/>
                  </a:cubicBezTo>
                  <a:lnTo>
                    <a:pt x="781564" y="0"/>
                  </a:lnTo>
                  <a:cubicBezTo>
                    <a:pt x="826137" y="0"/>
                    <a:pt x="868885" y="17707"/>
                    <a:pt x="900403" y="49225"/>
                  </a:cubicBezTo>
                  <a:cubicBezTo>
                    <a:pt x="931921" y="80743"/>
                    <a:pt x="949628" y="123490"/>
                    <a:pt x="949628" y="168064"/>
                  </a:cubicBezTo>
                  <a:close/>
                </a:path>
              </a:pathLst>
            </a:custGeom>
            <a:solidFill>
              <a:srgbClr val="F7E7C2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949628" cy="1480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sp>
        <p:nvSpPr>
          <p:cNvPr name="AutoShape 61" id="61"/>
          <p:cNvSpPr/>
          <p:nvPr/>
        </p:nvSpPr>
        <p:spPr>
          <a:xfrm>
            <a:off x="8060928" y="2551302"/>
            <a:ext cx="289817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2" id="62"/>
          <p:cNvSpPr/>
          <p:nvPr/>
        </p:nvSpPr>
        <p:spPr>
          <a:xfrm>
            <a:off x="11542266" y="2589402"/>
            <a:ext cx="289817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3" id="63"/>
          <p:cNvSpPr/>
          <p:nvPr/>
        </p:nvSpPr>
        <p:spPr>
          <a:xfrm>
            <a:off x="15023604" y="2627502"/>
            <a:ext cx="289817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4" id="64"/>
          <p:cNvGrpSpPr/>
          <p:nvPr/>
        </p:nvGrpSpPr>
        <p:grpSpPr>
          <a:xfrm rot="0">
            <a:off x="7732798" y="7061176"/>
            <a:ext cx="10415390" cy="2457098"/>
            <a:chOff x="0" y="0"/>
            <a:chExt cx="5107710" cy="120496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107710" cy="1204961"/>
            </a:xfrm>
            <a:custGeom>
              <a:avLst/>
              <a:gdLst/>
              <a:ahLst/>
              <a:cxnLst/>
              <a:rect r="r" b="b" t="t" l="l"/>
              <a:pathLst>
                <a:path h="1204961" w="5107710">
                  <a:moveTo>
                    <a:pt x="23786" y="0"/>
                  </a:moveTo>
                  <a:lnTo>
                    <a:pt x="5083924" y="0"/>
                  </a:lnTo>
                  <a:cubicBezTo>
                    <a:pt x="5097061" y="0"/>
                    <a:pt x="5107710" y="10649"/>
                    <a:pt x="5107710" y="23786"/>
                  </a:cubicBezTo>
                  <a:lnTo>
                    <a:pt x="5107710" y="1181175"/>
                  </a:lnTo>
                  <a:cubicBezTo>
                    <a:pt x="5107710" y="1194312"/>
                    <a:pt x="5097061" y="1204961"/>
                    <a:pt x="5083924" y="1204961"/>
                  </a:cubicBezTo>
                  <a:lnTo>
                    <a:pt x="23786" y="1204961"/>
                  </a:lnTo>
                  <a:cubicBezTo>
                    <a:pt x="10649" y="1204961"/>
                    <a:pt x="0" y="1194312"/>
                    <a:pt x="0" y="1181175"/>
                  </a:cubicBezTo>
                  <a:lnTo>
                    <a:pt x="0" y="23786"/>
                  </a:lnTo>
                  <a:cubicBezTo>
                    <a:pt x="0" y="10649"/>
                    <a:pt x="10649" y="0"/>
                    <a:pt x="23786" y="0"/>
                  </a:cubicBezTo>
                  <a:close/>
                </a:path>
              </a:pathLst>
            </a:custGeom>
            <a:solidFill>
              <a:srgbClr val="F0EBF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5107710" cy="1252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7" id="67"/>
          <p:cNvSpPr/>
          <p:nvPr/>
        </p:nvSpPr>
        <p:spPr>
          <a:xfrm flipH="false" flipV="false" rot="0">
            <a:off x="10040210" y="7833468"/>
            <a:ext cx="780403" cy="817176"/>
          </a:xfrm>
          <a:custGeom>
            <a:avLst/>
            <a:gdLst/>
            <a:ahLst/>
            <a:cxnLst/>
            <a:rect r="r" b="b" t="t" l="l"/>
            <a:pathLst>
              <a:path h="817176" w="780403">
                <a:moveTo>
                  <a:pt x="0" y="0"/>
                </a:moveTo>
                <a:lnTo>
                  <a:pt x="780404" y="0"/>
                </a:lnTo>
                <a:lnTo>
                  <a:pt x="780404" y="817176"/>
                </a:lnTo>
                <a:lnTo>
                  <a:pt x="0" y="81717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9946953" y="7619099"/>
            <a:ext cx="312293" cy="511955"/>
          </a:xfrm>
          <a:custGeom>
            <a:avLst/>
            <a:gdLst/>
            <a:ahLst/>
            <a:cxnLst/>
            <a:rect r="r" b="b" t="t" l="l"/>
            <a:pathLst>
              <a:path h="511955" w="312293">
                <a:moveTo>
                  <a:pt x="0" y="0"/>
                </a:moveTo>
                <a:lnTo>
                  <a:pt x="312293" y="0"/>
                </a:lnTo>
                <a:lnTo>
                  <a:pt x="312293" y="511955"/>
                </a:lnTo>
                <a:lnTo>
                  <a:pt x="0" y="51195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9" id="69"/>
          <p:cNvSpPr txBox="true"/>
          <p:nvPr/>
        </p:nvSpPr>
        <p:spPr>
          <a:xfrm rot="0">
            <a:off x="10858714" y="7540053"/>
            <a:ext cx="1646804" cy="587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5"/>
              </a:lnSpc>
              <a:spcBef>
                <a:spcPct val="0"/>
              </a:spcBef>
            </a:pPr>
            <a:r>
              <a:rPr lang="en-US" b="true" sz="1668" spc="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LESS PAPERWORK</a:t>
            </a:r>
          </a:p>
        </p:txBody>
      </p:sp>
      <p:sp>
        <p:nvSpPr>
          <p:cNvPr name="AutoShape 70" id="70"/>
          <p:cNvSpPr/>
          <p:nvPr/>
        </p:nvSpPr>
        <p:spPr>
          <a:xfrm flipV="true">
            <a:off x="12394745" y="8125359"/>
            <a:ext cx="325119" cy="361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71" id="71"/>
          <p:cNvSpPr txBox="true"/>
          <p:nvPr/>
        </p:nvSpPr>
        <p:spPr>
          <a:xfrm rot="0">
            <a:off x="13642895" y="7555959"/>
            <a:ext cx="1646804" cy="587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5"/>
              </a:lnSpc>
              <a:spcBef>
                <a:spcPct val="0"/>
              </a:spcBef>
            </a:pPr>
            <a:r>
              <a:rPr lang="en-US" b="true" sz="1668" spc="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BETTER SKILL MATCH</a:t>
            </a:r>
          </a:p>
        </p:txBody>
      </p:sp>
      <p:sp>
        <p:nvSpPr>
          <p:cNvPr name="AutoShape 72" id="72"/>
          <p:cNvSpPr/>
          <p:nvPr/>
        </p:nvSpPr>
        <p:spPr>
          <a:xfrm flipV="true">
            <a:off x="15059562" y="8125359"/>
            <a:ext cx="325119" cy="361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73" id="73"/>
          <p:cNvSpPr/>
          <p:nvPr/>
        </p:nvSpPr>
        <p:spPr>
          <a:xfrm flipH="false" flipV="false" rot="0">
            <a:off x="15594813" y="7782359"/>
            <a:ext cx="901006" cy="919394"/>
          </a:xfrm>
          <a:custGeom>
            <a:avLst/>
            <a:gdLst/>
            <a:ahLst/>
            <a:cxnLst/>
            <a:rect r="r" b="b" t="t" l="l"/>
            <a:pathLst>
              <a:path h="919394" w="901006">
                <a:moveTo>
                  <a:pt x="0" y="0"/>
                </a:moveTo>
                <a:lnTo>
                  <a:pt x="901006" y="0"/>
                </a:lnTo>
                <a:lnTo>
                  <a:pt x="901006" y="919394"/>
                </a:lnTo>
                <a:lnTo>
                  <a:pt x="0" y="91939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12719864" y="7782359"/>
            <a:ext cx="799205" cy="799205"/>
          </a:xfrm>
          <a:custGeom>
            <a:avLst/>
            <a:gdLst/>
            <a:ahLst/>
            <a:cxnLst/>
            <a:rect r="r" b="b" t="t" l="l"/>
            <a:pathLst>
              <a:path h="799205" w="799205">
                <a:moveTo>
                  <a:pt x="0" y="0"/>
                </a:moveTo>
                <a:lnTo>
                  <a:pt x="799206" y="0"/>
                </a:lnTo>
                <a:lnTo>
                  <a:pt x="799206" y="799205"/>
                </a:lnTo>
                <a:lnTo>
                  <a:pt x="0" y="79920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5" id="75"/>
          <p:cNvSpPr txBox="true"/>
          <p:nvPr/>
        </p:nvSpPr>
        <p:spPr>
          <a:xfrm rot="0">
            <a:off x="7842904" y="2684652"/>
            <a:ext cx="3233175" cy="366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6123" indent="-208061" lvl="1">
              <a:lnSpc>
                <a:spcPts val="2698"/>
              </a:lnSpc>
              <a:buFont typeface="Arial"/>
              <a:buChar char="•"/>
            </a:pPr>
            <a:r>
              <a:rPr lang="en-US" sz="1927" spc="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Unifies registration, batch management, attendance &amp; certification - no more cross checking across separate systems</a:t>
            </a:r>
          </a:p>
          <a:p>
            <a:pPr algn="l" marL="416123" indent="-208061" lvl="1">
              <a:lnSpc>
                <a:spcPts val="2698"/>
              </a:lnSpc>
              <a:buFont typeface="Arial"/>
              <a:buChar char="•"/>
            </a:pPr>
            <a:r>
              <a:rPr lang="en-US" sz="1927" spc="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 time institutional dashboards replace manual compilation for tracking KPIs &amp; batch progress 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302863" y="1628545"/>
            <a:ext cx="2449027" cy="325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8"/>
              </a:lnSpc>
              <a:spcBef>
                <a:spcPct val="0"/>
              </a:spcBef>
            </a:pPr>
            <a:r>
              <a:rPr lang="en-US" b="true" sz="1827" spc="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CREDENTIAL TRUST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374923" y="2039772"/>
            <a:ext cx="3233175" cy="133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8"/>
              </a:lnSpc>
              <a:spcBef>
                <a:spcPct val="0"/>
              </a:spcBef>
            </a:pPr>
            <a:r>
              <a:rPr lang="en-US" sz="1527" spc="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VERIFIED, TAMPER-RESISTANT SKILL PASSPORT GIVES EMPLOYERS A CREDENTIAL THEY CAN ACTUALLY TRUST — UNLIKE EASILY-FORGED PAPER CERTIFICATES.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312547" y="8203956"/>
            <a:ext cx="3295551" cy="1257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59"/>
              </a:lnSpc>
              <a:spcBef>
                <a:spcPct val="0"/>
              </a:spcBef>
            </a:pPr>
            <a:r>
              <a:rPr lang="en-US" sz="20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Multilingual, </a:t>
            </a:r>
            <a:r>
              <a:rPr lang="en-US" sz="20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offline, accessible design brings training within reach of trainees current digital systems exclude.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4562508" y="1752813"/>
            <a:ext cx="2862078" cy="325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8"/>
              </a:lnSpc>
              <a:spcBef>
                <a:spcPct val="0"/>
              </a:spcBef>
            </a:pPr>
            <a:r>
              <a:rPr lang="en-US" b="true" sz="1827" spc="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1827" spc="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OLICY-LEVEL VISIBILITY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3855532" y="8083429"/>
            <a:ext cx="3452199" cy="1224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34"/>
              </a:lnSpc>
              <a:spcBef>
                <a:spcPct val="0"/>
              </a:spcBef>
            </a:pPr>
            <a:r>
              <a:rPr lang="en-US" sz="1738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SKILL-MATCHED L</a:t>
            </a:r>
            <a:r>
              <a:rPr lang="en-US" sz="1738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OCAL JOB &amp; SCHEME MATCHING REDUCES TRAINEES' NEED TO MIGRATE ELSEWHERE FOR OPPORTUNITIES.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7842904" y="2041615"/>
            <a:ext cx="3234690" cy="325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8"/>
              </a:lnSpc>
              <a:spcBef>
                <a:spcPct val="0"/>
              </a:spcBef>
            </a:pPr>
            <a:r>
              <a:rPr lang="en-US" b="true" sz="1827" spc="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INSTITUTIONAL EFFICIENCY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1378201" y="1921409"/>
            <a:ext cx="3234690" cy="648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8"/>
              </a:lnSpc>
              <a:spcBef>
                <a:spcPct val="0"/>
              </a:spcBef>
            </a:pPr>
            <a:r>
              <a:rPr lang="en-US" b="true" sz="1827" spc="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EMPLOYABILITY &amp; LIVELIHOOD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4913498" y="1921409"/>
            <a:ext cx="3234690" cy="648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8"/>
              </a:lnSpc>
              <a:spcBef>
                <a:spcPct val="0"/>
              </a:spcBef>
            </a:pPr>
            <a:r>
              <a:rPr lang="en-US" b="true" sz="1827" spc="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INCLUSIVE LEARNING ACCESS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1349626" y="2735900"/>
            <a:ext cx="3233175" cy="366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6123" indent="-208061" lvl="1">
              <a:lnSpc>
                <a:spcPts val="2698"/>
              </a:lnSpc>
              <a:buFont typeface="Arial"/>
              <a:buChar char="•"/>
            </a:pPr>
            <a:r>
              <a:rPr lang="en-US" sz="1927" spc="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 career counsellor gives personalized guidance - most rural trainees have never had access to.</a:t>
            </a:r>
          </a:p>
          <a:p>
            <a:pPr algn="l" marL="416123" indent="-208061" lvl="1">
              <a:lnSpc>
                <a:spcPts val="2698"/>
              </a:lnSpc>
              <a:buFont typeface="Arial"/>
              <a:buChar char="•"/>
            </a:pPr>
            <a:r>
              <a:rPr lang="en-US" sz="1927" spc="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Skill-matched job &amp; entrepreneurship scheme recommendations connect training directly to outcomes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4795004" y="2735900"/>
            <a:ext cx="3393559" cy="3840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1444" indent="-195722" lvl="1">
              <a:lnSpc>
                <a:spcPts val="2538"/>
              </a:lnSpc>
              <a:buFont typeface="Arial"/>
              <a:buChar char="•"/>
            </a:pPr>
            <a:r>
              <a:rPr lang="en-US" sz="1813" spc="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Multilingual LMS removes the language barrier to quality training content</a:t>
            </a:r>
          </a:p>
          <a:p>
            <a:pPr algn="l" marL="391444" indent="-195722" lvl="1">
              <a:lnSpc>
                <a:spcPts val="2538"/>
              </a:lnSpc>
              <a:buFont typeface="Arial"/>
              <a:buChar char="•"/>
            </a:pPr>
            <a:r>
              <a:rPr lang="en-US" sz="1813" spc="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Offline first design reaches trainees in areas where standard e-learning platforms can’t serve</a:t>
            </a:r>
          </a:p>
          <a:p>
            <a:pPr algn="l" marL="391444" indent="-195722" lvl="1">
              <a:lnSpc>
                <a:spcPts val="2538"/>
              </a:lnSpc>
              <a:buFont typeface="Arial"/>
              <a:buChar char="•"/>
            </a:pPr>
            <a:r>
              <a:rPr lang="en-US" sz="1813" spc="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Accessible interface widens participation beyond who current systems reach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7842904" y="7768979"/>
            <a:ext cx="1980224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 spc="1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KEY OUTCOMES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0839664" y="8140103"/>
            <a:ext cx="1554870" cy="5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8"/>
              </a:lnSpc>
              <a:spcBef>
                <a:spcPct val="0"/>
              </a:spcBef>
            </a:pPr>
            <a:r>
              <a:rPr lang="en-US" sz="1413" spc="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Faster, seamless processes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3667252" y="8194431"/>
            <a:ext cx="1554870" cy="759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8"/>
              </a:lnSpc>
              <a:spcBef>
                <a:spcPct val="0"/>
              </a:spcBef>
            </a:pPr>
            <a:r>
              <a:rPr lang="en-US" sz="1413" spc="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Right opportunities for the right people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6592314" y="7603653"/>
            <a:ext cx="1526815" cy="587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5"/>
              </a:lnSpc>
              <a:spcBef>
                <a:spcPct val="0"/>
              </a:spcBef>
            </a:pPr>
            <a:r>
              <a:rPr lang="en-US" b="true" sz="1668" spc="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WIDER ACCESS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6606288" y="8177776"/>
            <a:ext cx="1326575" cy="759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8"/>
              </a:lnSpc>
              <a:spcBef>
                <a:spcPct val="0"/>
              </a:spcBef>
            </a:pPr>
            <a:r>
              <a:rPr lang="en-US" sz="1413" spc="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More inclusive equitable growth</a:t>
            </a:r>
          </a:p>
        </p:txBody>
      </p:sp>
      <p:sp>
        <p:nvSpPr>
          <p:cNvPr name="AutoShape 91" id="91"/>
          <p:cNvSpPr/>
          <p:nvPr/>
        </p:nvSpPr>
        <p:spPr>
          <a:xfrm flipV="true">
            <a:off x="9718353" y="7336987"/>
            <a:ext cx="0" cy="190547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0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670129" y="73685"/>
            <a:ext cx="3374774" cy="1593504"/>
            <a:chOff x="0" y="0"/>
            <a:chExt cx="4499699" cy="21246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282701" y="231630"/>
            <a:ext cx="2174620" cy="1329027"/>
          </a:xfrm>
          <a:custGeom>
            <a:avLst/>
            <a:gdLst/>
            <a:ahLst/>
            <a:cxnLst/>
            <a:rect r="r" b="b" t="t" l="l"/>
            <a:pathLst>
              <a:path h="1329027" w="2174620">
                <a:moveTo>
                  <a:pt x="0" y="0"/>
                </a:moveTo>
                <a:lnTo>
                  <a:pt x="2174620" y="0"/>
                </a:lnTo>
                <a:lnTo>
                  <a:pt x="2174620" y="1329026"/>
                </a:lnTo>
                <a:lnTo>
                  <a:pt x="0" y="13290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7116" y="4515488"/>
            <a:ext cx="9073448" cy="4933283"/>
            <a:chOff x="0" y="0"/>
            <a:chExt cx="2510719" cy="13650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10719" cy="1365092"/>
            </a:xfrm>
            <a:custGeom>
              <a:avLst/>
              <a:gdLst/>
              <a:ahLst/>
              <a:cxnLst/>
              <a:rect r="r" b="b" t="t" l="l"/>
              <a:pathLst>
                <a:path h="1365092" w="2510719">
                  <a:moveTo>
                    <a:pt x="13652" y="0"/>
                  </a:moveTo>
                  <a:lnTo>
                    <a:pt x="2497067" y="0"/>
                  </a:lnTo>
                  <a:cubicBezTo>
                    <a:pt x="2500688" y="0"/>
                    <a:pt x="2504160" y="1438"/>
                    <a:pt x="2506721" y="3999"/>
                  </a:cubicBezTo>
                  <a:cubicBezTo>
                    <a:pt x="2509281" y="6559"/>
                    <a:pt x="2510719" y="10031"/>
                    <a:pt x="2510719" y="13652"/>
                  </a:cubicBezTo>
                  <a:lnTo>
                    <a:pt x="2510719" y="1351440"/>
                  </a:lnTo>
                  <a:cubicBezTo>
                    <a:pt x="2510719" y="1355060"/>
                    <a:pt x="2509281" y="1358533"/>
                    <a:pt x="2506721" y="1361093"/>
                  </a:cubicBezTo>
                  <a:cubicBezTo>
                    <a:pt x="2504160" y="1363653"/>
                    <a:pt x="2500688" y="1365092"/>
                    <a:pt x="2497067" y="1365092"/>
                  </a:cubicBezTo>
                  <a:lnTo>
                    <a:pt x="13652" y="1365092"/>
                  </a:lnTo>
                  <a:cubicBezTo>
                    <a:pt x="10031" y="1365092"/>
                    <a:pt x="6559" y="1363653"/>
                    <a:pt x="3999" y="1361093"/>
                  </a:cubicBezTo>
                  <a:cubicBezTo>
                    <a:pt x="1438" y="1358533"/>
                    <a:pt x="0" y="1355060"/>
                    <a:pt x="0" y="1351440"/>
                  </a:cubicBezTo>
                  <a:lnTo>
                    <a:pt x="0" y="13652"/>
                  </a:lnTo>
                  <a:cubicBezTo>
                    <a:pt x="0" y="10031"/>
                    <a:pt x="1438" y="6559"/>
                    <a:pt x="3999" y="3999"/>
                  </a:cubicBezTo>
                  <a:cubicBezTo>
                    <a:pt x="6559" y="1438"/>
                    <a:pt x="10031" y="0"/>
                    <a:pt x="13652" y="0"/>
                  </a:cubicBezTo>
                  <a:close/>
                </a:path>
              </a:pathLst>
            </a:custGeom>
            <a:solidFill>
              <a:srgbClr val="F5E1C8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510719" cy="1393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8217" y="4824486"/>
            <a:ext cx="8516686" cy="1330359"/>
            <a:chOff x="0" y="0"/>
            <a:chExt cx="2366599" cy="36967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66599" cy="369677"/>
            </a:xfrm>
            <a:custGeom>
              <a:avLst/>
              <a:gdLst/>
              <a:ahLst/>
              <a:cxnLst/>
              <a:rect r="r" b="b" t="t" l="l"/>
              <a:pathLst>
                <a:path h="369677" w="2366599">
                  <a:moveTo>
                    <a:pt x="18181" y="0"/>
                  </a:moveTo>
                  <a:lnTo>
                    <a:pt x="2348418" y="0"/>
                  </a:lnTo>
                  <a:cubicBezTo>
                    <a:pt x="2358459" y="0"/>
                    <a:pt x="2366599" y="8140"/>
                    <a:pt x="2366599" y="18181"/>
                  </a:cubicBezTo>
                  <a:lnTo>
                    <a:pt x="2366599" y="351497"/>
                  </a:lnTo>
                  <a:cubicBezTo>
                    <a:pt x="2366599" y="356319"/>
                    <a:pt x="2364683" y="360943"/>
                    <a:pt x="2361274" y="364352"/>
                  </a:cubicBezTo>
                  <a:cubicBezTo>
                    <a:pt x="2357864" y="367762"/>
                    <a:pt x="2353240" y="369677"/>
                    <a:pt x="2348418" y="369677"/>
                  </a:cubicBezTo>
                  <a:lnTo>
                    <a:pt x="18181" y="369677"/>
                  </a:lnTo>
                  <a:cubicBezTo>
                    <a:pt x="13359" y="369677"/>
                    <a:pt x="8734" y="367762"/>
                    <a:pt x="5325" y="364352"/>
                  </a:cubicBezTo>
                  <a:cubicBezTo>
                    <a:pt x="1915" y="360943"/>
                    <a:pt x="0" y="356319"/>
                    <a:pt x="0" y="351497"/>
                  </a:cubicBezTo>
                  <a:lnTo>
                    <a:pt x="0" y="18181"/>
                  </a:lnTo>
                  <a:cubicBezTo>
                    <a:pt x="0" y="13359"/>
                    <a:pt x="1915" y="8734"/>
                    <a:pt x="5325" y="5325"/>
                  </a:cubicBezTo>
                  <a:cubicBezTo>
                    <a:pt x="8734" y="1915"/>
                    <a:pt x="13359" y="0"/>
                    <a:pt x="18181" y="0"/>
                  </a:cubicBezTo>
                  <a:close/>
                </a:path>
              </a:pathLst>
            </a:custGeom>
            <a:solidFill>
              <a:srgbClr val="D9F4CD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366599" cy="398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82701" y="4651290"/>
            <a:ext cx="6385311" cy="1048566"/>
            <a:chOff x="0" y="0"/>
            <a:chExt cx="1979425" cy="3250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79425" cy="325052"/>
            </a:xfrm>
            <a:custGeom>
              <a:avLst/>
              <a:gdLst/>
              <a:ahLst/>
              <a:cxnLst/>
              <a:rect r="r" b="b" t="t" l="l"/>
              <a:pathLst>
                <a:path h="325052" w="1979425">
                  <a:moveTo>
                    <a:pt x="15156" y="0"/>
                  </a:moveTo>
                  <a:lnTo>
                    <a:pt x="1964269" y="0"/>
                  </a:lnTo>
                  <a:cubicBezTo>
                    <a:pt x="1972639" y="0"/>
                    <a:pt x="1979425" y="6785"/>
                    <a:pt x="1979425" y="15156"/>
                  </a:cubicBezTo>
                  <a:lnTo>
                    <a:pt x="1979425" y="309896"/>
                  </a:lnTo>
                  <a:cubicBezTo>
                    <a:pt x="1979425" y="313916"/>
                    <a:pt x="1977828" y="317771"/>
                    <a:pt x="1974985" y="320613"/>
                  </a:cubicBezTo>
                  <a:cubicBezTo>
                    <a:pt x="1972143" y="323455"/>
                    <a:pt x="1968288" y="325052"/>
                    <a:pt x="1964269" y="325052"/>
                  </a:cubicBezTo>
                  <a:lnTo>
                    <a:pt x="15156" y="325052"/>
                  </a:lnTo>
                  <a:cubicBezTo>
                    <a:pt x="11136" y="325052"/>
                    <a:pt x="7281" y="323455"/>
                    <a:pt x="4439" y="320613"/>
                  </a:cubicBezTo>
                  <a:cubicBezTo>
                    <a:pt x="1597" y="317771"/>
                    <a:pt x="0" y="313916"/>
                    <a:pt x="0" y="309896"/>
                  </a:cubicBezTo>
                  <a:lnTo>
                    <a:pt x="0" y="15156"/>
                  </a:lnTo>
                  <a:cubicBezTo>
                    <a:pt x="0" y="11136"/>
                    <a:pt x="1597" y="7281"/>
                    <a:pt x="4439" y="4439"/>
                  </a:cubicBezTo>
                  <a:cubicBezTo>
                    <a:pt x="7281" y="1597"/>
                    <a:pt x="11136" y="0"/>
                    <a:pt x="15156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979425" cy="353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28217" y="6373304"/>
            <a:ext cx="8516686" cy="1330642"/>
            <a:chOff x="0" y="0"/>
            <a:chExt cx="2333623" cy="3646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33623" cy="364604"/>
            </a:xfrm>
            <a:custGeom>
              <a:avLst/>
              <a:gdLst/>
              <a:ahLst/>
              <a:cxnLst/>
              <a:rect r="r" b="b" t="t" l="l"/>
              <a:pathLst>
                <a:path h="364604" w="2333623">
                  <a:moveTo>
                    <a:pt x="18181" y="0"/>
                  </a:moveTo>
                  <a:lnTo>
                    <a:pt x="2315443" y="0"/>
                  </a:lnTo>
                  <a:cubicBezTo>
                    <a:pt x="2320264" y="0"/>
                    <a:pt x="2324889" y="1915"/>
                    <a:pt x="2328298" y="5325"/>
                  </a:cubicBezTo>
                  <a:cubicBezTo>
                    <a:pt x="2331708" y="8734"/>
                    <a:pt x="2333623" y="13359"/>
                    <a:pt x="2333623" y="18181"/>
                  </a:cubicBezTo>
                  <a:lnTo>
                    <a:pt x="2333623" y="346423"/>
                  </a:lnTo>
                  <a:cubicBezTo>
                    <a:pt x="2333623" y="351245"/>
                    <a:pt x="2331708" y="355870"/>
                    <a:pt x="2328298" y="359279"/>
                  </a:cubicBezTo>
                  <a:cubicBezTo>
                    <a:pt x="2324889" y="362689"/>
                    <a:pt x="2320264" y="364604"/>
                    <a:pt x="2315443" y="364604"/>
                  </a:cubicBezTo>
                  <a:lnTo>
                    <a:pt x="18181" y="364604"/>
                  </a:lnTo>
                  <a:cubicBezTo>
                    <a:pt x="8140" y="364604"/>
                    <a:pt x="0" y="356464"/>
                    <a:pt x="0" y="346423"/>
                  </a:cubicBezTo>
                  <a:lnTo>
                    <a:pt x="0" y="18181"/>
                  </a:lnTo>
                  <a:cubicBezTo>
                    <a:pt x="0" y="13359"/>
                    <a:pt x="1915" y="8734"/>
                    <a:pt x="5325" y="5325"/>
                  </a:cubicBezTo>
                  <a:cubicBezTo>
                    <a:pt x="8734" y="1915"/>
                    <a:pt x="13359" y="0"/>
                    <a:pt x="18181" y="0"/>
                  </a:cubicBezTo>
                  <a:close/>
                </a:path>
              </a:pathLst>
            </a:custGeom>
            <a:solidFill>
              <a:srgbClr val="DBCDF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2333623" cy="3931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27771" y="7964178"/>
            <a:ext cx="8516686" cy="1330642"/>
            <a:chOff x="0" y="0"/>
            <a:chExt cx="2333623" cy="36460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33623" cy="364604"/>
            </a:xfrm>
            <a:custGeom>
              <a:avLst/>
              <a:gdLst/>
              <a:ahLst/>
              <a:cxnLst/>
              <a:rect r="r" b="b" t="t" l="l"/>
              <a:pathLst>
                <a:path h="364604" w="2333623">
                  <a:moveTo>
                    <a:pt x="18181" y="0"/>
                  </a:moveTo>
                  <a:lnTo>
                    <a:pt x="2315443" y="0"/>
                  </a:lnTo>
                  <a:cubicBezTo>
                    <a:pt x="2320264" y="0"/>
                    <a:pt x="2324889" y="1915"/>
                    <a:pt x="2328298" y="5325"/>
                  </a:cubicBezTo>
                  <a:cubicBezTo>
                    <a:pt x="2331708" y="8734"/>
                    <a:pt x="2333623" y="13359"/>
                    <a:pt x="2333623" y="18181"/>
                  </a:cubicBezTo>
                  <a:lnTo>
                    <a:pt x="2333623" y="346423"/>
                  </a:lnTo>
                  <a:cubicBezTo>
                    <a:pt x="2333623" y="351245"/>
                    <a:pt x="2331708" y="355870"/>
                    <a:pt x="2328298" y="359279"/>
                  </a:cubicBezTo>
                  <a:cubicBezTo>
                    <a:pt x="2324889" y="362689"/>
                    <a:pt x="2320264" y="364604"/>
                    <a:pt x="2315443" y="364604"/>
                  </a:cubicBezTo>
                  <a:lnTo>
                    <a:pt x="18181" y="364604"/>
                  </a:lnTo>
                  <a:cubicBezTo>
                    <a:pt x="8140" y="364604"/>
                    <a:pt x="0" y="356464"/>
                    <a:pt x="0" y="346423"/>
                  </a:cubicBezTo>
                  <a:lnTo>
                    <a:pt x="0" y="18181"/>
                  </a:lnTo>
                  <a:cubicBezTo>
                    <a:pt x="0" y="13359"/>
                    <a:pt x="1915" y="8734"/>
                    <a:pt x="5325" y="5325"/>
                  </a:cubicBezTo>
                  <a:cubicBezTo>
                    <a:pt x="8734" y="1915"/>
                    <a:pt x="13359" y="0"/>
                    <a:pt x="18181" y="0"/>
                  </a:cubicBezTo>
                  <a:close/>
                </a:path>
              </a:pathLst>
            </a:custGeom>
            <a:solidFill>
              <a:srgbClr val="C2DC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2333623" cy="3931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05588" y="4662911"/>
            <a:ext cx="755942" cy="40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2"/>
              </a:lnSpc>
              <a:spcBef>
                <a:spcPct val="0"/>
              </a:spcBef>
            </a:pPr>
            <a:r>
              <a:rPr lang="en-US" b="true" sz="256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1)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20917" y="5058056"/>
            <a:ext cx="5409684" cy="642175"/>
            <a:chOff x="0" y="0"/>
            <a:chExt cx="6746535" cy="80087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46535" cy="800870"/>
            </a:xfrm>
            <a:custGeom>
              <a:avLst/>
              <a:gdLst/>
              <a:ahLst/>
              <a:cxnLst/>
              <a:rect r="r" b="b" t="t" l="l"/>
              <a:pathLst>
                <a:path h="800870" w="6746535">
                  <a:moveTo>
                    <a:pt x="0" y="0"/>
                  </a:moveTo>
                  <a:lnTo>
                    <a:pt x="6746535" y="0"/>
                  </a:lnTo>
                  <a:lnTo>
                    <a:pt x="6746535" y="800870"/>
                  </a:lnTo>
                  <a:lnTo>
                    <a:pt x="0" y="800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974" r="-50445" b="-17891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6746535" cy="838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83"/>
                </a:lnSpc>
              </a:pPr>
              <a:r>
                <a:rPr lang="en-US" sz="1819">
                  <a:solidFill>
                    <a:srgbClr val="4546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Explores the use of NFC technology for classroom management and student attendance systems.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799407" y="4977803"/>
            <a:ext cx="7930723" cy="997415"/>
            <a:chOff x="0" y="0"/>
            <a:chExt cx="2783275" cy="35004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783275" cy="350041"/>
            </a:xfrm>
            <a:custGeom>
              <a:avLst/>
              <a:gdLst/>
              <a:ahLst/>
              <a:cxnLst/>
              <a:rect r="r" b="b" t="t" l="l"/>
              <a:pathLst>
                <a:path h="350041" w="2783275">
                  <a:moveTo>
                    <a:pt x="19066" y="0"/>
                  </a:moveTo>
                  <a:lnTo>
                    <a:pt x="2764209" y="0"/>
                  </a:lnTo>
                  <a:cubicBezTo>
                    <a:pt x="2769266" y="0"/>
                    <a:pt x="2774115" y="2009"/>
                    <a:pt x="2777691" y="5584"/>
                  </a:cubicBezTo>
                  <a:cubicBezTo>
                    <a:pt x="2781267" y="9160"/>
                    <a:pt x="2783275" y="14010"/>
                    <a:pt x="2783275" y="19066"/>
                  </a:cubicBezTo>
                  <a:lnTo>
                    <a:pt x="2783275" y="330975"/>
                  </a:lnTo>
                  <a:cubicBezTo>
                    <a:pt x="2783275" y="336032"/>
                    <a:pt x="2781267" y="340881"/>
                    <a:pt x="2777691" y="344457"/>
                  </a:cubicBezTo>
                  <a:cubicBezTo>
                    <a:pt x="2774115" y="348032"/>
                    <a:pt x="2769266" y="350041"/>
                    <a:pt x="2764209" y="350041"/>
                  </a:cubicBezTo>
                  <a:lnTo>
                    <a:pt x="19066" y="350041"/>
                  </a:lnTo>
                  <a:cubicBezTo>
                    <a:pt x="14010" y="350041"/>
                    <a:pt x="9160" y="348032"/>
                    <a:pt x="5584" y="344457"/>
                  </a:cubicBezTo>
                  <a:cubicBezTo>
                    <a:pt x="2009" y="340881"/>
                    <a:pt x="0" y="336032"/>
                    <a:pt x="0" y="330975"/>
                  </a:cubicBezTo>
                  <a:lnTo>
                    <a:pt x="0" y="19066"/>
                  </a:lnTo>
                  <a:cubicBezTo>
                    <a:pt x="0" y="14010"/>
                    <a:pt x="2009" y="9160"/>
                    <a:pt x="5584" y="5584"/>
                  </a:cubicBezTo>
                  <a:cubicBezTo>
                    <a:pt x="9160" y="2009"/>
                    <a:pt x="14010" y="0"/>
                    <a:pt x="19066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2783275" cy="3786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700452" y="6506140"/>
            <a:ext cx="7930723" cy="997415"/>
            <a:chOff x="0" y="0"/>
            <a:chExt cx="2783275" cy="35004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783275" cy="350041"/>
            </a:xfrm>
            <a:custGeom>
              <a:avLst/>
              <a:gdLst/>
              <a:ahLst/>
              <a:cxnLst/>
              <a:rect r="r" b="b" t="t" l="l"/>
              <a:pathLst>
                <a:path h="350041" w="2783275">
                  <a:moveTo>
                    <a:pt x="19066" y="0"/>
                  </a:moveTo>
                  <a:lnTo>
                    <a:pt x="2764209" y="0"/>
                  </a:lnTo>
                  <a:cubicBezTo>
                    <a:pt x="2769266" y="0"/>
                    <a:pt x="2774115" y="2009"/>
                    <a:pt x="2777691" y="5584"/>
                  </a:cubicBezTo>
                  <a:cubicBezTo>
                    <a:pt x="2781267" y="9160"/>
                    <a:pt x="2783275" y="14010"/>
                    <a:pt x="2783275" y="19066"/>
                  </a:cubicBezTo>
                  <a:lnTo>
                    <a:pt x="2783275" y="330975"/>
                  </a:lnTo>
                  <a:cubicBezTo>
                    <a:pt x="2783275" y="336032"/>
                    <a:pt x="2781267" y="340881"/>
                    <a:pt x="2777691" y="344457"/>
                  </a:cubicBezTo>
                  <a:cubicBezTo>
                    <a:pt x="2774115" y="348032"/>
                    <a:pt x="2769266" y="350041"/>
                    <a:pt x="2764209" y="350041"/>
                  </a:cubicBezTo>
                  <a:lnTo>
                    <a:pt x="19066" y="350041"/>
                  </a:lnTo>
                  <a:cubicBezTo>
                    <a:pt x="14010" y="350041"/>
                    <a:pt x="9160" y="348032"/>
                    <a:pt x="5584" y="344457"/>
                  </a:cubicBezTo>
                  <a:cubicBezTo>
                    <a:pt x="2009" y="340881"/>
                    <a:pt x="0" y="336032"/>
                    <a:pt x="0" y="330975"/>
                  </a:cubicBezTo>
                  <a:lnTo>
                    <a:pt x="0" y="19066"/>
                  </a:lnTo>
                  <a:cubicBezTo>
                    <a:pt x="0" y="14010"/>
                    <a:pt x="2009" y="9160"/>
                    <a:pt x="5584" y="5584"/>
                  </a:cubicBezTo>
                  <a:cubicBezTo>
                    <a:pt x="9160" y="2009"/>
                    <a:pt x="14010" y="0"/>
                    <a:pt x="19066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2783275" cy="3786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799407" y="8081488"/>
            <a:ext cx="7930723" cy="997415"/>
            <a:chOff x="0" y="0"/>
            <a:chExt cx="2783275" cy="35004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783275" cy="350041"/>
            </a:xfrm>
            <a:custGeom>
              <a:avLst/>
              <a:gdLst/>
              <a:ahLst/>
              <a:cxnLst/>
              <a:rect r="r" b="b" t="t" l="l"/>
              <a:pathLst>
                <a:path h="350041" w="2783275">
                  <a:moveTo>
                    <a:pt x="19066" y="0"/>
                  </a:moveTo>
                  <a:lnTo>
                    <a:pt x="2764209" y="0"/>
                  </a:lnTo>
                  <a:cubicBezTo>
                    <a:pt x="2769266" y="0"/>
                    <a:pt x="2774115" y="2009"/>
                    <a:pt x="2777691" y="5584"/>
                  </a:cubicBezTo>
                  <a:cubicBezTo>
                    <a:pt x="2781267" y="9160"/>
                    <a:pt x="2783275" y="14010"/>
                    <a:pt x="2783275" y="19066"/>
                  </a:cubicBezTo>
                  <a:lnTo>
                    <a:pt x="2783275" y="330975"/>
                  </a:lnTo>
                  <a:cubicBezTo>
                    <a:pt x="2783275" y="336032"/>
                    <a:pt x="2781267" y="340881"/>
                    <a:pt x="2777691" y="344457"/>
                  </a:cubicBezTo>
                  <a:cubicBezTo>
                    <a:pt x="2774115" y="348032"/>
                    <a:pt x="2769266" y="350041"/>
                    <a:pt x="2764209" y="350041"/>
                  </a:cubicBezTo>
                  <a:lnTo>
                    <a:pt x="19066" y="350041"/>
                  </a:lnTo>
                  <a:cubicBezTo>
                    <a:pt x="14010" y="350041"/>
                    <a:pt x="9160" y="348032"/>
                    <a:pt x="5584" y="344457"/>
                  </a:cubicBezTo>
                  <a:cubicBezTo>
                    <a:pt x="2009" y="340881"/>
                    <a:pt x="0" y="336032"/>
                    <a:pt x="0" y="330975"/>
                  </a:cubicBezTo>
                  <a:lnTo>
                    <a:pt x="0" y="19066"/>
                  </a:lnTo>
                  <a:cubicBezTo>
                    <a:pt x="0" y="14010"/>
                    <a:pt x="2009" y="9160"/>
                    <a:pt x="5584" y="5584"/>
                  </a:cubicBezTo>
                  <a:cubicBezTo>
                    <a:pt x="9160" y="2009"/>
                    <a:pt x="14010" y="0"/>
                    <a:pt x="19066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2783275" cy="3786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9821199" y="5032465"/>
            <a:ext cx="221903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9"/>
              </a:lnSpc>
              <a:spcBef>
                <a:spcPct val="0"/>
              </a:spcBef>
            </a:pPr>
            <a:r>
              <a:rPr lang="en-US" b="true" sz="19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Prototype link :-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821199" y="6540835"/>
            <a:ext cx="221903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9"/>
              </a:lnSpc>
              <a:spcBef>
                <a:spcPct val="0"/>
              </a:spcBef>
            </a:pPr>
            <a:r>
              <a:rPr lang="en-US" b="true" sz="19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Demo Video link :-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821199" y="8166912"/>
            <a:ext cx="2592839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9"/>
              </a:lnSpc>
              <a:spcBef>
                <a:spcPct val="0"/>
              </a:spcBef>
            </a:pPr>
            <a:r>
              <a:rPr lang="en-US" b="true" sz="19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Documentation link :-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82701" y="1644683"/>
            <a:ext cx="221903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9"/>
              </a:lnSpc>
              <a:spcBef>
                <a:spcPct val="0"/>
              </a:spcBef>
            </a:pPr>
            <a:r>
              <a:rPr lang="en-US" b="true" sz="26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Prototype :- 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820412" y="4733599"/>
            <a:ext cx="2235749" cy="894138"/>
            <a:chOff x="0" y="0"/>
            <a:chExt cx="1344631" cy="5377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44631" cy="537756"/>
            </a:xfrm>
            <a:custGeom>
              <a:avLst/>
              <a:gdLst/>
              <a:ahLst/>
              <a:cxnLst/>
              <a:rect r="r" b="b" t="t" l="l"/>
              <a:pathLst>
                <a:path h="537756" w="1344631">
                  <a:moveTo>
                    <a:pt x="43285" y="0"/>
                  </a:moveTo>
                  <a:lnTo>
                    <a:pt x="1301346" y="0"/>
                  </a:lnTo>
                  <a:cubicBezTo>
                    <a:pt x="1325252" y="0"/>
                    <a:pt x="1344631" y="19379"/>
                    <a:pt x="1344631" y="43285"/>
                  </a:cubicBezTo>
                  <a:lnTo>
                    <a:pt x="1344631" y="494471"/>
                  </a:lnTo>
                  <a:cubicBezTo>
                    <a:pt x="1344631" y="518376"/>
                    <a:pt x="1325252" y="537756"/>
                    <a:pt x="1301346" y="537756"/>
                  </a:cubicBezTo>
                  <a:lnTo>
                    <a:pt x="43285" y="537756"/>
                  </a:lnTo>
                  <a:cubicBezTo>
                    <a:pt x="19379" y="537756"/>
                    <a:pt x="0" y="518376"/>
                    <a:pt x="0" y="494471"/>
                  </a:cubicBezTo>
                  <a:lnTo>
                    <a:pt x="0" y="43285"/>
                  </a:lnTo>
                  <a:cubicBezTo>
                    <a:pt x="0" y="19379"/>
                    <a:pt x="19379" y="0"/>
                    <a:pt x="43285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1344631" cy="56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514168" y="4696689"/>
            <a:ext cx="562318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9"/>
              </a:lnSpc>
              <a:spcBef>
                <a:spcPct val="0"/>
              </a:spcBef>
            </a:pPr>
            <a:r>
              <a:rPr lang="en-US" b="true" sz="214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NFC Smart Classroom — Shen et al., 2014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6924542" y="5027708"/>
            <a:ext cx="2219458" cy="275248"/>
            <a:chOff x="0" y="0"/>
            <a:chExt cx="2779611" cy="3447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779608" cy="344710"/>
            </a:xfrm>
            <a:custGeom>
              <a:avLst/>
              <a:gdLst/>
              <a:ahLst/>
              <a:cxnLst/>
              <a:rect r="r" b="b" t="t" l="l"/>
              <a:pathLst>
                <a:path h="344710" w="2779608">
                  <a:moveTo>
                    <a:pt x="0" y="0"/>
                  </a:moveTo>
                  <a:lnTo>
                    <a:pt x="2779608" y="0"/>
                  </a:lnTo>
                  <a:lnTo>
                    <a:pt x="2779608" y="344710"/>
                  </a:lnTo>
                  <a:lnTo>
                    <a:pt x="0" y="3447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119" r="0" b="-10712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2779611" cy="3542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u="sng">
                  <a:solidFill>
                    <a:srgbClr val="0000FF"/>
                  </a:solidFill>
                  <a:latin typeface="Aptos"/>
                  <a:ea typeface="Aptos"/>
                  <a:cs typeface="Aptos"/>
                  <a:sym typeface="Aptos"/>
                  <a:hlinkClick r:id="rId6" tooltip="https://www.sciencedirect.com/science/article/abs/pii/S0747563213003300?via%3Dihub"/>
                </a:rPr>
                <a:t>NFC Smart Classroom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82701" y="5821099"/>
            <a:ext cx="6385311" cy="1133534"/>
            <a:chOff x="0" y="0"/>
            <a:chExt cx="1979425" cy="3513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979425" cy="351392"/>
            </a:xfrm>
            <a:custGeom>
              <a:avLst/>
              <a:gdLst/>
              <a:ahLst/>
              <a:cxnLst/>
              <a:rect r="r" b="b" t="t" l="l"/>
              <a:pathLst>
                <a:path h="351392" w="1979425">
                  <a:moveTo>
                    <a:pt x="15156" y="0"/>
                  </a:moveTo>
                  <a:lnTo>
                    <a:pt x="1964269" y="0"/>
                  </a:lnTo>
                  <a:cubicBezTo>
                    <a:pt x="1972639" y="0"/>
                    <a:pt x="1979425" y="6785"/>
                    <a:pt x="1979425" y="15156"/>
                  </a:cubicBezTo>
                  <a:lnTo>
                    <a:pt x="1979425" y="336236"/>
                  </a:lnTo>
                  <a:cubicBezTo>
                    <a:pt x="1979425" y="340256"/>
                    <a:pt x="1977828" y="344110"/>
                    <a:pt x="1974985" y="346953"/>
                  </a:cubicBezTo>
                  <a:cubicBezTo>
                    <a:pt x="1972143" y="349795"/>
                    <a:pt x="1968288" y="351392"/>
                    <a:pt x="1964269" y="351392"/>
                  </a:cubicBezTo>
                  <a:lnTo>
                    <a:pt x="15156" y="351392"/>
                  </a:lnTo>
                  <a:cubicBezTo>
                    <a:pt x="6785" y="351392"/>
                    <a:pt x="0" y="344606"/>
                    <a:pt x="0" y="336236"/>
                  </a:cubicBezTo>
                  <a:lnTo>
                    <a:pt x="0" y="15156"/>
                  </a:lnTo>
                  <a:cubicBezTo>
                    <a:pt x="0" y="11136"/>
                    <a:pt x="1597" y="7281"/>
                    <a:pt x="4439" y="4439"/>
                  </a:cubicBezTo>
                  <a:cubicBezTo>
                    <a:pt x="7281" y="1597"/>
                    <a:pt x="11136" y="0"/>
                    <a:pt x="15156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1979425" cy="379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82701" y="7065842"/>
            <a:ext cx="6385311" cy="1032850"/>
            <a:chOff x="0" y="0"/>
            <a:chExt cx="2009545" cy="3250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09545" cy="325052"/>
            </a:xfrm>
            <a:custGeom>
              <a:avLst/>
              <a:gdLst/>
              <a:ahLst/>
              <a:cxnLst/>
              <a:rect r="r" b="b" t="t" l="l"/>
              <a:pathLst>
                <a:path h="325052" w="2009545">
                  <a:moveTo>
                    <a:pt x="15156" y="0"/>
                  </a:moveTo>
                  <a:lnTo>
                    <a:pt x="1994390" y="0"/>
                  </a:lnTo>
                  <a:cubicBezTo>
                    <a:pt x="1998409" y="0"/>
                    <a:pt x="2002264" y="1597"/>
                    <a:pt x="2005106" y="4439"/>
                  </a:cubicBezTo>
                  <a:cubicBezTo>
                    <a:pt x="2007948" y="7281"/>
                    <a:pt x="2009545" y="11136"/>
                    <a:pt x="2009545" y="15156"/>
                  </a:cubicBezTo>
                  <a:lnTo>
                    <a:pt x="2009545" y="309896"/>
                  </a:lnTo>
                  <a:cubicBezTo>
                    <a:pt x="2009545" y="313916"/>
                    <a:pt x="2007948" y="317771"/>
                    <a:pt x="2005106" y="320613"/>
                  </a:cubicBezTo>
                  <a:cubicBezTo>
                    <a:pt x="2002264" y="323455"/>
                    <a:pt x="1998409" y="325052"/>
                    <a:pt x="1994390" y="325052"/>
                  </a:cubicBezTo>
                  <a:lnTo>
                    <a:pt x="15156" y="325052"/>
                  </a:lnTo>
                  <a:cubicBezTo>
                    <a:pt x="11136" y="325052"/>
                    <a:pt x="7281" y="323455"/>
                    <a:pt x="4439" y="320613"/>
                  </a:cubicBezTo>
                  <a:cubicBezTo>
                    <a:pt x="1597" y="317771"/>
                    <a:pt x="0" y="313916"/>
                    <a:pt x="0" y="309896"/>
                  </a:cubicBezTo>
                  <a:lnTo>
                    <a:pt x="0" y="15156"/>
                  </a:lnTo>
                  <a:cubicBezTo>
                    <a:pt x="0" y="11136"/>
                    <a:pt x="1597" y="7281"/>
                    <a:pt x="4439" y="4439"/>
                  </a:cubicBezTo>
                  <a:cubicBezTo>
                    <a:pt x="7281" y="1597"/>
                    <a:pt x="11136" y="0"/>
                    <a:pt x="15156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2009545" cy="353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82701" y="8235301"/>
            <a:ext cx="6385311" cy="1079324"/>
            <a:chOff x="0" y="0"/>
            <a:chExt cx="2018857" cy="3412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018857" cy="341252"/>
            </a:xfrm>
            <a:custGeom>
              <a:avLst/>
              <a:gdLst/>
              <a:ahLst/>
              <a:cxnLst/>
              <a:rect r="r" b="b" t="t" l="l"/>
              <a:pathLst>
                <a:path h="341252" w="2018857">
                  <a:moveTo>
                    <a:pt x="23681" y="0"/>
                  </a:moveTo>
                  <a:lnTo>
                    <a:pt x="1995177" y="0"/>
                  </a:lnTo>
                  <a:cubicBezTo>
                    <a:pt x="2001457" y="0"/>
                    <a:pt x="2007480" y="2495"/>
                    <a:pt x="2011921" y="6936"/>
                  </a:cubicBezTo>
                  <a:cubicBezTo>
                    <a:pt x="2016362" y="11377"/>
                    <a:pt x="2018857" y="17400"/>
                    <a:pt x="2018857" y="23681"/>
                  </a:cubicBezTo>
                  <a:lnTo>
                    <a:pt x="2018857" y="317571"/>
                  </a:lnTo>
                  <a:cubicBezTo>
                    <a:pt x="2018857" y="330650"/>
                    <a:pt x="2008255" y="341252"/>
                    <a:pt x="1995177" y="341252"/>
                  </a:cubicBezTo>
                  <a:lnTo>
                    <a:pt x="23681" y="341252"/>
                  </a:lnTo>
                  <a:cubicBezTo>
                    <a:pt x="10602" y="341252"/>
                    <a:pt x="0" y="330650"/>
                    <a:pt x="0" y="317571"/>
                  </a:cubicBezTo>
                  <a:lnTo>
                    <a:pt x="0" y="23681"/>
                  </a:lnTo>
                  <a:cubicBezTo>
                    <a:pt x="0" y="17400"/>
                    <a:pt x="2495" y="11377"/>
                    <a:pt x="6936" y="6936"/>
                  </a:cubicBezTo>
                  <a:cubicBezTo>
                    <a:pt x="11377" y="2495"/>
                    <a:pt x="17400" y="0"/>
                    <a:pt x="23681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2018857" cy="369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820412" y="5774634"/>
            <a:ext cx="2267329" cy="1009658"/>
            <a:chOff x="0" y="0"/>
            <a:chExt cx="1207606" cy="5377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07606" cy="537756"/>
            </a:xfrm>
            <a:custGeom>
              <a:avLst/>
              <a:gdLst/>
              <a:ahLst/>
              <a:cxnLst/>
              <a:rect r="r" b="b" t="t" l="l"/>
              <a:pathLst>
                <a:path h="537756" w="1207606">
                  <a:moveTo>
                    <a:pt x="42682" y="0"/>
                  </a:moveTo>
                  <a:lnTo>
                    <a:pt x="1164924" y="0"/>
                  </a:lnTo>
                  <a:cubicBezTo>
                    <a:pt x="1188496" y="0"/>
                    <a:pt x="1207606" y="19109"/>
                    <a:pt x="1207606" y="42682"/>
                  </a:cubicBezTo>
                  <a:lnTo>
                    <a:pt x="1207606" y="495074"/>
                  </a:lnTo>
                  <a:cubicBezTo>
                    <a:pt x="1207606" y="518646"/>
                    <a:pt x="1188496" y="537756"/>
                    <a:pt x="1164924" y="537756"/>
                  </a:cubicBezTo>
                  <a:lnTo>
                    <a:pt x="42682" y="537756"/>
                  </a:lnTo>
                  <a:cubicBezTo>
                    <a:pt x="19109" y="537756"/>
                    <a:pt x="0" y="518646"/>
                    <a:pt x="0" y="495074"/>
                  </a:cubicBezTo>
                  <a:lnTo>
                    <a:pt x="0" y="42682"/>
                  </a:lnTo>
                  <a:cubicBezTo>
                    <a:pt x="0" y="19109"/>
                    <a:pt x="19109" y="0"/>
                    <a:pt x="42682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1207606" cy="56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820412" y="7003367"/>
            <a:ext cx="2267329" cy="1049811"/>
            <a:chOff x="0" y="0"/>
            <a:chExt cx="1452034" cy="67231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452033" cy="672315"/>
            </a:xfrm>
            <a:custGeom>
              <a:avLst/>
              <a:gdLst/>
              <a:ahLst/>
              <a:cxnLst/>
              <a:rect r="r" b="b" t="t" l="l"/>
              <a:pathLst>
                <a:path h="672315" w="1452033">
                  <a:moveTo>
                    <a:pt x="42682" y="0"/>
                  </a:moveTo>
                  <a:lnTo>
                    <a:pt x="1409352" y="0"/>
                  </a:lnTo>
                  <a:cubicBezTo>
                    <a:pt x="1432924" y="0"/>
                    <a:pt x="1452033" y="19109"/>
                    <a:pt x="1452033" y="42682"/>
                  </a:cubicBezTo>
                  <a:lnTo>
                    <a:pt x="1452033" y="629633"/>
                  </a:lnTo>
                  <a:cubicBezTo>
                    <a:pt x="1452033" y="653206"/>
                    <a:pt x="1432924" y="672315"/>
                    <a:pt x="1409352" y="672315"/>
                  </a:cubicBezTo>
                  <a:lnTo>
                    <a:pt x="42682" y="672315"/>
                  </a:lnTo>
                  <a:cubicBezTo>
                    <a:pt x="19109" y="672315"/>
                    <a:pt x="0" y="653206"/>
                    <a:pt x="0" y="629633"/>
                  </a:cubicBezTo>
                  <a:lnTo>
                    <a:pt x="0" y="42682"/>
                  </a:lnTo>
                  <a:cubicBezTo>
                    <a:pt x="0" y="19109"/>
                    <a:pt x="19109" y="0"/>
                    <a:pt x="42682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1452034" cy="700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820412" y="8255256"/>
            <a:ext cx="2267329" cy="894138"/>
            <a:chOff x="0" y="0"/>
            <a:chExt cx="1363624" cy="53775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363625" cy="537756"/>
            </a:xfrm>
            <a:custGeom>
              <a:avLst/>
              <a:gdLst/>
              <a:ahLst/>
              <a:cxnLst/>
              <a:rect r="r" b="b" t="t" l="l"/>
              <a:pathLst>
                <a:path h="537756" w="1363625">
                  <a:moveTo>
                    <a:pt x="66691" y="0"/>
                  </a:moveTo>
                  <a:lnTo>
                    <a:pt x="1296934" y="0"/>
                  </a:lnTo>
                  <a:cubicBezTo>
                    <a:pt x="1314621" y="0"/>
                    <a:pt x="1331584" y="7026"/>
                    <a:pt x="1344091" y="19533"/>
                  </a:cubicBezTo>
                  <a:cubicBezTo>
                    <a:pt x="1356598" y="32040"/>
                    <a:pt x="1363625" y="49003"/>
                    <a:pt x="1363625" y="66691"/>
                  </a:cubicBezTo>
                  <a:lnTo>
                    <a:pt x="1363625" y="471065"/>
                  </a:lnTo>
                  <a:cubicBezTo>
                    <a:pt x="1363625" y="507897"/>
                    <a:pt x="1333766" y="537756"/>
                    <a:pt x="1296934" y="537756"/>
                  </a:cubicBezTo>
                  <a:lnTo>
                    <a:pt x="66691" y="537756"/>
                  </a:lnTo>
                  <a:cubicBezTo>
                    <a:pt x="49003" y="537756"/>
                    <a:pt x="32040" y="530729"/>
                    <a:pt x="19533" y="518222"/>
                  </a:cubicBezTo>
                  <a:cubicBezTo>
                    <a:pt x="7026" y="505715"/>
                    <a:pt x="0" y="488752"/>
                    <a:pt x="0" y="471065"/>
                  </a:cubicBezTo>
                  <a:lnTo>
                    <a:pt x="0" y="66691"/>
                  </a:lnTo>
                  <a:cubicBezTo>
                    <a:pt x="0" y="29858"/>
                    <a:pt x="29858" y="0"/>
                    <a:pt x="66691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1363624" cy="56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65806" y="5848901"/>
            <a:ext cx="7039629" cy="405889"/>
            <a:chOff x="0" y="0"/>
            <a:chExt cx="10149840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149840" cy="585216"/>
            </a:xfrm>
            <a:custGeom>
              <a:avLst/>
              <a:gdLst/>
              <a:ahLst/>
              <a:cxnLst/>
              <a:rect r="r" b="b" t="t" l="l"/>
              <a:pathLst>
                <a:path h="585216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943" r="0" b="-28794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1014984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4"/>
                </a:lnSpc>
              </a:pPr>
              <a:r>
                <a:rPr lang="en-US" sz="1945" b="true">
                  <a:solidFill>
                    <a:srgbClr val="101A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AI Skill-to-Job Recommendation — Giabelli et al., 2021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64237" y="5850309"/>
            <a:ext cx="103864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9"/>
              </a:lnSpc>
              <a:spcBef>
                <a:spcPct val="0"/>
              </a:spcBef>
            </a:pPr>
            <a:r>
              <a:rPr lang="en-US" b="true" sz="25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2)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6361371" y="5963408"/>
            <a:ext cx="3153829" cy="534743"/>
            <a:chOff x="0" y="0"/>
            <a:chExt cx="3949802" cy="669703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949800" cy="669691"/>
            </a:xfrm>
            <a:custGeom>
              <a:avLst/>
              <a:gdLst/>
              <a:ahLst/>
              <a:cxnLst/>
              <a:rect r="r" b="b" t="t" l="l"/>
              <a:pathLst>
                <a:path h="669691" w="3949800">
                  <a:moveTo>
                    <a:pt x="0" y="0"/>
                  </a:moveTo>
                  <a:lnTo>
                    <a:pt x="3949800" y="0"/>
                  </a:lnTo>
                  <a:lnTo>
                    <a:pt x="3949800" y="669691"/>
                  </a:lnTo>
                  <a:lnTo>
                    <a:pt x="0" y="6696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84" r="0" b="-40658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3949802" cy="669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6"/>
                </a:lnSpc>
              </a:pPr>
              <a:r>
                <a:rPr lang="en-US" sz="1580" u="sng">
                  <a:solidFill>
                    <a:srgbClr val="0000FF"/>
                  </a:solidFill>
                  <a:latin typeface="Aptos"/>
                  <a:ea typeface="Aptos"/>
                  <a:cs typeface="Aptos"/>
                  <a:sym typeface="Aptos"/>
                  <a:hlinkClick r:id="rId7" tooltip="https://www.sciencedirect.com/science/article/abs/pii/S156849462030987X?via%3Dihub"/>
                </a:rPr>
                <a:t>AI Skill-to-Job </a:t>
              </a:r>
            </a:p>
            <a:p>
              <a:pPr algn="ctr">
                <a:lnSpc>
                  <a:spcPts val="1896"/>
                </a:lnSpc>
              </a:pPr>
              <a:r>
                <a:rPr lang="en-US" sz="1580" u="sng">
                  <a:solidFill>
                    <a:srgbClr val="0000FF"/>
                  </a:solidFill>
                  <a:latin typeface="Aptos"/>
                  <a:ea typeface="Aptos"/>
                  <a:cs typeface="Aptos"/>
                  <a:sym typeface="Aptos"/>
                  <a:hlinkClick r:id="rId8" tooltip="https://www.sciencedirect.com/science/article/abs/pii/S156849462030987X?via%3Dihub"/>
                </a:rPr>
                <a:t>Recommendation</a:t>
              </a: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765806" y="7099180"/>
            <a:ext cx="526479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9"/>
              </a:lnSpc>
              <a:spcBef>
                <a:spcPct val="0"/>
              </a:spcBef>
            </a:pPr>
            <a:r>
              <a:rPr lang="en-US" b="true" sz="194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 Job Matching Review — Spoladore et al., 2026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-1500479" y="7046792"/>
            <a:ext cx="4242792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9"/>
              </a:lnSpc>
              <a:spcBef>
                <a:spcPct val="0"/>
              </a:spcBef>
            </a:pPr>
            <a:r>
              <a:rPr lang="en-US" b="true" sz="264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3)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7268853" y="7379932"/>
            <a:ext cx="1530836" cy="275248"/>
            <a:chOff x="0" y="0"/>
            <a:chExt cx="1917192" cy="34471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917192" cy="344710"/>
            </a:xfrm>
            <a:custGeom>
              <a:avLst/>
              <a:gdLst/>
              <a:ahLst/>
              <a:cxnLst/>
              <a:rect r="r" b="b" t="t" l="l"/>
              <a:pathLst>
                <a:path h="344710" w="1917192">
                  <a:moveTo>
                    <a:pt x="0" y="0"/>
                  </a:moveTo>
                  <a:lnTo>
                    <a:pt x="1917192" y="0"/>
                  </a:lnTo>
                  <a:lnTo>
                    <a:pt x="1917192" y="344710"/>
                  </a:lnTo>
                  <a:lnTo>
                    <a:pt x="0" y="3447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370" r="0" b="-58371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"/>
              <a:ext cx="1917192" cy="3542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u="sng">
                  <a:solidFill>
                    <a:srgbClr val="0000FF"/>
                  </a:solidFill>
                  <a:latin typeface="Aptos"/>
                  <a:ea typeface="Aptos"/>
                  <a:cs typeface="Aptos"/>
                  <a:sym typeface="Aptos"/>
                  <a:hlinkClick r:id="rId9" tooltip="https://www.sciencedirect.com/science/article/abs/pii/S0952197626007311?via%3Dihub"/>
                </a:rPr>
                <a:t>AI Job Matching</a:t>
              </a: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12046" y="8178151"/>
            <a:ext cx="121774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9"/>
              </a:lnSpc>
              <a:spcBef>
                <a:spcPct val="0"/>
              </a:spcBef>
            </a:pPr>
            <a:r>
              <a:rPr lang="en-US" b="true" sz="26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4)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901909" y="8222517"/>
            <a:ext cx="503619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9"/>
              </a:lnSpc>
              <a:spcBef>
                <a:spcPct val="0"/>
              </a:spcBef>
            </a:pPr>
            <a:r>
              <a:rPr lang="en-US" b="true" sz="184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Vocational Training + Job Information in India —</a:t>
            </a:r>
          </a:p>
          <a:p>
            <a:pPr algn="ctr">
              <a:lnSpc>
                <a:spcPts val="2219"/>
              </a:lnSpc>
              <a:spcBef>
                <a:spcPct val="0"/>
              </a:spcBef>
            </a:pPr>
            <a:r>
              <a:rPr lang="en-US" b="true" sz="184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Chakravorty et al., 2024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7035490" y="8576304"/>
            <a:ext cx="1886662" cy="275248"/>
            <a:chOff x="0" y="0"/>
            <a:chExt cx="2362822" cy="34471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362828" cy="344710"/>
            </a:xfrm>
            <a:custGeom>
              <a:avLst/>
              <a:gdLst/>
              <a:ahLst/>
              <a:cxnLst/>
              <a:rect r="r" b="b" t="t" l="l"/>
              <a:pathLst>
                <a:path h="344710" w="2362828">
                  <a:moveTo>
                    <a:pt x="0" y="0"/>
                  </a:moveTo>
                  <a:lnTo>
                    <a:pt x="2362828" y="0"/>
                  </a:lnTo>
                  <a:lnTo>
                    <a:pt x="2362828" y="344710"/>
                  </a:lnTo>
                  <a:lnTo>
                    <a:pt x="0" y="3447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559" r="0" b="-8356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2362822" cy="3542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u="sng">
                  <a:solidFill>
                    <a:srgbClr val="0000FF"/>
                  </a:solidFill>
                  <a:latin typeface="Aptos"/>
                  <a:ea typeface="Aptos"/>
                  <a:cs typeface="Aptos"/>
                  <a:sym typeface="Aptos"/>
                  <a:hlinkClick r:id="rId10" tooltip="https://www.iza.org/publications/dp/14427/can-information-about-jobs-improve-the-effectiveness-of-vocational-training-experimental-evidence-from-india?utm_source=chatgpt.com"/>
                </a:rPr>
                <a:t>Vocational Training</a:t>
              </a:r>
            </a:p>
          </p:txBody>
        </p:sp>
      </p:grpSp>
      <p:sp>
        <p:nvSpPr>
          <p:cNvPr name="TextBox 82" id="82"/>
          <p:cNvSpPr txBox="true"/>
          <p:nvPr/>
        </p:nvSpPr>
        <p:spPr>
          <a:xfrm rot="0">
            <a:off x="572960" y="6250892"/>
            <a:ext cx="5505599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sz="17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Investigates AI-driven models that recommend jobs based on</a:t>
            </a:r>
          </a:p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sz="17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individual skills and competencies.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756688" y="7465892"/>
            <a:ext cx="5257651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sz="17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comprehensive review of AI techniques for job matching</a:t>
            </a:r>
          </a:p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sz="17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and employment services.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866771" y="8778226"/>
            <a:ext cx="521717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0"/>
              </a:lnSpc>
              <a:spcBef>
                <a:spcPct val="0"/>
              </a:spcBef>
            </a:pPr>
            <a:r>
              <a:rPr lang="en-US" sz="15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Analyzes the landscape of vocational training and job information</a:t>
            </a:r>
          </a:p>
          <a:p>
            <a:pPr algn="ctr">
              <a:lnSpc>
                <a:spcPts val="1860"/>
              </a:lnSpc>
              <a:spcBef>
                <a:spcPct val="0"/>
              </a:spcBef>
            </a:pPr>
            <a:r>
              <a:rPr lang="en-US" sz="15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systems in India.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260228" y="4194874"/>
            <a:ext cx="2066032" cy="282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8"/>
              </a:lnSpc>
              <a:spcBef>
                <a:spcPct val="0"/>
              </a:spcBef>
            </a:pPr>
            <a:r>
              <a:rPr lang="en-US" b="true" sz="1627" spc="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PAPER :- 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3608099" y="9920516"/>
            <a:ext cx="2083137" cy="9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56"/>
              </a:lnSpc>
            </a:pPr>
            <a:r>
              <a:rPr lang="en-US" sz="63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programme feedback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583559" y="9979571"/>
            <a:ext cx="4757757" cy="190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@SIH Idea Submission • KaushalSetu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7536858" y="9979571"/>
            <a:ext cx="94317" cy="190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-175679" y="9652695"/>
            <a:ext cx="18463679" cy="754856"/>
            <a:chOff x="0" y="0"/>
            <a:chExt cx="24618239" cy="1006475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4618238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618238">
                  <a:moveTo>
                    <a:pt x="0" y="0"/>
                  </a:moveTo>
                  <a:lnTo>
                    <a:pt x="24618238" y="0"/>
                  </a:lnTo>
                  <a:lnTo>
                    <a:pt x="24618238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3088522" y="9663074"/>
            <a:ext cx="4267200" cy="653472"/>
            <a:chOff x="0" y="0"/>
            <a:chExt cx="5689600" cy="87129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689600" cy="871296"/>
            </a:xfrm>
            <a:custGeom>
              <a:avLst/>
              <a:gdLst/>
              <a:ahLst/>
              <a:cxnLst/>
              <a:rect r="r" b="b" t="t" l="l"/>
              <a:pathLst>
                <a:path h="871296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871296"/>
                  </a:lnTo>
                  <a:lnTo>
                    <a:pt x="0" y="8712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32" r="0" b="-69144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0"/>
              <a:ext cx="5689600" cy="8712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99"/>
                </a:lnSpc>
              </a:pPr>
              <a:r>
                <a:rPr lang="en-US" sz="19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6453" y="-11874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918901" y="-104285"/>
            <a:ext cx="3374774" cy="1593504"/>
            <a:chOff x="0" y="0"/>
            <a:chExt cx="4499699" cy="21246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3608099" y="9920516"/>
            <a:ext cx="2083137" cy="9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56"/>
              </a:lnSpc>
            </a:pPr>
            <a:r>
              <a:rPr lang="en-US" sz="63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programme feedback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3559" y="9979571"/>
            <a:ext cx="4757757" cy="190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@SIH Idea Submission • KaushalSetu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536858" y="9979571"/>
            <a:ext cx="94317" cy="190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-175679" y="9652695"/>
            <a:ext cx="18463679" cy="754856"/>
            <a:chOff x="0" y="0"/>
            <a:chExt cx="24618239" cy="10064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618238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618238">
                  <a:moveTo>
                    <a:pt x="0" y="0"/>
                  </a:moveTo>
                  <a:lnTo>
                    <a:pt x="24618238" y="0"/>
                  </a:lnTo>
                  <a:lnTo>
                    <a:pt x="24618238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088522" y="9663074"/>
            <a:ext cx="4267200" cy="653472"/>
            <a:chOff x="0" y="0"/>
            <a:chExt cx="5689600" cy="8712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89600" cy="871296"/>
            </a:xfrm>
            <a:custGeom>
              <a:avLst/>
              <a:gdLst/>
              <a:ahLst/>
              <a:cxnLst/>
              <a:rect r="r" b="b" t="t" l="l"/>
              <a:pathLst>
                <a:path h="871296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871296"/>
                  </a:lnTo>
                  <a:lnTo>
                    <a:pt x="0" y="8712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32" r="0" b="-6914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5689600" cy="8712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99"/>
                </a:lnSpc>
              </a:pPr>
              <a:r>
                <a:rPr lang="en-US" sz="19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5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82701" y="160192"/>
            <a:ext cx="2174620" cy="1329027"/>
          </a:xfrm>
          <a:custGeom>
            <a:avLst/>
            <a:gdLst/>
            <a:ahLst/>
            <a:cxnLst/>
            <a:rect r="r" b="b" t="t" l="l"/>
            <a:pathLst>
              <a:path h="1329027" w="2174620">
                <a:moveTo>
                  <a:pt x="0" y="0"/>
                </a:moveTo>
                <a:lnTo>
                  <a:pt x="2174620" y="0"/>
                </a:lnTo>
                <a:lnTo>
                  <a:pt x="2174620" y="1329027"/>
                </a:lnTo>
                <a:lnTo>
                  <a:pt x="0" y="13290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>
            <a:off x="12569045" y="3043629"/>
            <a:ext cx="0" cy="3329288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arrow" len="sm" w="med"/>
            <a:tailEnd type="arrow" len="sm" w="med"/>
          </a:ln>
        </p:spPr>
      </p:sp>
      <p:grpSp>
        <p:nvGrpSpPr>
          <p:cNvPr name="Group 17" id="17"/>
          <p:cNvGrpSpPr/>
          <p:nvPr/>
        </p:nvGrpSpPr>
        <p:grpSpPr>
          <a:xfrm rot="0">
            <a:off x="10303879" y="1270695"/>
            <a:ext cx="4472146" cy="1772935"/>
            <a:chOff x="0" y="0"/>
            <a:chExt cx="1130733" cy="44826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30733" cy="448267"/>
            </a:xfrm>
            <a:custGeom>
              <a:avLst/>
              <a:gdLst/>
              <a:ahLst/>
              <a:cxnLst/>
              <a:rect r="r" b="b" t="t" l="l"/>
              <a:pathLst>
                <a:path h="448267" w="1130733">
                  <a:moveTo>
                    <a:pt x="24236" y="0"/>
                  </a:moveTo>
                  <a:lnTo>
                    <a:pt x="1106497" y="0"/>
                  </a:lnTo>
                  <a:cubicBezTo>
                    <a:pt x="1119883" y="0"/>
                    <a:pt x="1130733" y="10851"/>
                    <a:pt x="1130733" y="24236"/>
                  </a:cubicBezTo>
                  <a:lnTo>
                    <a:pt x="1130733" y="424031"/>
                  </a:lnTo>
                  <a:cubicBezTo>
                    <a:pt x="1130733" y="430459"/>
                    <a:pt x="1128180" y="436624"/>
                    <a:pt x="1123635" y="441169"/>
                  </a:cubicBezTo>
                  <a:cubicBezTo>
                    <a:pt x="1119090" y="445714"/>
                    <a:pt x="1112925" y="448267"/>
                    <a:pt x="1106497" y="448267"/>
                  </a:cubicBezTo>
                  <a:lnTo>
                    <a:pt x="24236" y="448267"/>
                  </a:lnTo>
                  <a:cubicBezTo>
                    <a:pt x="10851" y="448267"/>
                    <a:pt x="0" y="437416"/>
                    <a:pt x="0" y="424031"/>
                  </a:cubicBezTo>
                  <a:lnTo>
                    <a:pt x="0" y="24236"/>
                  </a:lnTo>
                  <a:cubicBezTo>
                    <a:pt x="0" y="10851"/>
                    <a:pt x="10851" y="0"/>
                    <a:pt x="24236" y="0"/>
                  </a:cubicBezTo>
                  <a:close/>
                </a:path>
              </a:pathLst>
            </a:custGeom>
            <a:solidFill>
              <a:srgbClr val="D9F4CD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130733" cy="495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000638" y="3563285"/>
            <a:ext cx="3901696" cy="1997215"/>
            <a:chOff x="0" y="0"/>
            <a:chExt cx="986501" cy="50497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86501" cy="504974"/>
            </a:xfrm>
            <a:custGeom>
              <a:avLst/>
              <a:gdLst/>
              <a:ahLst/>
              <a:cxnLst/>
              <a:rect r="r" b="b" t="t" l="l"/>
              <a:pathLst>
                <a:path h="504974" w="986501">
                  <a:moveTo>
                    <a:pt x="27779" y="0"/>
                  </a:moveTo>
                  <a:lnTo>
                    <a:pt x="958722" y="0"/>
                  </a:lnTo>
                  <a:cubicBezTo>
                    <a:pt x="974064" y="0"/>
                    <a:pt x="986501" y="12437"/>
                    <a:pt x="986501" y="27779"/>
                  </a:cubicBezTo>
                  <a:lnTo>
                    <a:pt x="986501" y="477195"/>
                  </a:lnTo>
                  <a:cubicBezTo>
                    <a:pt x="986501" y="492537"/>
                    <a:pt x="974064" y="504974"/>
                    <a:pt x="958722" y="504974"/>
                  </a:cubicBezTo>
                  <a:lnTo>
                    <a:pt x="27779" y="504974"/>
                  </a:lnTo>
                  <a:cubicBezTo>
                    <a:pt x="12437" y="504974"/>
                    <a:pt x="0" y="492537"/>
                    <a:pt x="0" y="477195"/>
                  </a:cubicBezTo>
                  <a:lnTo>
                    <a:pt x="0" y="27779"/>
                  </a:lnTo>
                  <a:cubicBezTo>
                    <a:pt x="0" y="12437"/>
                    <a:pt x="12437" y="0"/>
                    <a:pt x="27779" y="0"/>
                  </a:cubicBezTo>
                  <a:close/>
                </a:path>
              </a:pathLst>
            </a:custGeom>
            <a:solidFill>
              <a:srgbClr val="F5E1C8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86501" cy="552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161986" y="3563285"/>
            <a:ext cx="4030015" cy="1997215"/>
            <a:chOff x="0" y="0"/>
            <a:chExt cx="1018945" cy="50497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18945" cy="504974"/>
            </a:xfrm>
            <a:custGeom>
              <a:avLst/>
              <a:gdLst/>
              <a:ahLst/>
              <a:cxnLst/>
              <a:rect r="r" b="b" t="t" l="l"/>
              <a:pathLst>
                <a:path h="504974" w="1018945">
                  <a:moveTo>
                    <a:pt x="26895" y="0"/>
                  </a:moveTo>
                  <a:lnTo>
                    <a:pt x="992050" y="0"/>
                  </a:lnTo>
                  <a:cubicBezTo>
                    <a:pt x="1006904" y="0"/>
                    <a:pt x="1018945" y="12041"/>
                    <a:pt x="1018945" y="26895"/>
                  </a:cubicBezTo>
                  <a:lnTo>
                    <a:pt x="1018945" y="478079"/>
                  </a:lnTo>
                  <a:cubicBezTo>
                    <a:pt x="1018945" y="485212"/>
                    <a:pt x="1016112" y="492053"/>
                    <a:pt x="1011068" y="497097"/>
                  </a:cubicBezTo>
                  <a:cubicBezTo>
                    <a:pt x="1006024" y="502141"/>
                    <a:pt x="999183" y="504974"/>
                    <a:pt x="992050" y="504974"/>
                  </a:cubicBezTo>
                  <a:lnTo>
                    <a:pt x="26895" y="504974"/>
                  </a:lnTo>
                  <a:cubicBezTo>
                    <a:pt x="19762" y="504974"/>
                    <a:pt x="12921" y="502141"/>
                    <a:pt x="7877" y="497097"/>
                  </a:cubicBezTo>
                  <a:cubicBezTo>
                    <a:pt x="2834" y="492053"/>
                    <a:pt x="0" y="485212"/>
                    <a:pt x="0" y="478079"/>
                  </a:cubicBezTo>
                  <a:lnTo>
                    <a:pt x="0" y="26895"/>
                  </a:lnTo>
                  <a:cubicBezTo>
                    <a:pt x="0" y="19762"/>
                    <a:pt x="2834" y="12921"/>
                    <a:pt x="7877" y="7877"/>
                  </a:cubicBezTo>
                  <a:cubicBezTo>
                    <a:pt x="12921" y="2834"/>
                    <a:pt x="19762" y="0"/>
                    <a:pt x="26895" y="0"/>
                  </a:cubicBezTo>
                  <a:close/>
                </a:path>
              </a:pathLst>
            </a:custGeom>
            <a:solidFill>
              <a:srgbClr val="C2DC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18945" cy="552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749975" y="6363392"/>
            <a:ext cx="4472146" cy="1694618"/>
            <a:chOff x="0" y="0"/>
            <a:chExt cx="1048039" cy="39713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48039" cy="397131"/>
            </a:xfrm>
            <a:custGeom>
              <a:avLst/>
              <a:gdLst/>
              <a:ahLst/>
              <a:cxnLst/>
              <a:rect r="r" b="b" t="t" l="l"/>
              <a:pathLst>
                <a:path h="397131" w="1048039">
                  <a:moveTo>
                    <a:pt x="24236" y="0"/>
                  </a:moveTo>
                  <a:lnTo>
                    <a:pt x="1023803" y="0"/>
                  </a:lnTo>
                  <a:cubicBezTo>
                    <a:pt x="1037189" y="0"/>
                    <a:pt x="1048039" y="10851"/>
                    <a:pt x="1048039" y="24236"/>
                  </a:cubicBezTo>
                  <a:lnTo>
                    <a:pt x="1048039" y="372895"/>
                  </a:lnTo>
                  <a:cubicBezTo>
                    <a:pt x="1048039" y="379323"/>
                    <a:pt x="1045486" y="385487"/>
                    <a:pt x="1040941" y="390032"/>
                  </a:cubicBezTo>
                  <a:cubicBezTo>
                    <a:pt x="1036396" y="394577"/>
                    <a:pt x="1030231" y="397131"/>
                    <a:pt x="1023803" y="397131"/>
                  </a:cubicBezTo>
                  <a:lnTo>
                    <a:pt x="24236" y="397131"/>
                  </a:lnTo>
                  <a:cubicBezTo>
                    <a:pt x="10851" y="397131"/>
                    <a:pt x="0" y="386280"/>
                    <a:pt x="0" y="372895"/>
                  </a:cubicBezTo>
                  <a:lnTo>
                    <a:pt x="0" y="24236"/>
                  </a:lnTo>
                  <a:cubicBezTo>
                    <a:pt x="0" y="10851"/>
                    <a:pt x="10851" y="0"/>
                    <a:pt x="24236" y="0"/>
                  </a:cubicBezTo>
                  <a:close/>
                </a:path>
              </a:pathLst>
            </a:custGeom>
            <a:solidFill>
              <a:srgbClr val="DBCDFA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048039" cy="444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sp>
        <p:nvSpPr>
          <p:cNvPr name="AutoShape 29" id="29"/>
          <p:cNvSpPr/>
          <p:nvPr/>
        </p:nvSpPr>
        <p:spPr>
          <a:xfrm>
            <a:off x="10953750" y="4625079"/>
            <a:ext cx="3190875" cy="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arrow" len="sm" w="med"/>
            <a:tailEnd type="arrow" len="sm" w="med"/>
          </a:ln>
        </p:spPr>
      </p:sp>
      <p:grpSp>
        <p:nvGrpSpPr>
          <p:cNvPr name="Group 30" id="30"/>
          <p:cNvGrpSpPr/>
          <p:nvPr/>
        </p:nvGrpSpPr>
        <p:grpSpPr>
          <a:xfrm rot="38122">
            <a:off x="11472345" y="3655585"/>
            <a:ext cx="2154872" cy="2154872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2624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21248" y="1521209"/>
            <a:ext cx="6727974" cy="2666145"/>
            <a:chOff x="0" y="0"/>
            <a:chExt cx="1701095" cy="67410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01095" cy="674106"/>
            </a:xfrm>
            <a:custGeom>
              <a:avLst/>
              <a:gdLst/>
              <a:ahLst/>
              <a:cxnLst/>
              <a:rect r="r" b="b" t="t" l="l"/>
              <a:pathLst>
                <a:path h="674106" w="1701095">
                  <a:moveTo>
                    <a:pt x="16110" y="0"/>
                  </a:moveTo>
                  <a:lnTo>
                    <a:pt x="1684985" y="0"/>
                  </a:lnTo>
                  <a:cubicBezTo>
                    <a:pt x="1689258" y="0"/>
                    <a:pt x="1693355" y="1697"/>
                    <a:pt x="1696376" y="4718"/>
                  </a:cubicBezTo>
                  <a:cubicBezTo>
                    <a:pt x="1699398" y="7740"/>
                    <a:pt x="1701095" y="11837"/>
                    <a:pt x="1701095" y="16110"/>
                  </a:cubicBezTo>
                  <a:lnTo>
                    <a:pt x="1701095" y="657996"/>
                  </a:lnTo>
                  <a:cubicBezTo>
                    <a:pt x="1701095" y="662268"/>
                    <a:pt x="1699398" y="666366"/>
                    <a:pt x="1696376" y="669387"/>
                  </a:cubicBezTo>
                  <a:cubicBezTo>
                    <a:pt x="1693355" y="672408"/>
                    <a:pt x="1689258" y="674106"/>
                    <a:pt x="1684985" y="674106"/>
                  </a:cubicBezTo>
                  <a:lnTo>
                    <a:pt x="16110" y="674106"/>
                  </a:lnTo>
                  <a:cubicBezTo>
                    <a:pt x="11837" y="674106"/>
                    <a:pt x="7740" y="672408"/>
                    <a:pt x="4718" y="669387"/>
                  </a:cubicBezTo>
                  <a:cubicBezTo>
                    <a:pt x="1697" y="666366"/>
                    <a:pt x="0" y="662268"/>
                    <a:pt x="0" y="657996"/>
                  </a:cubicBezTo>
                  <a:lnTo>
                    <a:pt x="0" y="16110"/>
                  </a:lnTo>
                  <a:cubicBezTo>
                    <a:pt x="0" y="11837"/>
                    <a:pt x="1697" y="7740"/>
                    <a:pt x="4718" y="4718"/>
                  </a:cubicBezTo>
                  <a:cubicBezTo>
                    <a:pt x="7740" y="1697"/>
                    <a:pt x="11837" y="0"/>
                    <a:pt x="16110" y="0"/>
                  </a:cubicBezTo>
                  <a:close/>
                </a:path>
              </a:pathLst>
            </a:custGeom>
            <a:solidFill>
              <a:srgbClr val="D9F4CD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701095" cy="721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79625" y="4279188"/>
            <a:ext cx="6769596" cy="2512912"/>
            <a:chOff x="0" y="0"/>
            <a:chExt cx="1711619" cy="63536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711619" cy="635362"/>
            </a:xfrm>
            <a:custGeom>
              <a:avLst/>
              <a:gdLst/>
              <a:ahLst/>
              <a:cxnLst/>
              <a:rect r="r" b="b" t="t" l="l"/>
              <a:pathLst>
                <a:path h="635362" w="1711619">
                  <a:moveTo>
                    <a:pt x="16011" y="0"/>
                  </a:moveTo>
                  <a:lnTo>
                    <a:pt x="1695608" y="0"/>
                  </a:lnTo>
                  <a:cubicBezTo>
                    <a:pt x="1704450" y="0"/>
                    <a:pt x="1711619" y="7168"/>
                    <a:pt x="1711619" y="16011"/>
                  </a:cubicBezTo>
                  <a:lnTo>
                    <a:pt x="1711619" y="619351"/>
                  </a:lnTo>
                  <a:cubicBezTo>
                    <a:pt x="1711619" y="623598"/>
                    <a:pt x="1709932" y="627670"/>
                    <a:pt x="1706929" y="630673"/>
                  </a:cubicBezTo>
                  <a:cubicBezTo>
                    <a:pt x="1703927" y="633675"/>
                    <a:pt x="1699854" y="635362"/>
                    <a:pt x="1695608" y="635362"/>
                  </a:cubicBezTo>
                  <a:lnTo>
                    <a:pt x="16011" y="635362"/>
                  </a:lnTo>
                  <a:cubicBezTo>
                    <a:pt x="11764" y="635362"/>
                    <a:pt x="7692" y="633675"/>
                    <a:pt x="4689" y="630673"/>
                  </a:cubicBezTo>
                  <a:cubicBezTo>
                    <a:pt x="1687" y="627670"/>
                    <a:pt x="0" y="623598"/>
                    <a:pt x="0" y="619351"/>
                  </a:cubicBezTo>
                  <a:lnTo>
                    <a:pt x="0" y="16011"/>
                  </a:lnTo>
                  <a:cubicBezTo>
                    <a:pt x="0" y="11764"/>
                    <a:pt x="1687" y="7692"/>
                    <a:pt x="4689" y="4689"/>
                  </a:cubicBezTo>
                  <a:cubicBezTo>
                    <a:pt x="7692" y="1687"/>
                    <a:pt x="11764" y="0"/>
                    <a:pt x="16011" y="0"/>
                  </a:cubicBezTo>
                  <a:close/>
                </a:path>
              </a:pathLst>
            </a:custGeom>
            <a:solidFill>
              <a:srgbClr val="F5E1C8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711619" cy="682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70019" y="6973075"/>
            <a:ext cx="6949941" cy="2602072"/>
            <a:chOff x="0" y="0"/>
            <a:chExt cx="1757217" cy="65790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757217" cy="657906"/>
            </a:xfrm>
            <a:custGeom>
              <a:avLst/>
              <a:gdLst/>
              <a:ahLst/>
              <a:cxnLst/>
              <a:rect r="r" b="b" t="t" l="l"/>
              <a:pathLst>
                <a:path h="657906" w="1757217">
                  <a:moveTo>
                    <a:pt x="15595" y="0"/>
                  </a:moveTo>
                  <a:lnTo>
                    <a:pt x="1741621" y="0"/>
                  </a:lnTo>
                  <a:cubicBezTo>
                    <a:pt x="1750234" y="0"/>
                    <a:pt x="1757217" y="6982"/>
                    <a:pt x="1757217" y="15595"/>
                  </a:cubicBezTo>
                  <a:lnTo>
                    <a:pt x="1757217" y="642310"/>
                  </a:lnTo>
                  <a:cubicBezTo>
                    <a:pt x="1757217" y="650923"/>
                    <a:pt x="1750234" y="657906"/>
                    <a:pt x="1741621" y="657906"/>
                  </a:cubicBezTo>
                  <a:lnTo>
                    <a:pt x="15595" y="657906"/>
                  </a:lnTo>
                  <a:cubicBezTo>
                    <a:pt x="11459" y="657906"/>
                    <a:pt x="7492" y="656263"/>
                    <a:pt x="4568" y="653338"/>
                  </a:cubicBezTo>
                  <a:cubicBezTo>
                    <a:pt x="1643" y="650413"/>
                    <a:pt x="0" y="646446"/>
                    <a:pt x="0" y="642310"/>
                  </a:cubicBezTo>
                  <a:lnTo>
                    <a:pt x="0" y="15595"/>
                  </a:lnTo>
                  <a:cubicBezTo>
                    <a:pt x="0" y="6982"/>
                    <a:pt x="6982" y="0"/>
                    <a:pt x="15595" y="0"/>
                  </a:cubicBezTo>
                  <a:close/>
                </a:path>
              </a:pathLst>
            </a:custGeom>
            <a:solidFill>
              <a:srgbClr val="C2DC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757217" cy="705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391249" y="8467585"/>
            <a:ext cx="8868051" cy="1030921"/>
            <a:chOff x="0" y="0"/>
            <a:chExt cx="2078211" cy="24159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78212" cy="241595"/>
            </a:xfrm>
            <a:custGeom>
              <a:avLst/>
              <a:gdLst/>
              <a:ahLst/>
              <a:cxnLst/>
              <a:rect r="r" b="b" t="t" l="l"/>
              <a:pathLst>
                <a:path h="241595" w="2078212">
                  <a:moveTo>
                    <a:pt x="12222" y="0"/>
                  </a:moveTo>
                  <a:lnTo>
                    <a:pt x="2065989" y="0"/>
                  </a:lnTo>
                  <a:cubicBezTo>
                    <a:pt x="2069231" y="0"/>
                    <a:pt x="2072340" y="1288"/>
                    <a:pt x="2074632" y="3580"/>
                  </a:cubicBezTo>
                  <a:cubicBezTo>
                    <a:pt x="2076924" y="5872"/>
                    <a:pt x="2078212" y="8981"/>
                    <a:pt x="2078212" y="12222"/>
                  </a:cubicBezTo>
                  <a:lnTo>
                    <a:pt x="2078212" y="229372"/>
                  </a:lnTo>
                  <a:cubicBezTo>
                    <a:pt x="2078212" y="232614"/>
                    <a:pt x="2076924" y="235723"/>
                    <a:pt x="2074632" y="238015"/>
                  </a:cubicBezTo>
                  <a:cubicBezTo>
                    <a:pt x="2072340" y="240307"/>
                    <a:pt x="2069231" y="241595"/>
                    <a:pt x="2065989" y="241595"/>
                  </a:cubicBezTo>
                  <a:lnTo>
                    <a:pt x="12222" y="241595"/>
                  </a:lnTo>
                  <a:cubicBezTo>
                    <a:pt x="8981" y="241595"/>
                    <a:pt x="5872" y="240307"/>
                    <a:pt x="3580" y="238015"/>
                  </a:cubicBezTo>
                  <a:cubicBezTo>
                    <a:pt x="1288" y="235723"/>
                    <a:pt x="0" y="232614"/>
                    <a:pt x="0" y="229372"/>
                  </a:cubicBezTo>
                  <a:lnTo>
                    <a:pt x="0" y="12222"/>
                  </a:lnTo>
                  <a:cubicBezTo>
                    <a:pt x="0" y="8981"/>
                    <a:pt x="1288" y="5872"/>
                    <a:pt x="3580" y="3580"/>
                  </a:cubicBezTo>
                  <a:cubicBezTo>
                    <a:pt x="5872" y="1288"/>
                    <a:pt x="8981" y="0"/>
                    <a:pt x="12222" y="0"/>
                  </a:cubicBezTo>
                  <a:close/>
                </a:path>
              </a:pathLst>
            </a:custGeom>
            <a:solidFill>
              <a:srgbClr val="DBCDFA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2078211" cy="289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7085227" y="3694367"/>
            <a:ext cx="275824" cy="375271"/>
          </a:xfrm>
          <a:custGeom>
            <a:avLst/>
            <a:gdLst/>
            <a:ahLst/>
            <a:cxnLst/>
            <a:rect r="r" b="b" t="t" l="l"/>
            <a:pathLst>
              <a:path h="375271" w="275824">
                <a:moveTo>
                  <a:pt x="0" y="0"/>
                </a:moveTo>
                <a:lnTo>
                  <a:pt x="275824" y="0"/>
                </a:lnTo>
                <a:lnTo>
                  <a:pt x="275824" y="375271"/>
                </a:lnTo>
                <a:lnTo>
                  <a:pt x="0" y="3752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4343048" y="3617836"/>
            <a:ext cx="733822" cy="388926"/>
          </a:xfrm>
          <a:custGeom>
            <a:avLst/>
            <a:gdLst/>
            <a:ahLst/>
            <a:cxnLst/>
            <a:rect r="r" b="b" t="t" l="l"/>
            <a:pathLst>
              <a:path h="388926" w="733822">
                <a:moveTo>
                  <a:pt x="0" y="0"/>
                </a:moveTo>
                <a:lnTo>
                  <a:pt x="733822" y="0"/>
                </a:lnTo>
                <a:lnTo>
                  <a:pt x="733822" y="388926"/>
                </a:lnTo>
                <a:lnTo>
                  <a:pt x="0" y="3889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0626071" y="1336821"/>
            <a:ext cx="517862" cy="517862"/>
          </a:xfrm>
          <a:custGeom>
            <a:avLst/>
            <a:gdLst/>
            <a:ahLst/>
            <a:cxnLst/>
            <a:rect r="r" b="b" t="t" l="l"/>
            <a:pathLst>
              <a:path h="517862" w="517862">
                <a:moveTo>
                  <a:pt x="0" y="0"/>
                </a:moveTo>
                <a:lnTo>
                  <a:pt x="517862" y="0"/>
                </a:lnTo>
                <a:lnTo>
                  <a:pt x="517862" y="517862"/>
                </a:lnTo>
                <a:lnTo>
                  <a:pt x="0" y="5178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0885002" y="6441463"/>
            <a:ext cx="697698" cy="659324"/>
          </a:xfrm>
          <a:custGeom>
            <a:avLst/>
            <a:gdLst/>
            <a:ahLst/>
            <a:cxnLst/>
            <a:rect r="r" b="b" t="t" l="l"/>
            <a:pathLst>
              <a:path h="659324" w="697698">
                <a:moveTo>
                  <a:pt x="0" y="0"/>
                </a:moveTo>
                <a:lnTo>
                  <a:pt x="697698" y="0"/>
                </a:lnTo>
                <a:lnTo>
                  <a:pt x="697698" y="659324"/>
                </a:lnTo>
                <a:lnTo>
                  <a:pt x="0" y="6593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6119772" y="3242851"/>
            <a:ext cx="750587" cy="750587"/>
          </a:xfrm>
          <a:custGeom>
            <a:avLst/>
            <a:gdLst/>
            <a:ahLst/>
            <a:cxnLst/>
            <a:rect r="r" b="b" t="t" l="l"/>
            <a:pathLst>
              <a:path h="750587" w="750587">
                <a:moveTo>
                  <a:pt x="0" y="0"/>
                </a:moveTo>
                <a:lnTo>
                  <a:pt x="750587" y="0"/>
                </a:lnTo>
                <a:lnTo>
                  <a:pt x="750587" y="750587"/>
                </a:lnTo>
                <a:lnTo>
                  <a:pt x="0" y="75058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6062281" y="5831189"/>
            <a:ext cx="760773" cy="818036"/>
          </a:xfrm>
          <a:custGeom>
            <a:avLst/>
            <a:gdLst/>
            <a:ahLst/>
            <a:cxnLst/>
            <a:rect r="r" b="b" t="t" l="l"/>
            <a:pathLst>
              <a:path h="818036" w="760773">
                <a:moveTo>
                  <a:pt x="0" y="0"/>
                </a:moveTo>
                <a:lnTo>
                  <a:pt x="760773" y="0"/>
                </a:lnTo>
                <a:lnTo>
                  <a:pt x="760773" y="818036"/>
                </a:lnTo>
                <a:lnTo>
                  <a:pt x="0" y="81803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2120865" y="3812299"/>
            <a:ext cx="896361" cy="896361"/>
          </a:xfrm>
          <a:custGeom>
            <a:avLst/>
            <a:gdLst/>
            <a:ahLst/>
            <a:cxnLst/>
            <a:rect r="r" b="b" t="t" l="l"/>
            <a:pathLst>
              <a:path h="896361" w="896361">
                <a:moveTo>
                  <a:pt x="0" y="0"/>
                </a:moveTo>
                <a:lnTo>
                  <a:pt x="896361" y="0"/>
                </a:lnTo>
                <a:lnTo>
                  <a:pt x="896361" y="896361"/>
                </a:lnTo>
                <a:lnTo>
                  <a:pt x="0" y="89636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6260049" y="8615262"/>
            <a:ext cx="809741" cy="809741"/>
          </a:xfrm>
          <a:custGeom>
            <a:avLst/>
            <a:gdLst/>
            <a:ahLst/>
            <a:cxnLst/>
            <a:rect r="r" b="b" t="t" l="l"/>
            <a:pathLst>
              <a:path h="809741" w="809741">
                <a:moveTo>
                  <a:pt x="0" y="0"/>
                </a:moveTo>
                <a:lnTo>
                  <a:pt x="809741" y="0"/>
                </a:lnTo>
                <a:lnTo>
                  <a:pt x="809741" y="809741"/>
                </a:lnTo>
                <a:lnTo>
                  <a:pt x="0" y="80974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8550217" y="8649591"/>
            <a:ext cx="802538" cy="617954"/>
          </a:xfrm>
          <a:custGeom>
            <a:avLst/>
            <a:gdLst/>
            <a:ahLst/>
            <a:cxnLst/>
            <a:rect r="r" b="b" t="t" l="l"/>
            <a:pathLst>
              <a:path h="617954" w="802538">
                <a:moveTo>
                  <a:pt x="0" y="0"/>
                </a:moveTo>
                <a:lnTo>
                  <a:pt x="802538" y="0"/>
                </a:lnTo>
                <a:lnTo>
                  <a:pt x="802538" y="617954"/>
                </a:lnTo>
                <a:lnTo>
                  <a:pt x="0" y="61795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4" id="54"/>
          <p:cNvSpPr/>
          <p:nvPr/>
        </p:nvSpPr>
        <p:spPr>
          <a:xfrm flipV="true">
            <a:off x="245888" y="2058516"/>
            <a:ext cx="670333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>
            <a:off x="846968" y="1583131"/>
            <a:ext cx="0" cy="445463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>
            <a:off x="245888" y="4815313"/>
            <a:ext cx="660383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7" id="57"/>
          <p:cNvSpPr/>
          <p:nvPr/>
        </p:nvSpPr>
        <p:spPr>
          <a:xfrm flipV="true">
            <a:off x="220942" y="7527541"/>
            <a:ext cx="68066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8" id="58"/>
          <p:cNvSpPr/>
          <p:nvPr/>
        </p:nvSpPr>
        <p:spPr>
          <a:xfrm>
            <a:off x="827918" y="4303391"/>
            <a:ext cx="0" cy="445463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59" id="59"/>
          <p:cNvSpPr/>
          <p:nvPr/>
        </p:nvSpPr>
        <p:spPr>
          <a:xfrm>
            <a:off x="785146" y="7052397"/>
            <a:ext cx="0" cy="445463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60" id="60"/>
          <p:cNvSpPr txBox="true"/>
          <p:nvPr/>
        </p:nvSpPr>
        <p:spPr>
          <a:xfrm rot="0">
            <a:off x="1028700" y="4415263"/>
            <a:ext cx="3968931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9"/>
              </a:lnSpc>
              <a:spcBef>
                <a:spcPct val="0"/>
              </a:spcBef>
            </a:pPr>
            <a:r>
              <a:rPr lang="en-US" b="true" sz="20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EMPLOYABILITY &amp; LIVELIHOOD 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282547" y="1396789"/>
            <a:ext cx="2862078" cy="325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8"/>
              </a:lnSpc>
              <a:spcBef>
                <a:spcPct val="0"/>
              </a:spcBef>
            </a:pPr>
            <a:r>
              <a:rPr lang="en-US" b="true" sz="1827" spc="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1827" spc="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OLICY-LEVEL VISIBILITY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0513208" y="1836148"/>
            <a:ext cx="3992154" cy="918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18"/>
              </a:lnSpc>
              <a:spcBef>
                <a:spcPct val="0"/>
              </a:spcBef>
            </a:pPr>
            <a:r>
              <a:rPr lang="en-US" sz="17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NCCT AND INSTITUTI</a:t>
            </a:r>
            <a:r>
              <a:rPr lang="en-US" sz="17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ONS GET LIVE, GRANULAR OUTCOME DATA INSTEAD OF PERIODIC MANUAL REPORTING.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119960" y="3702991"/>
            <a:ext cx="3872583" cy="282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8"/>
              </a:lnSpc>
              <a:spcBef>
                <a:spcPct val="0"/>
              </a:spcBef>
            </a:pPr>
            <a:r>
              <a:rPr lang="en-US" b="true" sz="1627" spc="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LOCAL EMPLOYMENT RETENTION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7119960" y="4159923"/>
            <a:ext cx="3719490" cy="113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78"/>
              </a:lnSpc>
              <a:spcBef>
                <a:spcPct val="0"/>
              </a:spcBef>
            </a:pPr>
            <a:r>
              <a:rPr lang="en-US" sz="16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SKILL-MATCHED L</a:t>
            </a:r>
            <a:r>
              <a:rPr lang="en-US" sz="16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OCAL JOB &amp; SCHEME MATCHING REDUCES TRAINEES' NEED TO MIGRATE ELSEWHERE FOR OPPORTUNITIES.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5182148" y="3596078"/>
            <a:ext cx="2449027" cy="325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8"/>
              </a:lnSpc>
              <a:spcBef>
                <a:spcPct val="0"/>
              </a:spcBef>
            </a:pPr>
            <a:r>
              <a:rPr lang="en-US" b="true" sz="1827" spc="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CREDENTIAL TRUST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4254208" y="4007305"/>
            <a:ext cx="3656214" cy="1425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8"/>
              </a:lnSpc>
              <a:spcBef>
                <a:spcPct val="0"/>
              </a:spcBef>
            </a:pPr>
            <a:r>
              <a:rPr lang="en-US" sz="1627" spc="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VERIFIED, TAMPER-RESISTANT SKILL PASSPORT GIVES EMPLOYERS A CREDENTIAL THEY CAN ACTUALLY TRUST — UNLIKE EASILY-FORGED PAPER CERTIFICATES.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629331" y="6492063"/>
            <a:ext cx="271343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9"/>
              </a:lnSpc>
              <a:spcBef>
                <a:spcPct val="0"/>
              </a:spcBef>
            </a:pPr>
            <a:r>
              <a:rPr lang="en-US" b="true" sz="18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Inclusive Participation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0885002" y="7070341"/>
            <a:ext cx="4191868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80"/>
              </a:lnSpc>
              <a:spcBef>
                <a:spcPct val="0"/>
              </a:spcBef>
            </a:pPr>
            <a:r>
              <a:rPr lang="en-US" sz="16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Multilingual, </a:t>
            </a:r>
            <a:r>
              <a:rPr lang="en-US" sz="16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offline, accessible design brings training within reach of trainees current digital systems exclude.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220780" y="8573275"/>
            <a:ext cx="258485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9"/>
              </a:lnSpc>
              <a:spcBef>
                <a:spcPct val="0"/>
              </a:spcBef>
            </a:pPr>
            <a:r>
              <a:rPr lang="en-US" b="true" sz="22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Business Canvas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008893" y="1640763"/>
            <a:ext cx="349061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9"/>
              </a:lnSpc>
              <a:spcBef>
                <a:spcPct val="0"/>
              </a:spcBef>
            </a:pPr>
            <a:r>
              <a:rPr lang="en-US" b="true" sz="20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INSTITUTIONAL EFFICIENC</a:t>
            </a:r>
            <a:r>
              <a:rPr lang="en-US" b="true" sz="20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Y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329909" y="2078913"/>
            <a:ext cx="655063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6235" indent="-178118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Unifies registration, batch management, attendance &amp; certification — no m</a:t>
            </a: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ore cross-checking across separate legacy systems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294170" y="2821863"/>
            <a:ext cx="65198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7824" indent="-188912" lvl="1">
              <a:lnSpc>
                <a:spcPts val="2099"/>
              </a:lnSpc>
              <a:buFont typeface="Arial"/>
              <a:buChar char="•"/>
            </a:pPr>
            <a:r>
              <a:rPr lang="en-US" sz="17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Real-time instituti</a:t>
            </a:r>
            <a:r>
              <a:rPr lang="en-US" sz="17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onal dashboards replace manual compilation for tracking KPIs &amp; batch progress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345399" y="3412413"/>
            <a:ext cx="569510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7824" indent="-188912" lvl="1">
              <a:lnSpc>
                <a:spcPts val="2099"/>
              </a:lnSpc>
              <a:buFont typeface="Arial"/>
              <a:buChar char="•"/>
            </a:pPr>
            <a:r>
              <a:rPr lang="en-US" sz="17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Digital certificate issuance cuts turnaround from weeks of paperwork to instant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282701" y="4845352"/>
            <a:ext cx="636872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7824" indent="-188912" lvl="1">
              <a:lnSpc>
                <a:spcPts val="2099"/>
              </a:lnSpc>
              <a:buFont typeface="Arial"/>
              <a:buChar char="•"/>
            </a:pPr>
            <a:r>
              <a:rPr lang="en-US" sz="17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 career c</a:t>
            </a:r>
            <a:r>
              <a:rPr lang="en-US" sz="17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ounsellor gives personalized guidance most rural trainees have never had access to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232914" y="5969302"/>
            <a:ext cx="6104137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6562" indent="-178281" lvl="1">
              <a:lnSpc>
                <a:spcPts val="1981"/>
              </a:lnSpc>
              <a:buFont typeface="Arial"/>
              <a:buChar char="•"/>
            </a:pPr>
            <a:r>
              <a:rPr lang="en-US" sz="165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Skill-matched j</a:t>
            </a:r>
            <a:r>
              <a:rPr lang="en-US" sz="165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 &amp; entrepreneurship-scheme recommendations connect training directly to outcomes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70019" y="5435902"/>
            <a:ext cx="664397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6235" indent="-178118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Verified skill passp</a:t>
            </a: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ort builds employer trust — reducing hiring mismatch from unverifiable paper credentials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008893" y="7079866"/>
            <a:ext cx="3907087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9"/>
              </a:lnSpc>
              <a:spcBef>
                <a:spcPct val="0"/>
              </a:spcBef>
            </a:pPr>
            <a:r>
              <a:rPr lang="en-US" b="true" sz="20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INCLUSIVE</a:t>
            </a:r>
            <a:r>
              <a:rPr lang="en-US" b="true" sz="20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LEARNING ACCESS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309917" y="7577037"/>
            <a:ext cx="627154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7824" indent="-188912" lvl="1">
              <a:lnSpc>
                <a:spcPts val="2099"/>
              </a:lnSpc>
              <a:buFont typeface="Arial"/>
              <a:buChar char="•"/>
            </a:pPr>
            <a:r>
              <a:rPr lang="en-US" sz="17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Multilingual LMS removes the language barrier to quality training content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316607" y="8200885"/>
            <a:ext cx="650644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7824" indent="-188912" lvl="1">
              <a:lnSpc>
                <a:spcPts val="2099"/>
              </a:lnSpc>
              <a:buFont typeface="Arial"/>
              <a:buChar char="•"/>
            </a:pPr>
            <a:r>
              <a:rPr lang="en-US" sz="17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Offline-fi</a:t>
            </a:r>
            <a:r>
              <a:rPr lang="en-US" sz="17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rst design reaches trainees in areas standard e-learning platforms can't serve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1479728" y="4738687"/>
            <a:ext cx="2178635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9"/>
              </a:lnSpc>
            </a:pPr>
            <a:r>
              <a:rPr lang="en-US" b="true" sz="1499" spc="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ONE ECOSYSTEM</a:t>
            </a:r>
          </a:p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b="true" sz="1499" spc="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TRAINING TO EMPLOYMENT 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309917" y="8839060"/>
            <a:ext cx="595013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7824" indent="-188912" lvl="1">
              <a:lnSpc>
                <a:spcPts val="2099"/>
              </a:lnSpc>
              <a:buFont typeface="Arial"/>
              <a:buChar char="•"/>
            </a:pPr>
            <a:r>
              <a:rPr lang="en-US" sz="17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Accessible inte</a:t>
            </a:r>
            <a:r>
              <a:rPr lang="en-US" sz="17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rface widens participation beyond who current systems reach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430117" y="1607426"/>
            <a:ext cx="30688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9"/>
              </a:lnSpc>
              <a:spcBef>
                <a:spcPct val="0"/>
              </a:spcBef>
            </a:pPr>
            <a:r>
              <a:rPr lang="en-US" b="true" sz="23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295753" y="7070341"/>
            <a:ext cx="37519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9"/>
              </a:lnSpc>
              <a:spcBef>
                <a:spcPct val="0"/>
              </a:spcBef>
            </a:pPr>
            <a:r>
              <a:rPr lang="en-US" b="true" sz="23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401021" y="4352021"/>
            <a:ext cx="36507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9"/>
              </a:lnSpc>
              <a:spcBef>
                <a:spcPct val="0"/>
              </a:spcBef>
            </a:pPr>
            <a:r>
              <a:rPr lang="en-US" b="true" sz="23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DAHWAT_aKQU</dc:identifier>
  <dcterms:modified xsi:type="dcterms:W3CDTF">2011-08-01T06:04:30Z</dcterms:modified>
  <cp:revision>1</cp:revision>
  <dc:title>Copy of SIH.pptx</dc:title>
</cp:coreProperties>
</file>